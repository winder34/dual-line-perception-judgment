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29a072fa8f4332" /><Relationship Type="http://schemas.openxmlformats.org/officeDocument/2006/relationships/extended-properties" Target="/docProps/app.xml" Id="R19f73cc0c0a0449d" /><Relationship Type="http://schemas.openxmlformats.org/officeDocument/2006/relationships/officeDocument" Target="/ppt/presentation.xml" Id="R057b1120c31a45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a4f3249dbf4974"/>
  </p:sldMasterIdLst>
  <p:notesMasterIdLst>
    <p:notesMasterId xmlns:r="http://schemas.openxmlformats.org/officeDocument/2006/relationships" r:id="R087044c68da74b91"/>
  </p:notesMasterIdLst>
  <p:sldIdLst>
    <p:sldId xmlns:r="http://schemas.openxmlformats.org/officeDocument/2006/relationships" id="256" r:id="Rbef0ea0d9c584595"/>
    <p:sldId xmlns:r="http://schemas.openxmlformats.org/officeDocument/2006/relationships" id="257" r:id="R595dfbb5d4814e25"/>
    <p:sldId xmlns:r="http://schemas.openxmlformats.org/officeDocument/2006/relationships" id="258" r:id="Rbd8eb288b1f843ec"/>
    <p:sldId xmlns:r="http://schemas.openxmlformats.org/officeDocument/2006/relationships" id="259" r:id="R8b10a5591bb44dde"/>
    <p:sldId xmlns:r="http://schemas.openxmlformats.org/officeDocument/2006/relationships" id="260" r:id="R6c335d10a23e4d4b"/>
    <p:sldId xmlns:r="http://schemas.openxmlformats.org/officeDocument/2006/relationships" id="261" r:id="R6c551b6f87fd404d"/>
    <p:sldId xmlns:r="http://schemas.openxmlformats.org/officeDocument/2006/relationships" id="262" r:id="R5f8a933504eb460c"/>
    <p:sldId xmlns:r="http://schemas.openxmlformats.org/officeDocument/2006/relationships" id="263" r:id="R9cec1269ae9d4bff"/>
    <p:sldId xmlns:r="http://schemas.openxmlformats.org/officeDocument/2006/relationships" id="264" r:id="R6d373a29461e4505"/>
    <p:sldId xmlns:r="http://schemas.openxmlformats.org/officeDocument/2006/relationships" id="265" r:id="R9b37426601e44450"/>
    <p:sldId xmlns:r="http://schemas.openxmlformats.org/officeDocument/2006/relationships" id="266" r:id="Rf02976accfa04936"/>
    <p:sldId xmlns:r="http://schemas.openxmlformats.org/officeDocument/2006/relationships" id="267" r:id="R8ef37af20c1c408c"/>
    <p:sldId xmlns:r="http://schemas.openxmlformats.org/officeDocument/2006/relationships" id="268" r:id="R709528feac3e468d"/>
    <p:sldId xmlns:r="http://schemas.openxmlformats.org/officeDocument/2006/relationships" id="269" r:id="Rc26afd7e6e03455b"/>
    <p:sldId xmlns:r="http://schemas.openxmlformats.org/officeDocument/2006/relationships" id="270" r:id="Rbae02baa9cba4a7c"/>
    <p:sldId xmlns:r="http://schemas.openxmlformats.org/officeDocument/2006/relationships" id="271" r:id="R59fc57988f874283"/>
    <p:sldId xmlns:r="http://schemas.openxmlformats.org/officeDocument/2006/relationships" id="272" r:id="Rd39e58ef125f4ae2"/>
    <p:sldId xmlns:r="http://schemas.openxmlformats.org/officeDocument/2006/relationships" id="273" r:id="Ra89a63b805c14798"/>
    <p:sldId xmlns:r="http://schemas.openxmlformats.org/officeDocument/2006/relationships" id="274" r:id="R9f9fdc320ffb45c5"/>
    <p:sldId xmlns:r="http://schemas.openxmlformats.org/officeDocument/2006/relationships" id="275" r:id="R0873ca512f564f5b"/>
    <p:sldId xmlns:r="http://schemas.openxmlformats.org/officeDocument/2006/relationships" id="276" r:id="Re05e634d6cec4275"/>
    <p:sldId xmlns:r="http://schemas.openxmlformats.org/officeDocument/2006/relationships" id="277" r:id="R14f25e6e3ba54464"/>
    <p:sldId xmlns:r="http://schemas.openxmlformats.org/officeDocument/2006/relationships" id="278" r:id="Rb2799a02e221451e"/>
    <p:sldId xmlns:r="http://schemas.openxmlformats.org/officeDocument/2006/relationships" id="279" r:id="R3cba0aaf1af84395"/>
    <p:sldId xmlns:r="http://schemas.openxmlformats.org/officeDocument/2006/relationships" id="280" r:id="Rdbc37c1943da45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4fc20ca5204821" /><Relationship Type="http://schemas.openxmlformats.org/officeDocument/2006/relationships/slideMaster" Target="/ppt/slideMasters/slideMaster1.xml" Id="Ra4a4f3249dbf4974" /><Relationship Type="http://schemas.openxmlformats.org/officeDocument/2006/relationships/notesMaster" Target="/ppt/notesMasters/notesMaster1.xml" Id="R087044c68da74b91" /><Relationship Type="http://schemas.openxmlformats.org/officeDocument/2006/relationships/presProps" Target="/ppt/presProps.xml" Id="R823f5de7d7294a98" /><Relationship Type="http://schemas.openxmlformats.org/officeDocument/2006/relationships/viewProps" Target="/ppt/viewProps.xml" Id="R525f1b1effa344b8" /><Relationship Type="http://schemas.openxmlformats.org/officeDocument/2006/relationships/tableStyles" Target="/ppt/tableStyles.xml" Id="R8112527ed9bc4911" /><Relationship Type="http://schemas.openxmlformats.org/officeDocument/2006/relationships/slide" Target="/ppt/slides/slide1.xml" Id="Rbef0ea0d9c584595" /><Relationship Type="http://schemas.openxmlformats.org/officeDocument/2006/relationships/slide" Target="/ppt/slides/slide2.xml" Id="R595dfbb5d4814e25" /><Relationship Type="http://schemas.openxmlformats.org/officeDocument/2006/relationships/slide" Target="/ppt/slides/slide3.xml" Id="Rbd8eb288b1f843ec" /><Relationship Type="http://schemas.openxmlformats.org/officeDocument/2006/relationships/slide" Target="/ppt/slides/slide4.xml" Id="R8b10a5591bb44dde" /><Relationship Type="http://schemas.openxmlformats.org/officeDocument/2006/relationships/slide" Target="/ppt/slides/slide5.xml" Id="R6c335d10a23e4d4b" /><Relationship Type="http://schemas.openxmlformats.org/officeDocument/2006/relationships/slide" Target="/ppt/slides/slide6.xml" Id="R6c551b6f87fd404d" /><Relationship Type="http://schemas.openxmlformats.org/officeDocument/2006/relationships/slide" Target="/ppt/slides/slide7.xml" Id="R5f8a933504eb460c" /><Relationship Type="http://schemas.openxmlformats.org/officeDocument/2006/relationships/slide" Target="/ppt/slides/slide8.xml" Id="R9cec1269ae9d4bff" /><Relationship Type="http://schemas.openxmlformats.org/officeDocument/2006/relationships/slide" Target="/ppt/slides/slide9.xml" Id="R6d373a29461e4505" /><Relationship Type="http://schemas.openxmlformats.org/officeDocument/2006/relationships/slide" Target="/ppt/slides/slide10.xml" Id="R9b37426601e44450" /><Relationship Type="http://schemas.openxmlformats.org/officeDocument/2006/relationships/slide" Target="/ppt/slides/slide11.xml" Id="Rf02976accfa04936" /><Relationship Type="http://schemas.openxmlformats.org/officeDocument/2006/relationships/slide" Target="/ppt/slides/slide12.xml" Id="R8ef37af20c1c408c" /><Relationship Type="http://schemas.openxmlformats.org/officeDocument/2006/relationships/slide" Target="/ppt/slides/slide13.xml" Id="R709528feac3e468d" /><Relationship Type="http://schemas.openxmlformats.org/officeDocument/2006/relationships/slide" Target="/ppt/slides/slide14.xml" Id="Rc26afd7e6e03455b" /><Relationship Type="http://schemas.openxmlformats.org/officeDocument/2006/relationships/slide" Target="/ppt/slides/slide15.xml" Id="Rbae02baa9cba4a7c" /><Relationship Type="http://schemas.openxmlformats.org/officeDocument/2006/relationships/slide" Target="/ppt/slides/slide16.xml" Id="R59fc57988f874283" /><Relationship Type="http://schemas.openxmlformats.org/officeDocument/2006/relationships/slide" Target="/ppt/slides/slide17.xml" Id="Rd39e58ef125f4ae2" /><Relationship Type="http://schemas.openxmlformats.org/officeDocument/2006/relationships/slide" Target="/ppt/slides/slide18.xml" Id="Ra89a63b805c14798" /><Relationship Type="http://schemas.openxmlformats.org/officeDocument/2006/relationships/slide" Target="/ppt/slides/slide19.xml" Id="R9f9fdc320ffb45c5" /><Relationship Type="http://schemas.openxmlformats.org/officeDocument/2006/relationships/slide" Target="/ppt/slides/slide20.xml" Id="R0873ca512f564f5b" /><Relationship Type="http://schemas.openxmlformats.org/officeDocument/2006/relationships/slide" Target="/ppt/slides/slide21.xml" Id="Re05e634d6cec4275" /><Relationship Type="http://schemas.openxmlformats.org/officeDocument/2006/relationships/slide" Target="/ppt/slides/slide22.xml" Id="R14f25e6e3ba54464" /><Relationship Type="http://schemas.openxmlformats.org/officeDocument/2006/relationships/slide" Target="/ppt/slides/slide23.xml" Id="Rb2799a02e221451e" /><Relationship Type="http://schemas.openxmlformats.org/officeDocument/2006/relationships/slide" Target="/ppt/slides/slide24.xml" Id="R3cba0aaf1af84395" /><Relationship Type="http://schemas.openxmlformats.org/officeDocument/2006/relationships/slide" Target="/ppt/slides/slide25.xml" Id="Rdbc37c1943da45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33a2bb9b3645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ad9e45a06c4a0a" /><Relationship Type="http://schemas.openxmlformats.org/officeDocument/2006/relationships/notesMaster" Target="/ppt/notesMasters/notesMaster1.xml" Id="Ra336dda29e8b4b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a75c7fd3d64d5f" /><Relationship Type="http://schemas.openxmlformats.org/officeDocument/2006/relationships/notesMaster" Target="/ppt/notesMasters/notesMaster1.xml" Id="Rc7c2e9507f5b46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e0d49c62404c69" /><Relationship Type="http://schemas.openxmlformats.org/officeDocument/2006/relationships/notesMaster" Target="/ppt/notesMasters/notesMaster1.xml" Id="Re5d97837ada74c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03e4c89e954967" /><Relationship Type="http://schemas.openxmlformats.org/officeDocument/2006/relationships/notesMaster" Target="/ppt/notesMasters/notesMaster1.xml" Id="R3828bd0f3e7944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f7447479474aef" /><Relationship Type="http://schemas.openxmlformats.org/officeDocument/2006/relationships/notesMaster" Target="/ppt/notesMasters/notesMaster1.xml" Id="R73eeb8a027f54d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21c91bf70f4641" /><Relationship Type="http://schemas.openxmlformats.org/officeDocument/2006/relationships/notesMaster" Target="/ppt/notesMasters/notesMaster1.xml" Id="Rfcbc73822a2a4c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7a57a8d81e481b" /><Relationship Type="http://schemas.openxmlformats.org/officeDocument/2006/relationships/notesMaster" Target="/ppt/notesMasters/notesMaster1.xml" Id="R46a79ab32d1043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6d10505f6a4828" /><Relationship Type="http://schemas.openxmlformats.org/officeDocument/2006/relationships/notesMaster" Target="/ppt/notesMasters/notesMaster1.xml" Id="R6fe0adf2c1934c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8c600045d54163" /><Relationship Type="http://schemas.openxmlformats.org/officeDocument/2006/relationships/notesMaster" Target="/ppt/notesMasters/notesMaster1.xml" Id="Rc9930f585a5541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bba03604f14212" /><Relationship Type="http://schemas.openxmlformats.org/officeDocument/2006/relationships/notesMaster" Target="/ppt/notesMasters/notesMaster1.xml" Id="R4500d3064be440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10eb30d444416f" /><Relationship Type="http://schemas.openxmlformats.org/officeDocument/2006/relationships/notesMaster" Target="/ppt/notesMasters/notesMaster1.xml" Id="R35b587b7420045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5c6e11dd4d4cd2" /><Relationship Type="http://schemas.openxmlformats.org/officeDocument/2006/relationships/notesMaster" Target="/ppt/notesMasters/notesMaster1.xml" Id="R4e8f1372cd2d4c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9be9676ffd4117" /><Relationship Type="http://schemas.openxmlformats.org/officeDocument/2006/relationships/notesMaster" Target="/ppt/notesMasters/notesMaster1.xml" Id="Ra2418b20cbc54e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6292a372494c2a" /><Relationship Type="http://schemas.openxmlformats.org/officeDocument/2006/relationships/notesMaster" Target="/ppt/notesMasters/notesMaster1.xml" Id="Rf527916db1f7404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83cef89c2a4b04" /><Relationship Type="http://schemas.openxmlformats.org/officeDocument/2006/relationships/notesMaster" Target="/ppt/notesMasters/notesMaster1.xml" Id="R8c2830f5a36f43e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8d69e7993d481c" /><Relationship Type="http://schemas.openxmlformats.org/officeDocument/2006/relationships/notesMaster" Target="/ppt/notesMasters/notesMaster1.xml" Id="Rf2dd7d0fb40b45f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3450fd3c9e146ad" /><Relationship Type="http://schemas.openxmlformats.org/officeDocument/2006/relationships/notesMaster" Target="/ppt/notesMasters/notesMaster1.xml" Id="R9f991bc110aa458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a78ecb00647414a" /><Relationship Type="http://schemas.openxmlformats.org/officeDocument/2006/relationships/notesMaster" Target="/ppt/notesMasters/notesMaster1.xml" Id="R316b0b8391714bf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c7bdaac3c444c0" /><Relationship Type="http://schemas.openxmlformats.org/officeDocument/2006/relationships/notesMaster" Target="/ppt/notesMasters/notesMaster1.xml" Id="R423828032e464e6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3cb0d5ec3904d95" /><Relationship Type="http://schemas.openxmlformats.org/officeDocument/2006/relationships/notesMaster" Target="/ppt/notesMasters/notesMaster1.xml" Id="Rc87f1aca54fb4c4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c9880d7658c46da" /><Relationship Type="http://schemas.openxmlformats.org/officeDocument/2006/relationships/notesMaster" Target="/ppt/notesMasters/notesMaster1.xml" Id="Rc08e4ee8d46d465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9fc4b4f10fb427b" /><Relationship Type="http://schemas.openxmlformats.org/officeDocument/2006/relationships/notesMaster" Target="/ppt/notesMasters/notesMaster1.xml" Id="R6ee7d185f57c4af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6555430997b450b" /><Relationship Type="http://schemas.openxmlformats.org/officeDocument/2006/relationships/notesMaster" Target="/ppt/notesMasters/notesMaster1.xml" Id="R0351120a922e4dd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da8aa2ec8ce4560" /><Relationship Type="http://schemas.openxmlformats.org/officeDocument/2006/relationships/notesMaster" Target="/ppt/notesMasters/notesMaster1.xml" Id="Rc379891cedec4a8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8dd0ecf55e844b0" /><Relationship Type="http://schemas.openxmlformats.org/officeDocument/2006/relationships/notesMaster" Target="/ppt/notesMasters/notesMaster1.xml" Id="R89cf9681b76743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c1f64a55744d1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hf sldNum="0"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2d0e0b6c5b41c5" /><Relationship Type="http://schemas.openxmlformats.org/officeDocument/2006/relationships/slideLayout" Target="/ppt/slideLayouts/slideLayout1.xml" Id="R3aed3bba5a1f484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ed3bba5a1f484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c6844ecfd4de6" /><Relationship Type="http://schemas.openxmlformats.org/officeDocument/2006/relationships/notesSlide" Target="/ppt/notesSlides/notesSlide1.xml" Id="R3406c71a1da049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33e3a780c4578" /><Relationship Type="http://schemas.openxmlformats.org/officeDocument/2006/relationships/notesSlide" Target="/ppt/notesSlides/notesSlide2.xml" Id="R9cf43c4cb9b34f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d7685ec8141bc" /><Relationship Type="http://schemas.openxmlformats.org/officeDocument/2006/relationships/notesSlide" Target="/ppt/notesSlides/notesSlide3.xml" Id="R890c7ce12a0b49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7cb3834674523" /><Relationship Type="http://schemas.openxmlformats.org/officeDocument/2006/relationships/image" Target="/ppt/media/image.png" Id="R9bdf94bacf014927" /><Relationship Type="http://schemas.openxmlformats.org/officeDocument/2006/relationships/notesSlide" Target="/ppt/notesSlides/notesSlide4.xml" Id="Rc23e5fdd4e4744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b8b2b71994bc4" /><Relationship Type="http://schemas.openxmlformats.org/officeDocument/2006/relationships/image" Target="/ppt/media/image2.png" Id="Rb25440761c724fee" /><Relationship Type="http://schemas.openxmlformats.org/officeDocument/2006/relationships/notesSlide" Target="/ppt/notesSlides/notesSlide5.xml" Id="Re7d7c9fbeae442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cec9ae62c4548" /><Relationship Type="http://schemas.openxmlformats.org/officeDocument/2006/relationships/notesSlide" Target="/ppt/notesSlides/notesSlide6.xml" Id="Rdba360129b5e4b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422135f774e88" /><Relationship Type="http://schemas.openxmlformats.org/officeDocument/2006/relationships/notesSlide" Target="/ppt/notesSlides/notesSlide7.xml" Id="R1f9ca90482ef43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495cb5f774a16" /><Relationship Type="http://schemas.openxmlformats.org/officeDocument/2006/relationships/notesSlide" Target="/ppt/notesSlides/notesSlide8.xml" Id="Rec923c246d4346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99aba0498497d" /><Relationship Type="http://schemas.openxmlformats.org/officeDocument/2006/relationships/notesSlide" Target="/ppt/notesSlides/notesSlide9.xml" Id="R70f6a54f575f4e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a781ff97147d5" /><Relationship Type="http://schemas.openxmlformats.org/officeDocument/2006/relationships/notesSlide" Target="/ppt/notesSlides/notesSlide10.xml" Id="R02da24ac260d48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4b696353748c7" /><Relationship Type="http://schemas.openxmlformats.org/officeDocument/2006/relationships/notesSlide" Target="/ppt/notesSlides/notesSlide11.xml" Id="Rbdb39b18ecfd4d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943c243c74b7b" /><Relationship Type="http://schemas.openxmlformats.org/officeDocument/2006/relationships/image" Target="/ppt/media/image3.png" Id="R5a572d1bd9c04746" /><Relationship Type="http://schemas.openxmlformats.org/officeDocument/2006/relationships/notesSlide" Target="/ppt/notesSlides/notesSlide12.xml" Id="Rffd8cabf0f4b48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1f7df81004719" /><Relationship Type="http://schemas.openxmlformats.org/officeDocument/2006/relationships/image" Target="/ppt/media/image4.png" Id="R2397c5b860234a3d" /><Relationship Type="http://schemas.openxmlformats.org/officeDocument/2006/relationships/notesSlide" Target="/ppt/notesSlides/notesSlide13.xml" Id="R9cb6e77d10c641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d1d92c0cc41e8" /><Relationship Type="http://schemas.openxmlformats.org/officeDocument/2006/relationships/image" Target="/ppt/media/image5.png" Id="R1495b16fb99848bc" /><Relationship Type="http://schemas.openxmlformats.org/officeDocument/2006/relationships/image" Target="/ppt/media/image6.png" Id="R62330d55a8be4401" /><Relationship Type="http://schemas.openxmlformats.org/officeDocument/2006/relationships/notesSlide" Target="/ppt/notesSlides/notesSlide14.xml" Id="Rb9c6ba842cf642a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4bf9749b44262" /><Relationship Type="http://schemas.openxmlformats.org/officeDocument/2006/relationships/notesSlide" Target="/ppt/notesSlides/notesSlide15.xml" Id="Rf2b503dfd20f42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e54835f944c5f" /><Relationship Type="http://schemas.openxmlformats.org/officeDocument/2006/relationships/notesSlide" Target="/ppt/notesSlides/notesSlide16.xml" Id="R848a6855af814ca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1ac45a25d4204" /><Relationship Type="http://schemas.openxmlformats.org/officeDocument/2006/relationships/notesSlide" Target="/ppt/notesSlides/notesSlide17.xml" Id="R4ad5974413344b6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d697ed94d4298" /><Relationship Type="http://schemas.openxmlformats.org/officeDocument/2006/relationships/notesSlide" Target="/ppt/notesSlides/notesSlide18.xml" Id="Rc80fc444de61425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f8844a7974032" /><Relationship Type="http://schemas.openxmlformats.org/officeDocument/2006/relationships/notesSlide" Target="/ppt/notesSlides/notesSlide19.xml" Id="R194013d8b1de4bb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abf572c9f4390" /><Relationship Type="http://schemas.openxmlformats.org/officeDocument/2006/relationships/notesSlide" Target="/ppt/notesSlides/notesSlide20.xml" Id="R26b43c0e754949b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8fa3924f446ca" /><Relationship Type="http://schemas.openxmlformats.org/officeDocument/2006/relationships/notesSlide" Target="/ppt/notesSlides/notesSlide21.xml" Id="Rabc15b50e31440d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18f6a06594457" /><Relationship Type="http://schemas.openxmlformats.org/officeDocument/2006/relationships/notesSlide" Target="/ppt/notesSlides/notesSlide22.xml" Id="R86e0801b577a459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d80ae63c348ad" /><Relationship Type="http://schemas.openxmlformats.org/officeDocument/2006/relationships/notesSlide" Target="/ppt/notesSlides/notesSlide23.xml" Id="Rdb988a6d061047e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6d22d87cf4769" /><Relationship Type="http://schemas.openxmlformats.org/officeDocument/2006/relationships/image" Target="/ppt/media/image.jpeg" Id="Re25eb22ee6774927" /><Relationship Type="http://schemas.openxmlformats.org/officeDocument/2006/relationships/image" Target="/ppt/media/image2.jpeg" Id="Rc2a4cb979b7c48e2" /><Relationship Type="http://schemas.openxmlformats.org/officeDocument/2006/relationships/image" Target="/ppt/media/image3.jpeg" Id="Rdb3f2ba802284494" /><Relationship Type="http://schemas.openxmlformats.org/officeDocument/2006/relationships/notesSlide" Target="/ppt/notesSlides/notesSlide24.xml" Id="Rc478d34deb85466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052ce27d54879" /><Relationship Type="http://schemas.openxmlformats.org/officeDocument/2006/relationships/notesSlide" Target="/ppt/notesSlides/notesSlide25.xml" Id="Rf0d63d0ac1a842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C9D3F32C-3F8E-4465-6AE1-B7B6FDFD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36" y="1857374"/>
            <a:ext cx="9041422" cy="1251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900" b="1" i="0" u="none" cap="none">
                <a:solidFill>
                  <a:srgbClr val="101827"/>
                </a:solidFill>
              </a:defRPr>
            </a:pP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Dual-Line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900" b="1" i="0" u="none" cap="none">
                <a:solidFill>
                  <a:srgbClr val="101827"/>
                </a:solidFill>
              </a:defRPr>
            </a:pP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선택적</a:t>
            </a: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 </a:t>
            </a: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재관측</a:t>
            </a: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 </a:t>
            </a: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기반</a:t>
            </a: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이미지</a:t>
            </a: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분류</a:t>
            </a: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9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시스템</a:t>
            </a:r>
            <a:endParaRPr sz="3900" b="1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7D2C7234-CC1D-4B83-AD61-AF60C314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8" y="3352803"/>
            <a:ext cx="781050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 i="0" u="none" cap="none">
                <a:solidFill>
                  <a:srgbClr val="5D6675"/>
                </a:solidFill>
              </a:defRPr>
            </a:pPr>
            <a:r>
              <a:rPr sz="15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TRAIN-OFF 위험 탐지와 다중 전무가 보정을 결합한 선택적 추론 구조</a:t>
            </a:r>
          </a:p>
        </p:txBody>
      </p:sp>
      <p:sp>
        <p:nvSpPr>
          <p:cNvPr id="4" name="직선 연결선 3">
            <a:extLst xmlns:a="http://schemas.openxmlformats.org/drawingml/2006/main">
              <a:ext uri="{FF2B5EF4-FFF2-40B4-BE49-F238E27FC236}">
                <a16:creationId xmlns:a16="http://schemas.microsoft.com/office/drawing/2014/main" id="{3FD10724-A12A-882B-354F-76BA1EDE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8" y="3943349"/>
            <a:ext cx="285750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46">
            <a:solidFill>
              <a:srgbClr val="101827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FCBA1F20-4A44-2198-81F1-2DB03A9E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07" y="4956633"/>
            <a:ext cx="495300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Computer Vision · PyTorch · ResNet18 / DINOv2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ACF384B1-F2DE-53BA-07AF-FCE23D79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8" y="5225146"/>
            <a:ext cx="495300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[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이준우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] 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AI / Computer Vision Engineer</a:t>
            </a:r>
            <a:endParaRPr sz="1050" b="0" i="0" u="none" kern="1200" cap="none" spc="0" baseline="0">
              <a:solidFill>
                <a:srgbClr val="5D667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C2C6F4D6-E0EF-0B40-0F83-C9E8E4E3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3" y="5638803"/>
            <a:ext cx="1571625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 u="none" cap="none">
                <a:solidFill>
                  <a:srgbClr val="8A94A3"/>
                </a:solidFill>
              </a:defRPr>
            </a:pPr>
            <a:r>
              <a:rPr sz="900" b="1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PORTFOLIO 2026</a:t>
            </a:r>
          </a:p>
        </p:txBody>
      </p:sp>
      <p:sp>
        <p:nvSpPr>
          <p:cNvPr id="8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98A4EEB-C453-48AD-0929-91B25B4D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8" y="5493660"/>
            <a:ext cx="495300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GitHub Repository</a:t>
            </a:r>
            <a:r>
              <a:rPr sz="1050" b="0" i="0" u="none" cap="none">
                <a:solidFill>
                  <a:srgbClr val="156082"/>
                </a:solidFill>
                <a:latin typeface="Calibri"/>
                <a:ea typeface="Calibri"/>
                <a:cs typeface="Calibri"/>
              </a:rPr>
              <a:t> https://github.com/winder34/dual-line-perception-judgment</a:t>
            </a:r>
            <a:endParaRPr sz="1050" b="0" i="0" u="none" kern="1200" cap="none" spc="0" baseline="0">
              <a:solidFill>
                <a:srgbClr val="15608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61307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8670E5F4-D375-EC7F-BC37-51539E8D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프로젝트 구성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A4D73CE3-FC8F-A05F-F6A7-0EF34911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CONTENTS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197F00CF-9C6F-B22F-4EE8-09B723FB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61C7766D-4495-33C6-A149-17119FD9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3435BEDA-04AF-BA70-D947-050E6FF0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02</a:t>
            </a:r>
          </a:p>
        </p:txBody>
      </p:sp>
      <p:sp>
        <p:nvSpPr>
          <p:cNvPr id="7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04F4DF84-A883-F572-82A5-85F9E975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3"/>
            <a:ext cx="552453" cy="32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25" b="1" i="0" u="none" cap="none">
                <a:solidFill>
                  <a:srgbClr val="8A94A3"/>
                </a:solidFill>
              </a:defRPr>
            </a:pPr>
            <a:r>
              <a:rPr sz="1425" b="1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8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2BE26391-B6DC-67A2-AF74-CE3D90BD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3" y="1581153"/>
            <a:ext cx="2095503" cy="32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i="0" u="none" cap="none">
                <a:solidFill>
                  <a:srgbClr val="101827"/>
                </a:solidFill>
              </a:defRPr>
            </a:pPr>
            <a:r>
              <a:rPr sz="15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프로젝트 개요</a:t>
            </a:r>
          </a:p>
        </p:txBody>
      </p:sp>
      <p:sp>
        <p:nvSpPr>
          <p:cNvPr id="9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FDD2B643-96F8-B0A2-B1D6-E53FA098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3" y="1619246"/>
            <a:ext cx="323850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문제 정의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학습 구조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추론 구조</a:t>
            </a:r>
          </a:p>
        </p:txBody>
      </p:sp>
      <p:sp>
        <p:nvSpPr>
          <p:cNvPr id="10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D8D1155F-C57E-1692-D5B7-6B461E23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09728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u="none" cap="none">
                <a:solidFill>
                  <a:srgbClr val="5D6675"/>
                </a:solidFill>
              </a:defRPr>
            </a:pPr>
            <a:r>
              <a:rPr sz="1050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03–05</a:t>
            </a:r>
          </a:p>
        </p:txBody>
      </p:sp>
      <p:sp>
        <p:nvSpPr>
          <p:cNvPr id="11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0A178785-B929-6177-FB86-68DCF5A0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49"/>
            <a:ext cx="6429375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C9467DBC-8574-E482-5A04-5643E49A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3"/>
            <a:ext cx="552453" cy="32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25" b="1" i="0" u="none" cap="none">
                <a:solidFill>
                  <a:srgbClr val="8A94A3"/>
                </a:solidFill>
              </a:defRPr>
            </a:pPr>
            <a:r>
              <a:rPr sz="1425" b="1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3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508F757E-5B4E-10C5-C574-9314807C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3" y="2552703"/>
            <a:ext cx="2095503" cy="32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i="0" u="none" cap="none">
                <a:solidFill>
                  <a:srgbClr val="101827"/>
                </a:solidFill>
              </a:defRPr>
            </a:pPr>
            <a:r>
              <a:rPr sz="15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핵심 모듈</a:t>
            </a:r>
          </a:p>
        </p:txBody>
      </p:sp>
      <p:sp>
        <p:nvSpPr>
          <p:cNvPr id="14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570A8112-2959-1A20-D1C4-BE8CBC8C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3" y="2590796"/>
            <a:ext cx="323850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표현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증거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감지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재관측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후보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보정</a:t>
            </a:r>
          </a:p>
        </p:txBody>
      </p:sp>
      <p:sp>
        <p:nvSpPr>
          <p:cNvPr id="15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66F9C49F-C2AA-156C-976C-78AA74FB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81278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u="none" cap="none">
                <a:solidFill>
                  <a:srgbClr val="5D6675"/>
                </a:solidFill>
              </a:defRPr>
            </a:pPr>
            <a:r>
              <a:rPr sz="1050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06–11</a:t>
            </a:r>
          </a:p>
        </p:txBody>
      </p:sp>
      <p:sp>
        <p:nvSpPr>
          <p:cNvPr id="16" name="직선 연결선 14">
            <a:extLst xmlns:a="http://schemas.openxmlformats.org/drawingml/2006/main">
              <a:ext uri="{FF2B5EF4-FFF2-40B4-BE49-F238E27FC236}">
                <a16:creationId xmlns:a16="http://schemas.microsoft.com/office/drawing/2014/main" id="{2A68F921-B0DF-5EA9-7459-D87A75B3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099"/>
            <a:ext cx="6429375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408FA473-6221-6FF3-2482-48461925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3"/>
            <a:ext cx="552453" cy="32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25" b="1" i="0" u="none" cap="none">
                <a:solidFill>
                  <a:srgbClr val="8A94A3"/>
                </a:solidFill>
              </a:defRPr>
            </a:pPr>
            <a:r>
              <a:rPr sz="1425" b="1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8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E2207AFD-A47F-A12D-00A1-B872892A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3" y="3524253"/>
            <a:ext cx="2095503" cy="32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i="0" u="none" cap="none">
                <a:solidFill>
                  <a:srgbClr val="101827"/>
                </a:solidFill>
              </a:defRPr>
            </a:pPr>
            <a:r>
              <a:rPr sz="15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실행 및 검증</a:t>
            </a:r>
          </a:p>
        </p:txBody>
      </p:sp>
      <p:sp>
        <p:nvSpPr>
          <p:cNvPr id="19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046344C0-0F2D-C28D-6DA6-D0ABE54E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3" y="3562346"/>
            <a:ext cx="323850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단일 이미지 추론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판단 근거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성능 평가</a:t>
            </a:r>
          </a:p>
        </p:txBody>
      </p:sp>
      <p:sp>
        <p:nvSpPr>
          <p:cNvPr id="20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87E7B40D-7CA0-AD55-EE76-B4A0ACCE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52828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u="none" cap="none">
                <a:solidFill>
                  <a:srgbClr val="5D6675"/>
                </a:solidFill>
              </a:defRPr>
            </a:pPr>
            <a:r>
              <a:rPr sz="1050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12–16</a:t>
            </a:r>
          </a:p>
        </p:txBody>
      </p:sp>
      <p:sp>
        <p:nvSpPr>
          <p:cNvPr id="21" name="직선 연결선 19">
            <a:extLst xmlns:a="http://schemas.openxmlformats.org/drawingml/2006/main">
              <a:ext uri="{FF2B5EF4-FFF2-40B4-BE49-F238E27FC236}">
                <a16:creationId xmlns:a16="http://schemas.microsoft.com/office/drawing/2014/main" id="{9ABF75FE-1E5C-84F6-4B52-8843E563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6429375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D6615B7D-1AC3-50CF-5563-75266501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3"/>
            <a:ext cx="552453" cy="32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25" b="1" i="0" u="none" cap="none">
                <a:solidFill>
                  <a:srgbClr val="8A94A3"/>
                </a:solidFill>
              </a:defRPr>
            </a:pPr>
            <a:r>
              <a:rPr sz="1425" b="1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3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AE76972E-AD84-EC82-AE7C-89DDE479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3" y="4495803"/>
            <a:ext cx="2095503" cy="32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i="0" u="none" cap="none">
                <a:solidFill>
                  <a:srgbClr val="101827"/>
                </a:solidFill>
              </a:defRPr>
            </a:pPr>
            <a:r>
              <a:rPr sz="1500" b="1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결과와</a:t>
            </a:r>
            <a:r>
              <a:rPr sz="1500" b="1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개선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i="0" u="none" cap="none">
                <a:solidFill>
                  <a:srgbClr val="101827"/>
                </a:solidFill>
              </a:defRPr>
            </a:pPr>
            <a:endParaRPr sz="1500" b="1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5D4F3DA8-B7F8-B3AF-2E71-D9E0E0A5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3" y="4533896"/>
            <a:ext cx="323850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구현 결과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현재 한계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확장 계획</a:t>
            </a:r>
          </a:p>
        </p:txBody>
      </p:sp>
      <p:sp>
        <p:nvSpPr>
          <p:cNvPr id="25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EDD24888-8FAF-A50C-C9E8-C1AB4A79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24378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u="none" cap="none">
                <a:solidFill>
                  <a:srgbClr val="5D6675"/>
                </a:solidFill>
              </a:defRPr>
            </a:pPr>
            <a:r>
              <a:rPr sz="1050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26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83E21AC9-1E37-6960-48D6-5DD2D074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429375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EB026BCF-292F-1BBD-CD90-46D03B28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8" y="1504946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1" i="0" u="none" cap="none">
                <a:solidFill>
                  <a:srgbClr val="101827"/>
                </a:solidFill>
              </a:defRPr>
            </a:pPr>
            <a:r>
              <a:rPr sz="157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모듈 색상 흐름</a:t>
            </a:r>
          </a:p>
        </p:txBody>
      </p:sp>
      <p:sp>
        <p:nvSpPr>
          <p:cNvPr id="28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F53FFEE4-39A4-19B2-66B1-5B230BA1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8" y="1847846"/>
            <a:ext cx="3714749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각 색상은  모듈의 역할을 나타낸다</a:t>
            </a:r>
            <a:r>
              <a:rPr sz="9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9" name="직선 연결선 27">
            <a:extLst xmlns:a="http://schemas.openxmlformats.org/drawingml/2006/main">
              <a:ext uri="{FF2B5EF4-FFF2-40B4-BE49-F238E27FC236}">
                <a16:creationId xmlns:a16="http://schemas.microsoft.com/office/drawing/2014/main" id="{45E569EC-EB92-A71A-145C-84046A73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8" y="2419346"/>
            <a:ext cx="22860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1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DCDF2F75-0422-0455-A397-F75829DC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3" y="2305046"/>
            <a:ext cx="36194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1" i="0" u="none" cap="none">
                <a:solidFill>
                  <a:srgbClr val="3F96D4"/>
                </a:solidFill>
              </a:defRPr>
            </a:pPr>
            <a:r>
              <a:rPr sz="97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1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0D304D32-2799-DEA1-4994-24A73CEE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6" y="2305046"/>
            <a:ext cx="180975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1" i="0" u="none" cap="none">
                <a:solidFill>
                  <a:srgbClr val="101827"/>
                </a:solidFill>
              </a:defRPr>
            </a:pPr>
            <a:r>
              <a:rPr sz="11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공간 표현</a:t>
            </a:r>
          </a:p>
        </p:txBody>
      </p:sp>
      <p:sp>
        <p:nvSpPr>
          <p:cNvPr id="32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3461C47A-596F-8951-A3F0-006238F2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3" y="2305046"/>
            <a:ext cx="7239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3" name="직선 연결선 31">
            <a:extLst xmlns:a="http://schemas.openxmlformats.org/drawingml/2006/main">
              <a:ext uri="{FF2B5EF4-FFF2-40B4-BE49-F238E27FC236}">
                <a16:creationId xmlns:a16="http://schemas.microsoft.com/office/drawing/2014/main" id="{357C6002-4EA6-7E52-862E-462FEF9E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8" y="2924178"/>
            <a:ext cx="22860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1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53199E82-BB62-7684-5E04-8EE14D04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3" y="2809878"/>
            <a:ext cx="36194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1" i="0" u="none" cap="none">
                <a:solidFill>
                  <a:srgbClr val="4F9D55"/>
                </a:solidFill>
              </a:defRPr>
            </a:pPr>
            <a:r>
              <a:rPr sz="97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35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520A0EDD-511D-2F21-EC98-99C5B5B1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6" y="2809878"/>
            <a:ext cx="180975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1" i="0" u="none" cap="none">
                <a:solidFill>
                  <a:srgbClr val="101827"/>
                </a:solidFill>
              </a:defRPr>
            </a:pPr>
            <a:r>
              <a:rPr sz="11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독립 증거</a:t>
            </a:r>
          </a:p>
        </p:txBody>
      </p:sp>
      <p:sp>
        <p:nvSpPr>
          <p:cNvPr id="36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68C45E17-F3AC-1D2F-E1F3-CE03E3B9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3" y="2809878"/>
            <a:ext cx="7239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7" name="직선 연결선 35">
            <a:extLst xmlns:a="http://schemas.openxmlformats.org/drawingml/2006/main">
              <a:ext uri="{FF2B5EF4-FFF2-40B4-BE49-F238E27FC236}">
                <a16:creationId xmlns:a16="http://schemas.microsoft.com/office/drawing/2014/main" id="{9604ED70-2AB9-AE4E-F2FB-346267F5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8" y="3429000"/>
            <a:ext cx="22860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1">
            <a:solidFill>
              <a:srgbClr val="C7921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993F1457-BC2B-273B-771F-4896D420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3" y="3314700"/>
            <a:ext cx="36194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1" i="0" u="none" cap="none">
                <a:solidFill>
                  <a:srgbClr val="C79213"/>
                </a:solidFill>
              </a:defRPr>
            </a:pPr>
            <a:r>
              <a:rPr sz="975" b="1" i="0" u="none" cap="none">
                <a:solidFill>
                  <a:srgbClr val="C7921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39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93E81DCD-A7F3-0F95-9947-760BBB22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6" y="3314700"/>
            <a:ext cx="180975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1" i="0" u="none" cap="none">
                <a:solidFill>
                  <a:srgbClr val="101827"/>
                </a:solidFill>
              </a:defRPr>
            </a:pPr>
            <a:r>
              <a:rPr sz="11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위험 감지</a:t>
            </a:r>
          </a:p>
        </p:txBody>
      </p:sp>
      <p:sp>
        <p:nvSpPr>
          <p:cNvPr id="40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DD42351B-52F6-253F-6007-4AAA9BE1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3" y="3314700"/>
            <a:ext cx="7239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41" name="직선 연결선 39">
            <a:extLst xmlns:a="http://schemas.openxmlformats.org/drawingml/2006/main">
              <a:ext uri="{FF2B5EF4-FFF2-40B4-BE49-F238E27FC236}">
                <a16:creationId xmlns:a16="http://schemas.microsoft.com/office/drawing/2014/main" id="{EC88C9FE-B09D-2948-4A0F-61D4D5D1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8" y="3933821"/>
            <a:ext cx="22860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1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54D7A63F-3A94-D043-4C84-2FDBD45B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3" y="3819521"/>
            <a:ext cx="36194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1" i="0" u="none" cap="none">
                <a:solidFill>
                  <a:srgbClr val="3F96D4"/>
                </a:solidFill>
              </a:defRPr>
            </a:pPr>
            <a:r>
              <a:rPr sz="97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43" name="직사각형 41">
            <a:extLst xmlns:a="http://schemas.openxmlformats.org/drawingml/2006/main">
              <a:ext uri="{FF2B5EF4-FFF2-40B4-BE49-F238E27FC236}">
                <a16:creationId xmlns:a16="http://schemas.microsoft.com/office/drawing/2014/main" id="{56E594CB-6FA5-E8D2-ADFB-BF4F5334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6" y="3819521"/>
            <a:ext cx="180975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1" i="0" u="none" cap="none">
                <a:solidFill>
                  <a:srgbClr val="101827"/>
                </a:solidFill>
              </a:defRPr>
            </a:pPr>
            <a:r>
              <a:rPr sz="11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재관측 계획</a:t>
            </a:r>
          </a:p>
        </p:txBody>
      </p:sp>
      <p:sp>
        <p:nvSpPr>
          <p:cNvPr id="44" name="직사각형 42">
            <a:extLst xmlns:a="http://schemas.openxmlformats.org/drawingml/2006/main">
              <a:ext uri="{FF2B5EF4-FFF2-40B4-BE49-F238E27FC236}">
                <a16:creationId xmlns:a16="http://schemas.microsoft.com/office/drawing/2014/main" id="{F9584CCA-81BA-A4A6-13FF-EA296B88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3" y="3819521"/>
            <a:ext cx="7239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45" name="직선 연결선 43">
            <a:extLst xmlns:a="http://schemas.openxmlformats.org/drawingml/2006/main">
              <a:ext uri="{FF2B5EF4-FFF2-40B4-BE49-F238E27FC236}">
                <a16:creationId xmlns:a16="http://schemas.microsoft.com/office/drawing/2014/main" id="{3516DB8A-EB25-6567-D2EC-EBA06B5E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8" y="4438653"/>
            <a:ext cx="22860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1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직사각형 44">
            <a:extLst xmlns:a="http://schemas.openxmlformats.org/drawingml/2006/main">
              <a:ext uri="{FF2B5EF4-FFF2-40B4-BE49-F238E27FC236}">
                <a16:creationId xmlns:a16="http://schemas.microsoft.com/office/drawing/2014/main" id="{B179FA6D-D186-AE3F-14C4-0338CF51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3" y="4324353"/>
            <a:ext cx="36194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1" i="0" u="none" cap="none">
                <a:solidFill>
                  <a:srgbClr val="4F9D55"/>
                </a:solidFill>
              </a:defRPr>
            </a:pPr>
            <a:r>
              <a:rPr sz="97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47" name="직사각형 45">
            <a:extLst xmlns:a="http://schemas.openxmlformats.org/drawingml/2006/main">
              <a:ext uri="{FF2B5EF4-FFF2-40B4-BE49-F238E27FC236}">
                <a16:creationId xmlns:a16="http://schemas.microsoft.com/office/drawing/2014/main" id="{65B4B42F-15C8-E683-A967-E5740211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6" y="4324353"/>
            <a:ext cx="180975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1" i="0" u="none" cap="none">
                <a:solidFill>
                  <a:srgbClr val="101827"/>
                </a:solidFill>
              </a:defRPr>
            </a:pPr>
            <a:r>
              <a:rPr sz="11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후보 증거</a:t>
            </a:r>
          </a:p>
        </p:txBody>
      </p:sp>
      <p:sp>
        <p:nvSpPr>
          <p:cNvPr id="48" name="직사각형 46">
            <a:extLst xmlns:a="http://schemas.openxmlformats.org/drawingml/2006/main">
              <a:ext uri="{FF2B5EF4-FFF2-40B4-BE49-F238E27FC236}">
                <a16:creationId xmlns:a16="http://schemas.microsoft.com/office/drawing/2014/main" id="{A81283B2-6DD0-6CFC-8D21-0EF59B1C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3" y="4324353"/>
            <a:ext cx="7239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9" name="직선 연결선 47">
            <a:extLst xmlns:a="http://schemas.openxmlformats.org/drawingml/2006/main">
              <a:ext uri="{FF2B5EF4-FFF2-40B4-BE49-F238E27FC236}">
                <a16:creationId xmlns:a16="http://schemas.microsoft.com/office/drawing/2014/main" id="{DED930C2-3937-DE6D-1F20-E4BDD1AC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8" y="4943475"/>
            <a:ext cx="22860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1">
            <a:solidFill>
              <a:srgbClr val="9256B2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직사각형 48">
            <a:extLst xmlns:a="http://schemas.openxmlformats.org/drawingml/2006/main">
              <a:ext uri="{FF2B5EF4-FFF2-40B4-BE49-F238E27FC236}">
                <a16:creationId xmlns:a16="http://schemas.microsoft.com/office/drawing/2014/main" id="{3BF13483-7BDE-DBD7-7C70-50023CE7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3" y="4829175"/>
            <a:ext cx="36194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1" i="0" u="none" cap="none">
                <a:solidFill>
                  <a:srgbClr val="9256B2"/>
                </a:solidFill>
              </a:defRPr>
            </a:pPr>
            <a:r>
              <a:rPr sz="97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51" name="직사각형 49">
            <a:extLst xmlns:a="http://schemas.openxmlformats.org/drawingml/2006/main">
              <a:ext uri="{FF2B5EF4-FFF2-40B4-BE49-F238E27FC236}">
                <a16:creationId xmlns:a16="http://schemas.microsoft.com/office/drawing/2014/main" id="{AC852284-9ABF-90FE-5D46-F0A4B94B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6" y="4829175"/>
            <a:ext cx="180975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1" i="0" u="none" cap="none">
                <a:solidFill>
                  <a:srgbClr val="101827"/>
                </a:solidFill>
              </a:defRPr>
            </a:pPr>
            <a:r>
              <a:rPr sz="11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전환 승인</a:t>
            </a:r>
          </a:p>
        </p:txBody>
      </p:sp>
      <p:sp>
        <p:nvSpPr>
          <p:cNvPr id="52" name="직사각형 50">
            <a:extLst xmlns:a="http://schemas.openxmlformats.org/drawingml/2006/main">
              <a:ext uri="{FF2B5EF4-FFF2-40B4-BE49-F238E27FC236}">
                <a16:creationId xmlns:a16="http://schemas.microsoft.com/office/drawing/2014/main" id="{E8A45198-3F1A-A9A8-1C7E-0026B802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3" y="4829175"/>
            <a:ext cx="7239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11–15</a:t>
            </a:r>
            <a:endParaRPr sz="975" b="0" i="0" u="none" kern="1200" cap="none" spc="0" baseline="0">
              <a:solidFill>
                <a:srgbClr val="5D667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직선 연결선 51">
            <a:extLst xmlns:a="http://schemas.openxmlformats.org/drawingml/2006/main">
              <a:ext uri="{FF2B5EF4-FFF2-40B4-BE49-F238E27FC236}">
                <a16:creationId xmlns:a16="http://schemas.microsoft.com/office/drawing/2014/main" id="{54A6CDB6-798F-990C-FB49-90BB912F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8" y="5448296"/>
            <a:ext cx="22860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1">
            <a:solidFill>
              <a:srgbClr val="8A94A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직사각형 52">
            <a:extLst xmlns:a="http://schemas.openxmlformats.org/drawingml/2006/main">
              <a:ext uri="{FF2B5EF4-FFF2-40B4-BE49-F238E27FC236}">
                <a16:creationId xmlns:a16="http://schemas.microsoft.com/office/drawing/2014/main" id="{8AF814E2-03B2-C77D-EC91-B36FF151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3" y="5333996"/>
            <a:ext cx="361946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1" i="0" u="none" cap="none">
                <a:solidFill>
                  <a:srgbClr val="8A94A3"/>
                </a:solidFill>
              </a:defRPr>
            </a:pPr>
            <a:r>
              <a:rPr sz="975" b="1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55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D69EAA29-5C7A-72FA-A65F-7CB68388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6" y="5333996"/>
            <a:ext cx="180975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1" i="0" u="none" cap="none">
                <a:solidFill>
                  <a:srgbClr val="101827"/>
                </a:solidFill>
              </a:defRPr>
            </a:pPr>
            <a:r>
              <a:rPr sz="11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실행 감사</a:t>
            </a:r>
          </a:p>
        </p:txBody>
      </p:sp>
      <p:sp>
        <p:nvSpPr>
          <p:cNvPr id="56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D9539F09-509E-B15F-39A7-1BF1432C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3" y="5333996"/>
            <a:ext cx="7239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16</a:t>
            </a:r>
            <a:endParaRPr sz="975" b="0" i="0" u="none" kern="1200" cap="none" spc="0" baseline="0">
              <a:solidFill>
                <a:srgbClr val="5D667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40393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688E3B3-BB23-4DBB-CB44-3391045A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프로젝트 문제 정의 및 대응 구조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8C47B19-D358-7CC1-888B-6957CBEF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01 · PROJECT OVERVIEW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7E7F6E78-698B-9461-C395-7475062C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EF721D30-0D37-B973-ADC0-2B4D4413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6CAFB436-F63F-F59F-5975-10700656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03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FD22BFCC-1E7B-CFDA-6BE9-24F2D901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13EA52F2-2638-ED3F-26A1-C2CBED98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8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직선 연결선 7">
            <a:extLst xmlns:a="http://schemas.openxmlformats.org/drawingml/2006/main">
              <a:ext uri="{FF2B5EF4-FFF2-40B4-BE49-F238E27FC236}">
                <a16:creationId xmlns:a16="http://schemas.microsoft.com/office/drawing/2014/main" id="{58B5376F-77F8-0FD3-E18F-CFB8DAAD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46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C7921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직선 연결선 8">
            <a:extLst xmlns:a="http://schemas.openxmlformats.org/drawingml/2006/main">
              <a:ext uri="{FF2B5EF4-FFF2-40B4-BE49-F238E27FC236}">
                <a16:creationId xmlns:a16="http://schemas.microsoft.com/office/drawing/2014/main" id="{3DE70E46-BB06-728B-1B4D-F4C85C6B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9F37294B-74C5-0096-4420-3221D78A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3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직선 연결선 10">
            <a:extLst xmlns:a="http://schemas.openxmlformats.org/drawingml/2006/main">
              <a:ext uri="{FF2B5EF4-FFF2-40B4-BE49-F238E27FC236}">
                <a16:creationId xmlns:a16="http://schemas.microsoft.com/office/drawing/2014/main" id="{228C26E0-1EE5-2E66-EA53-5EDE3D79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1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9256B2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직선 연결선 11">
            <a:extLst xmlns:a="http://schemas.openxmlformats.org/drawingml/2006/main">
              <a:ext uri="{FF2B5EF4-FFF2-40B4-BE49-F238E27FC236}">
                <a16:creationId xmlns:a16="http://schemas.microsoft.com/office/drawing/2014/main" id="{749EEEB9-92CB-4659-FF39-0B090B4D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49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8A94A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B23A12B0-6038-1D74-A7DC-286913CF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000500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5D6675"/>
                </a:solidFill>
              </a:defRPr>
            </a:pPr>
            <a:r>
              <a:rPr sz="825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관측 → 증거 → 감지 → 재관측 → 후보 → 보정 → 감사</a:t>
            </a:r>
          </a:p>
        </p:txBody>
      </p:sp>
      <p:sp>
        <p:nvSpPr>
          <p:cNvPr id="15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4896CAB-767D-8F5D-91BF-FB7808CA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219446" cy="1695453"/>
          </a:xfrm>
          <a:custGeom xmlns:a="http://schemas.openxmlformats.org/drawingml/2006/main">
            <a:avLst>
              <a:gd name="f0" fmla="val 72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타원 14">
            <a:extLst xmlns:a="http://schemas.openxmlformats.org/drawingml/2006/main">
              <a:ext uri="{FF2B5EF4-FFF2-40B4-BE49-F238E27FC236}">
                <a16:creationId xmlns:a16="http://schemas.microsoft.com/office/drawing/2014/main" id="{0BA2FA14-A8A7-1D1B-456F-7E136309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49"/>
            <a:ext cx="285750" cy="285750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E9EDF3"/>
          </a:solidFill>
          <a:ln xmlns:a="http://schemas.openxmlformats.org/drawingml/2006/main" w="11430">
            <a:solidFill>
              <a:srgbClr val="E9EDF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2BB32402-ACE5-1745-465F-3A04E4E7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19271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101827"/>
                </a:solidFill>
              </a:defRPr>
            </a:pPr>
            <a:r>
              <a:rPr sz="8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8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15CC37B4-A1A9-298C-7916-80570AD9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81178"/>
            <a:ext cx="24764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문제</a:t>
            </a:r>
          </a:p>
        </p:txBody>
      </p:sp>
      <p:sp>
        <p:nvSpPr>
          <p:cNvPr id="19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9DCA5DE8-6CBD-7573-66A2-60E5ABA8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96" y="2143125"/>
            <a:ext cx="2838453" cy="1047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높은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confidence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도 배경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국소 질감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불완전한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crop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에 끌린 오답일 수 있다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0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8EC4E1F0-1071-43FC-5B48-10C45B4A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600200"/>
            <a:ext cx="3219446" cy="1695453"/>
          </a:xfrm>
          <a:custGeom xmlns:a="http://schemas.openxmlformats.org/drawingml/2006/main">
            <a:avLst>
              <a:gd name="f0" fmla="val 72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타원 19">
            <a:extLst xmlns:a="http://schemas.openxmlformats.org/drawingml/2006/main">
              <a:ext uri="{FF2B5EF4-FFF2-40B4-BE49-F238E27FC236}">
                <a16:creationId xmlns:a16="http://schemas.microsoft.com/office/drawing/2014/main" id="{680938A7-7341-351D-E537-7A9E993F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71649"/>
            <a:ext cx="285750" cy="285750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E9EDF3"/>
          </a:solidFill>
          <a:ln xmlns:a="http://schemas.openxmlformats.org/drawingml/2006/main" w="11430">
            <a:solidFill>
              <a:srgbClr val="E9EDF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21FF0029-B924-793C-D70F-D596CECE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819271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101827"/>
                </a:solidFill>
              </a:defRPr>
            </a:pPr>
            <a:r>
              <a:rPr sz="8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3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D236E924-F206-D2B4-903F-137F5163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781178"/>
            <a:ext cx="24764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대응</a:t>
            </a:r>
          </a:p>
        </p:txBody>
      </p:sp>
      <p:sp>
        <p:nvSpPr>
          <p:cNvPr id="24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F3D78741-4B91-88D0-0298-EAFC80EE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1" y="2143125"/>
            <a:ext cx="2838453" cy="1047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위험 입력만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REVIEW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하고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다시 얻은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Parent/Fine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증거를 기존 판단과 비교한다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5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D9CE7457-CC92-01B0-FD35-33E69089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0200"/>
            <a:ext cx="3219446" cy="1695453"/>
          </a:xfrm>
          <a:custGeom xmlns:a="http://schemas.openxmlformats.org/drawingml/2006/main">
            <a:avLst>
              <a:gd name="f0" fmla="val 72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타원 24">
            <a:extLst xmlns:a="http://schemas.openxmlformats.org/drawingml/2006/main">
              <a:ext uri="{FF2B5EF4-FFF2-40B4-BE49-F238E27FC236}">
                <a16:creationId xmlns:a16="http://schemas.microsoft.com/office/drawing/2014/main" id="{F41D1B50-FDF1-0FBA-A683-5779DBE1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71649"/>
            <a:ext cx="285750" cy="285750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E9EDF3"/>
          </a:solidFill>
          <a:ln xmlns:a="http://schemas.openxmlformats.org/drawingml/2006/main" w="11430">
            <a:solidFill>
              <a:srgbClr val="E9EDF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F7E07329-FBE6-E705-51C0-92E8EE50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19271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101827"/>
                </a:solidFill>
              </a:defRPr>
            </a:pPr>
            <a:r>
              <a:rPr sz="8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8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5C6CEE9A-044E-1168-22A0-70106C05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81178"/>
            <a:ext cx="24764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검증 결과</a:t>
            </a:r>
          </a:p>
        </p:txBody>
      </p:sp>
      <p:sp>
        <p:nvSpPr>
          <p:cNvPr id="29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3252EC02-4B57-FBA7-24A4-9EE52FBF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46" y="2143125"/>
            <a:ext cx="2838453" cy="1047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ResNet18 10-class TEST 1,000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장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Parent+Fine 92.2% → 96.0%, fixed 40 / broken 2.</a:t>
            </a:r>
          </a:p>
        </p:txBody>
      </p:sp>
      <p:cxnSp>
        <p:nvCxnSpPr>
          <p:cNvPr id="64" name="직선 화살표 연결선 62"/>
          <p:cNvCxnSpPr>
            <a:stCxn xmlns:a="http://schemas.openxmlformats.org/drawingml/2006/main" id="15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>
            <a:off x="3905246" y="2447927"/>
            <a:ext cx="581029" cy="0"/>
          </a:xfrm>
          <a:prstGeom xmlns:a="http://schemas.openxmlformats.org/drawingml/2006/main" prst="straightConnector1">
            <a:avLst/>
          </a:prstGeom>
          <a:ln xmlns:a="http://schemas.openxmlformats.org/drawingml/2006/main" w="15243">
            <a:solidFill>
              <a:srgbClr val="101827"/>
            </a:solidFill>
            <a:prstDash val="solid"/>
            <a:tailEnd type="arrow"/>
          </a:ln>
        </p:spPr>
      </p:cxnSp>
      <p:cxnSp>
        <p:nvCxnSpPr>
          <p:cNvPr id="65" name="직선 화살표 연결선 63"/>
          <p:cNvCxnSpPr>
            <a:stCxn xmlns:a="http://schemas.openxmlformats.org/drawingml/2006/main" id="20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>
            <a:off x="7705721" y="2447927"/>
            <a:ext cx="581029" cy="0"/>
          </a:xfrm>
          <a:prstGeom xmlns:a="http://schemas.openxmlformats.org/drawingml/2006/main" prst="straightConnector1">
            <a:avLst/>
          </a:prstGeom>
          <a:ln xmlns:a="http://schemas.openxmlformats.org/drawingml/2006/main" w="15243">
            <a:solidFill>
              <a:srgbClr val="101827"/>
            </a:solidFill>
            <a:prstDash val="solid"/>
            <a:tailEnd type="arrow"/>
          </a:ln>
        </p:spPr>
      </p:cxnSp>
      <p:sp>
        <p:nvSpPr>
          <p:cNvPr id="32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7329552E-1F9C-BF92-5443-E53A5DF7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04799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25" b="1" i="0" u="none" cap="none">
                <a:solidFill>
                  <a:srgbClr val="101827"/>
                </a:solidFill>
              </a:defRPr>
            </a:pPr>
            <a:r>
              <a:rPr sz="17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런타임 판단 흐름</a:t>
            </a:r>
          </a:p>
        </p:txBody>
      </p:sp>
      <p:sp>
        <p:nvSpPr>
          <p:cNvPr id="33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D2DA077A-0456-36A8-DD5E-A562376D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3"/>
            <a:ext cx="10001250" cy="32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cap="none">
                <a:solidFill>
                  <a:srgbClr val="5D6675"/>
                </a:solidFill>
              </a:defRPr>
            </a:pPr>
            <a:r>
              <a:rPr sz="13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기본 예측  →  오답 위험 감지  →  선택적 재관측  →  공동 보정</a:t>
            </a:r>
          </a:p>
        </p:txBody>
      </p:sp>
      <p:sp>
        <p:nvSpPr>
          <p:cNvPr id="34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A585799B-5481-F267-215C-797510DC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3"/>
            <a:ext cx="1809753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설계 초점</a:t>
            </a:r>
          </a:p>
        </p:txBody>
      </p:sp>
      <p:sp>
        <p:nvSpPr>
          <p:cNvPr id="35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7021599A-6AAD-01B9-4586-7BA1F278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67303"/>
            <a:ext cx="8286750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모듈 계약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TRAIN/TEST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경계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전환 감사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label-free runtime</a:t>
            </a:r>
          </a:p>
        </p:txBody>
      </p:sp>
    </p:spTree>
    <p:extLst>
      <p:ext uri="{BB962C8B-B14F-4D97-AF65-F5344CB8AC3E}">
        <p14:creationId xmlns:p14="http://schemas.microsoft.com/office/powerpoint/2010/main" val="19475604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B0BD945-B8F6-16A1-8CEE-8875A872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TRAIN/OOF </a:t>
            </a: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기반 학습 아티팩트 생성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4E3FC1F-0B83-7154-1100-9A58C6E4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01 · TRAIN / OOF ARTIFACT BUILD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028965BC-A72F-952F-72E6-840ECCC1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86A0BF77-8077-9283-9757-05B23692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7D802CEF-C4ED-2E42-F724-8566F899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04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9D8AC06E-DBFA-21A9-00E5-A1F7631F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88A910FE-A9C9-7134-C216-D6D6E8CB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8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직선 연결선 7">
            <a:extLst xmlns:a="http://schemas.openxmlformats.org/drawingml/2006/main">
              <a:ext uri="{FF2B5EF4-FFF2-40B4-BE49-F238E27FC236}">
                <a16:creationId xmlns:a16="http://schemas.microsoft.com/office/drawing/2014/main" id="{6C32B844-8E99-D220-BB96-90E1562A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46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C7921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직선 연결선 8">
            <a:extLst xmlns:a="http://schemas.openxmlformats.org/drawingml/2006/main">
              <a:ext uri="{FF2B5EF4-FFF2-40B4-BE49-F238E27FC236}">
                <a16:creationId xmlns:a16="http://schemas.microsoft.com/office/drawing/2014/main" id="{16055CFB-6E60-1F8B-B767-7FD647A2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12A085FD-8BF3-9B85-D3D6-E850D0E1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3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직선 연결선 10">
            <a:extLst xmlns:a="http://schemas.openxmlformats.org/drawingml/2006/main">
              <a:ext uri="{FF2B5EF4-FFF2-40B4-BE49-F238E27FC236}">
                <a16:creationId xmlns:a16="http://schemas.microsoft.com/office/drawing/2014/main" id="{4A50BCCE-C6EB-B5EB-F64F-A8D62376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1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9256B2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직선 연결선 11">
            <a:extLst xmlns:a="http://schemas.openxmlformats.org/drawingml/2006/main">
              <a:ext uri="{FF2B5EF4-FFF2-40B4-BE49-F238E27FC236}">
                <a16:creationId xmlns:a16="http://schemas.microsoft.com/office/drawing/2014/main" id="{02E80E90-C990-50EC-8F00-3E5F32FE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49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8A94A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3C3A4BC4-A285-68D8-F139-8AB98689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000500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5D6675"/>
                </a:solidFill>
              </a:defRPr>
            </a:pPr>
            <a:r>
              <a:rPr sz="825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학습 라벨은 아티팩트 생성 단계에서만 사용</a:t>
            </a:r>
          </a:p>
        </p:txBody>
      </p:sp>
      <p:pic>
        <p:nvPicPr>
          <p:cNvPr id="39" name="그림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f94bacf0149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17222"/>
            <a:ext cx="10820396" cy="173767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58BAD2C1-BA13-1C16-7FBE-0C4FD1D0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3"/>
            <a:ext cx="3257550" cy="1238253"/>
          </a:xfrm>
          <a:custGeom xmlns:a="http://schemas.openxmlformats.org/drawingml/2006/main">
            <a:avLst>
              <a:gd name="f0" fmla="val 997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1289E635-212A-8077-1996-C24CC86A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96" y="4448171"/>
            <a:ext cx="28765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1 · OOF </a:t>
            </a: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증거</a:t>
            </a:r>
          </a:p>
        </p:txBody>
      </p:sp>
      <p:sp>
        <p:nvSpPr>
          <p:cNvPr id="18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CE070BDB-CCB9-CE55-73D4-4D74F72A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96" y="4810128"/>
            <a:ext cx="2876546" cy="590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각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fold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의 미관측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TRAIN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예측으로 위험 감지와 보정 학습용 증거를 만든다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9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435BB577-F515-074A-2F17-91447D14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8" y="4267203"/>
            <a:ext cx="3257550" cy="1238253"/>
          </a:xfrm>
          <a:custGeom xmlns:a="http://schemas.openxmlformats.org/drawingml/2006/main">
            <a:avLst>
              <a:gd name="f0" fmla="val 997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5739E813-4B31-F6C5-5360-6D21A134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48171"/>
            <a:ext cx="28765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2 · </a:t>
            </a: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저장 아티팩트</a:t>
            </a:r>
          </a:p>
        </p:txBody>
      </p:sp>
      <p:sp>
        <p:nvSpPr>
          <p:cNvPr id="21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3E8F5B10-26C3-408C-C967-70788C88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10128"/>
            <a:ext cx="2876546" cy="590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Evidence profile, v233 risk, v234 correction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을 독립 아티팩트로 저장한다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2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CFBBC318-0C82-BAFC-AE7D-B35191B9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46" y="4267203"/>
            <a:ext cx="3257550" cy="1238253"/>
          </a:xfrm>
          <a:custGeom xmlns:a="http://schemas.openxmlformats.org/drawingml/2006/main">
            <a:avLst>
              <a:gd name="f0" fmla="val 997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3FB1E7E9-EB66-48BC-CFBD-9294283F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3" y="4448171"/>
            <a:ext cx="28765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3 · TEST </a:t>
            </a: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경계</a:t>
            </a:r>
          </a:p>
        </p:txBody>
      </p:sp>
      <p:sp>
        <p:nvSpPr>
          <p:cNvPr id="24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1CE52824-0346-22A5-8591-369C57B1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3" y="4810128"/>
            <a:ext cx="2876546" cy="590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TEST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결과는 모델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·threshold·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후보 정책을 다시 선택하는 데 사용하지 않는다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07579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2F08675-76FD-2D6C-6E83-6EF8AF0C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라벨 비의존 추론과 선택적 재관측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D8A3C8AE-C1FC-61EA-B318-DC543F44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01 · LABEL-FREE RUNTIME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C066A679-4E77-0F70-70A2-375253B0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F9F7F0BC-F870-7BF9-3111-B9C16FCA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F564800F-2B42-5D48-E474-E9459014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05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97D349BD-476B-0289-6B32-BA2B5154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62142DEE-CE30-E209-E5DD-F18CACBB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8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직선 연결선 7">
            <a:extLst xmlns:a="http://schemas.openxmlformats.org/drawingml/2006/main">
              <a:ext uri="{FF2B5EF4-FFF2-40B4-BE49-F238E27FC236}">
                <a16:creationId xmlns:a16="http://schemas.microsoft.com/office/drawing/2014/main" id="{1C914500-BA30-9A81-BE11-6D1F5BFD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46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C7921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직선 연결선 8">
            <a:extLst xmlns:a="http://schemas.openxmlformats.org/drawingml/2006/main">
              <a:ext uri="{FF2B5EF4-FFF2-40B4-BE49-F238E27FC236}">
                <a16:creationId xmlns:a16="http://schemas.microsoft.com/office/drawing/2014/main" id="{1303CD08-5E6E-5752-2661-C6C05A97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DF29230B-1877-E07C-C3AC-571A82D6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3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직선 연결선 10">
            <a:extLst xmlns:a="http://schemas.openxmlformats.org/drawingml/2006/main">
              <a:ext uri="{FF2B5EF4-FFF2-40B4-BE49-F238E27FC236}">
                <a16:creationId xmlns:a16="http://schemas.microsoft.com/office/drawing/2014/main" id="{5FC3FDA6-7C3E-C647-3DEF-5FF8660C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1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9256B2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직선 연결선 11">
            <a:extLst xmlns:a="http://schemas.openxmlformats.org/drawingml/2006/main">
              <a:ext uri="{FF2B5EF4-FFF2-40B4-BE49-F238E27FC236}">
                <a16:creationId xmlns:a16="http://schemas.microsoft.com/office/drawing/2014/main" id="{51568E7A-D5A2-8A89-0F93-410FF203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49" y="1257300"/>
            <a:ext cx="171450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8A94A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C060F72F-AF70-1AFC-F9B2-DEC77437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000500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5D6675"/>
                </a:solidFill>
              </a:defRPr>
            </a:pPr>
            <a:r>
              <a:rPr sz="825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기본 추론 → 위험 감지 → 재관측 → 보정 → 감사</a:t>
            </a:r>
          </a:p>
        </p:txBody>
      </p:sp>
      <p:pic>
        <p:nvPicPr>
          <p:cNvPr id="32" name="그림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440761c724f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257" y="1676396"/>
            <a:ext cx="10819482" cy="383857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D6045B51-8AC6-BF99-1641-2246FC21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396" cy="457200"/>
          </a:xfrm>
          <a:custGeom xmlns:a="http://schemas.openxmlformats.org/drawingml/2006/main">
            <a:avLst>
              <a:gd name="f0" fmla="val 9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3824C809-F684-4B7C-9262-A29888A0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61" y="5826730"/>
            <a:ext cx="10382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101827"/>
                </a:solidFill>
              </a:defRPr>
            </a:pPr>
            <a:r>
              <a:rPr sz="112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런타임은 라벨 없이 </a:t>
            </a:r>
            <a:r>
              <a:rPr sz="112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KEEP / REVIEW / SWITCH</a:t>
            </a:r>
            <a:r>
              <a:rPr sz="112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를 결정하고</a:t>
            </a:r>
            <a:r>
              <a:rPr sz="112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12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정답 라벨은 모든 판단이 끝난 뒤 별도 감사 단계에서만 결합한다</a:t>
            </a:r>
            <a:r>
              <a:rPr sz="112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92652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4A5E2BE-603F-D52E-ED40-C5BFAE86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Backbone </a:t>
            </a: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교체를 위한 공간 표현 통합 규격 설계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D89E8434-1B69-3185-DE1A-D3D19BF0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02 · MODULE 01 · BACKBONE ADAPTER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2C1E7E6C-8AE6-C096-37AA-F5B14CC6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A3FDD7A3-948D-4E68-6122-E544E121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A6702C19-1958-72DD-3A89-A25BC04C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06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AC4B2A33-A455-3623-80D6-25A160F2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C57B47A-157E-F329-7D8D-9B080EA6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3F96D4"/>
                </a:solidFill>
              </a:defRPr>
            </a:pPr>
            <a:r>
              <a:rPr sz="82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01 · </a:t>
            </a:r>
            <a:r>
              <a:rPr sz="82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공간 표현 </a:t>
            </a:r>
            <a:r>
              <a:rPr sz="82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82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단일 </a:t>
            </a:r>
            <a:r>
              <a:rPr sz="82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BACKBONE </a:t>
            </a:r>
            <a:r>
              <a:rPr sz="82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선택</a:t>
            </a:r>
          </a:p>
        </p:txBody>
      </p:sp>
      <p:sp>
        <p:nvSpPr>
          <p:cNvPr id="9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85D63F30-A03D-02A5-E4A9-F19D9053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476496" cy="1143000"/>
          </a:xfrm>
          <a:custGeom xmlns:a="http://schemas.openxmlformats.org/drawingml/2006/main">
            <a:avLst>
              <a:gd name="f0" fmla="val 10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4EB53C2A-11C7-26B8-755E-538BD9CE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64" y="2089349"/>
            <a:ext cx="2095503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선택지 </a:t>
            </a: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A · ResNet</a:t>
            </a:r>
          </a:p>
        </p:txBody>
      </p:sp>
      <p:sp>
        <p:nvSpPr>
          <p:cNvPr id="11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D9B9D759-E6C8-0758-875D-A310038F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64" y="2499942"/>
            <a:ext cx="2095503" cy="495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ResNet18 / 50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Final convolution map F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Adaptive average pooling</a:t>
            </a:r>
          </a:p>
        </p:txBody>
      </p:sp>
      <p:sp>
        <p:nvSpPr>
          <p:cNvPr id="12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0295B701-3B12-BC45-A242-3ED9727F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49"/>
            <a:ext cx="2476496" cy="1143000"/>
          </a:xfrm>
          <a:custGeom xmlns:a="http://schemas.openxmlformats.org/drawingml/2006/main">
            <a:avLst>
              <a:gd name="f0" fmla="val 10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10F1B25E-4699-9E93-0492-FD5BD897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64" y="3798445"/>
            <a:ext cx="2095503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선택지 </a:t>
            </a: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 · DINOv2</a:t>
            </a:r>
          </a:p>
        </p:txBody>
      </p:sp>
      <p:sp>
        <p:nvSpPr>
          <p:cNvPr id="14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D97AEE27-8B55-A029-01E1-1E9B7C54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64" y="4257675"/>
            <a:ext cx="2095503" cy="495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ViT-S / B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CLS + native patch tokens P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Patch grid from 14×14 patches</a:t>
            </a:r>
          </a:p>
        </p:txBody>
      </p:sp>
      <p:sp>
        <p:nvSpPr>
          <p:cNvPr id="15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D7E5C963-2D69-A23A-3CA5-8FF9F5A6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46" y="2619371"/>
            <a:ext cx="3810003" cy="1714500"/>
          </a:xfrm>
          <a:custGeom xmlns:a="http://schemas.openxmlformats.org/drawingml/2006/main">
            <a:avLst>
              <a:gd name="f0" fmla="val 7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842BBE3E-5D5D-A802-1A43-FDFD2EFE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3" y="2800350"/>
            <a:ext cx="3429000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Backbone Spatial Adapter</a:t>
            </a:r>
          </a:p>
        </p:txBody>
      </p:sp>
      <p:sp>
        <p:nvSpPr>
          <p:cNvPr id="17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9C0FE720-0AF7-D743-33FC-199A381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3" y="3162296"/>
            <a:ext cx="3429000" cy="1066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ResNet: z_cls = GAP(F)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DINO: z_cls = CLS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Z_tile = Flatten(AAP₄×₄(F or P))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endParaRPr sz="1050" b="0" i="0" u="none" kern="1200" cap="none" spc="0" baseline="0">
              <a:solidFill>
                <a:srgbClr val="5D6675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Backbone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별 출력을 같은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4×4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공간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contract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로 정규화</a:t>
            </a:r>
          </a:p>
        </p:txBody>
      </p:sp>
      <p:sp>
        <p:nvSpPr>
          <p:cNvPr id="18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9F903F22-E835-649E-C026-7F3F25C1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8" y="2799069"/>
            <a:ext cx="2667003" cy="1352553"/>
          </a:xfrm>
          <a:custGeom xmlns:a="http://schemas.openxmlformats.org/drawingml/2006/main">
            <a:avLst>
              <a:gd name="f0" fmla="val 913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AF0F9B45-93D4-C454-BDA9-87D43A17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36805"/>
            <a:ext cx="2286000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공통 출력 계약</a:t>
            </a:r>
          </a:p>
        </p:txBody>
      </p:sp>
      <p:sp>
        <p:nvSpPr>
          <p:cNvPr id="20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F970C328-7D2F-FF06-618F-C8906874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31186"/>
            <a:ext cx="2286000" cy="704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cls_token: [B, D]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tile_tokens: [B, 16, D]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observer grid: 4×4</a:t>
            </a:r>
          </a:p>
        </p:txBody>
      </p:sp>
      <p:sp>
        <p:nvSpPr>
          <p:cNvPr id="21" name="타원 22">
            <a:extLst xmlns:a="http://schemas.openxmlformats.org/drawingml/2006/main">
              <a:ext uri="{FF2B5EF4-FFF2-40B4-BE49-F238E27FC236}">
                <a16:creationId xmlns:a16="http://schemas.microsoft.com/office/drawing/2014/main" id="{2D54877E-5496-226D-BE77-07151F81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5184163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3F96D4"/>
          </a:solidFill>
          <a:ln xmlns:a="http://schemas.openxmlformats.org/drawingml/2006/main" w="11430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6F3B061-94E9-3300-B29E-5F24CF65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5095878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교체 가능한 </a:t>
            </a: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Backbone</a:t>
            </a:r>
          </a:p>
        </p:txBody>
      </p:sp>
      <p:sp>
        <p:nvSpPr>
          <p:cNvPr id="23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E45DD2C4-3472-4F06-540A-02A50AA2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46" y="5095878"/>
            <a:ext cx="781050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동시 사용이 아니라 설정으로 하나를 선택하며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candidate/gate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코드는 변경하지 않음</a:t>
            </a:r>
          </a:p>
        </p:txBody>
      </p:sp>
      <p:sp>
        <p:nvSpPr>
          <p:cNvPr id="24" name="타원 25">
            <a:extLst xmlns:a="http://schemas.openxmlformats.org/drawingml/2006/main">
              <a:ext uri="{FF2B5EF4-FFF2-40B4-BE49-F238E27FC236}">
                <a16:creationId xmlns:a16="http://schemas.microsoft.com/office/drawing/2014/main" id="{1D9496B9-DAFE-03E6-FDB0-5A9CE572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5708041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3F96D4"/>
          </a:solidFill>
          <a:ln xmlns:a="http://schemas.openxmlformats.org/drawingml/2006/main" w="11430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E50BA7E7-991D-2A9D-BDD2-D335008C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5619746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Stable manifest</a:t>
            </a:r>
          </a:p>
        </p:txBody>
      </p:sp>
      <p:sp>
        <p:nvSpPr>
          <p:cNvPr id="26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68A3DC4C-20AC-1EDA-DFA7-988EC999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46" y="5619746"/>
            <a:ext cx="781050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backbone_id · preprocessing_id · feature schema · sample order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를 함께 저장</a:t>
            </a:r>
          </a:p>
        </p:txBody>
      </p:sp>
      <p:cxnSp>
        <p:nvCxnSpPr>
          <p:cNvPr id="55" name="연결선: 꺾임 20"/>
          <p:cNvCxnSpPr/>
          <p:nvPr/>
        </p:nvCxnSpPr>
        <p:spPr>
          <a:xfrm xmlns:a="http://schemas.openxmlformats.org/drawingml/2006/main" flipV="1">
            <a:off x="3158145" y="3482785"/>
            <a:ext cx="749259" cy="843835"/>
          </a:xfrm>
          <a:prstGeom xmlns:a="http://schemas.openxmlformats.org/drawingml/2006/main" prst="bentConnector3">
            <a:avLst/>
          </a:prstGeom>
          <a:ln xmlns:a="http://schemas.openxmlformats.org/drawingml/2006/main" w="12701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56" name="연결선: 꺾임 21"/>
          <p:cNvCxnSpPr/>
          <p:nvPr/>
        </p:nvCxnSpPr>
        <p:spPr>
          <a:xfrm xmlns:a="http://schemas.openxmlformats.org/drawingml/2006/main">
            <a:off x="3158456" y="2594518"/>
            <a:ext cx="748628" cy="885724"/>
          </a:xfrm>
          <a:prstGeom xmlns:a="http://schemas.openxmlformats.org/drawingml/2006/main" prst="bentConnector3">
            <a:avLst/>
          </a:prstGeom>
          <a:ln xmlns:a="http://schemas.openxmlformats.org/drawingml/2006/main" w="12701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57" name="직선 화살표 연결선 29"/>
          <p:cNvCxnSpPr/>
          <p:nvPr/>
        </p:nvCxnSpPr>
        <p:spPr>
          <a:xfrm xmlns:a="http://schemas.openxmlformats.org/drawingml/2006/main" flipV="1">
            <a:off x="7711510" y="3454411"/>
            <a:ext cx="1096886" cy="4489"/>
          </a:xfrm>
          <a:prstGeom xmlns:a="http://schemas.openxmlformats.org/drawingml/2006/main" prst="straightConnector1">
            <a:avLst/>
          </a:prstGeom>
          <a:ln xmlns:a="http://schemas.openxmlformats.org/drawingml/2006/main" w="12701">
            <a:solidFill>
              <a:srgbClr val="000000"/>
            </a:solidFill>
            <a:prstDash val="solid"/>
            <a:tailEnd type="arrow"/>
          </a:ln>
        </p:spPr>
      </p:cxnSp>
    </p:spTree>
    <p:extLst>
      <p:ext uri="{BB962C8B-B14F-4D97-AF65-F5344CB8AC3E}">
        <p14:creationId xmlns:p14="http://schemas.microsoft.com/office/powerpoint/2010/main" val="4507110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F6B164F4-E32A-C333-6F15-88B3E99C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Parent/Fine </a:t>
            </a: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독립 표현 생성과 공간 증거 결합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8A1546A6-B9CE-2AE1-62AA-BCE901F4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02 · MODULE 02 · EVIDENCE PROJECTOR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69456466-85FD-EEA0-3742-ED98F0EE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89E722F-0AA7-96B7-8DFB-CAEB69F5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AC20D42A-D1D4-BAA0-52E2-8AD95858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07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5EFAF317-E77D-4AEB-924A-2CB288E6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DFB61418-39DC-D2D0-3183-B23D36F3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4F9D55"/>
                </a:solidFill>
              </a:defRPr>
            </a:pPr>
            <a:r>
              <a:rPr sz="82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02 · </a:t>
            </a:r>
            <a:r>
              <a:rPr sz="82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독립 증거 </a:t>
            </a:r>
            <a:r>
              <a:rPr sz="82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82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TASK-SPECIFIC REPRESENTATION</a:t>
            </a:r>
          </a:p>
        </p:txBody>
      </p:sp>
      <p:sp>
        <p:nvSpPr>
          <p:cNvPr id="9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638B398B-9E9C-6DC9-C745-2DB36D5A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3"/>
            <a:ext cx="4243693" cy="990596"/>
          </a:xfrm>
          <a:custGeom xmlns:a="http://schemas.openxmlformats.org/drawingml/2006/main">
            <a:avLst>
              <a:gd name="f0" fmla="val 4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14FDB2C3-B639-6A3C-48A8-839F6B02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33" y="2075642"/>
            <a:ext cx="2911815" cy="45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l_clsᵇ = h_clsᵇ(z_cls)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l_tile,tᵇ = W_tileᵇ z_t</a:t>
            </a:r>
          </a:p>
        </p:txBody>
      </p:sp>
      <p:sp>
        <p:nvSpPr>
          <p:cNvPr id="11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4BC45C65-3459-D6B0-EF23-69634A8B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04" y="2854930"/>
            <a:ext cx="4497686" cy="366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공통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Backbone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출력에서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Parent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Fine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이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사용할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전역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표현과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타일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표현을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각각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생성한다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2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D4918253-AD14-6849-087A-ADC43E04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8325" y="1809753"/>
            <a:ext cx="5542059" cy="990596"/>
          </a:xfrm>
          <a:custGeom xmlns:a="http://schemas.openxmlformats.org/drawingml/2006/main">
            <a:avLst>
              <a:gd name="f0" fmla="val 4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7CAD5340-09AE-4BAD-19A1-25E1DCD7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604" y="2075642"/>
            <a:ext cx="5053248" cy="472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a_t,cᵇ = softmax_t(l_tile,t,cᵇ / τ)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l_pool,cᵇ = Σ_t a_t,cᵇ · l_tile,t,cᵇ</a:t>
            </a:r>
          </a:p>
        </p:txBody>
      </p:sp>
      <p:sp>
        <p:nvSpPr>
          <p:cNvPr id="14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C1ABFD2E-E0B8-A402-B3F8-C08A37BA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133" y="2876546"/>
            <a:ext cx="5542059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Class-conditioned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attention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으로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16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tile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의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증거를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통합한다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  <a:endParaRPr sz="900" b="0" i="0" u="none" kern="1200" cap="none" spc="0" baseline="0">
              <a:solidFill>
                <a:srgbClr val="5D667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F7A310A-7FB4-7B2D-2F80-122664E8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3"/>
            <a:ext cx="5286375" cy="952503"/>
          </a:xfrm>
          <a:custGeom xmlns:a="http://schemas.openxmlformats.org/drawingml/2006/main">
            <a:avLst>
              <a:gd name="f0" fmla="val 43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56B9E1E5-C832-F11F-805C-FF0B5EFA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37" y="3461150"/>
            <a:ext cx="4959687" cy="494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lᵇ = 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α_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 · l_clsᵇ + (1 - 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α_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b) · l_poolᵇ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α_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 = sigmoid(learned fusion logit)</a:t>
            </a:r>
          </a:p>
        </p:txBody>
      </p:sp>
      <p:sp>
        <p:nvSpPr>
          <p:cNvPr id="17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E49ECB34-05BC-D0CD-EDDC-CDE24388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3"/>
            <a:ext cx="5286375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각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branch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에서 전체 이미지 증와  </a:t>
            </a:r>
            <a:r>
              <a:rPr sz="9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타일 기반 공간 증거를 학습형으로 결합한다</a:t>
            </a:r>
            <a:r>
              <a:rPr sz="9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.</a:t>
            </a:r>
          </a:p>
        </p:txBody>
      </p:sp>
      <p:sp>
        <p:nvSpPr>
          <p:cNvPr id="18" name="타원 19">
            <a:extLst xmlns:a="http://schemas.openxmlformats.org/drawingml/2006/main">
              <a:ext uri="{FF2B5EF4-FFF2-40B4-BE49-F238E27FC236}">
                <a16:creationId xmlns:a16="http://schemas.microsoft.com/office/drawing/2014/main" id="{29E8D0BE-6D34-5162-8B1F-47FFE4CC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4924428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4F9D55"/>
          </a:solidFill>
          <a:ln xmlns:a="http://schemas.openxmlformats.org/drawingml/2006/main" w="11430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3DBEDC72-5AC3-6DD8-FFE3-B9F89FE8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4857749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설계 의미</a:t>
            </a:r>
          </a:p>
        </p:txBody>
      </p:sp>
      <p:sp>
        <p:nvSpPr>
          <p:cNvPr id="20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CFBFE704-96FA-4C5E-CE86-E0C1208D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727" y="4852345"/>
            <a:ext cx="4540928" cy="221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Parent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는 공통 정체성을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Fine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은 구분에 필요한 세부 증거를 복구할 수 있음</a:t>
            </a:r>
          </a:p>
        </p:txBody>
      </p:sp>
      <p:sp>
        <p:nvSpPr>
          <p:cNvPr id="21" name="타원 22">
            <a:extLst xmlns:a="http://schemas.openxmlformats.org/drawingml/2006/main">
              <a:ext uri="{FF2B5EF4-FFF2-40B4-BE49-F238E27FC236}">
                <a16:creationId xmlns:a16="http://schemas.microsoft.com/office/drawing/2014/main" id="{DEAECF2F-4FB3-BD51-A8F9-E0D80D62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5495928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4F9D55"/>
          </a:solidFill>
          <a:ln xmlns:a="http://schemas.openxmlformats.org/drawingml/2006/main" w="11430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19968642-C758-BA50-B689-10A1098D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5429250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런타임 출력</a:t>
            </a:r>
          </a:p>
        </p:txBody>
      </p:sp>
      <p:sp>
        <p:nvSpPr>
          <p:cNvPr id="23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E11C8051-FB17-2CAA-D355-26DD739D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727" y="5418441"/>
            <a:ext cx="4092369" cy="232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Parent/Fine probabilities + class-conditioned 4×4 spatial attention</a:t>
            </a:r>
          </a:p>
        </p:txBody>
      </p:sp>
      <p:sp>
        <p:nvSpPr>
          <p:cNvPr id="24" name="사각형: 둥근 모서리 27">
            <a:extLst xmlns:a="http://schemas.openxmlformats.org/drawingml/2006/main">
              <a:ext uri="{FF2B5EF4-FFF2-40B4-BE49-F238E27FC236}">
                <a16:creationId xmlns:a16="http://schemas.microsoft.com/office/drawing/2014/main" id="{051EF8AE-5CC0-36C2-A23E-84E59041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081" y="1688494"/>
            <a:ext cx="1752557" cy="234077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Parent/Fine </a:t>
            </a: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독립 표현 생성</a:t>
            </a:r>
            <a:endParaRPr sz="1800" b="0" i="0" u="none" kern="1200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A5535621-65DB-5FC1-81D9-B2F94E1F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1127" y="3502984"/>
            <a:ext cx="4382152" cy="2696647"/>
          </a:xfrm>
          <a:custGeom xmlns:a="http://schemas.openxmlformats.org/drawingml/2006/main">
            <a:avLst>
              <a:gd name="f0" fmla="val 4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69C59A9D-7890-A1CA-66E7-8E220D69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094" y="3710040"/>
            <a:ext cx="4378796" cy="2396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   Parent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또는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Fine branch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  <a:endParaRPr sz="1100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t   4×4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공간에서의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타일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번호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, t ∈ {1, …, 16}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  <a:endParaRPr sz="1100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c   branch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가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분류하는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클래스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번호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  <a:endParaRPr sz="1100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z_cls   Backbone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이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생성한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전체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이미지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표현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  <a:endParaRPr sz="1100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z_t     Backbone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이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생성한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t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번째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타일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표현</a:t>
            </a:r>
            <a:endParaRPr sz="1250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endParaRPr sz="1100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ℓ_clsᵇ       branch b의 전역 class logit ℓ_tile,t,cᵇ  타일 t에서 클래스 c를 지지하는 logit a_t,cᵇ       클래스 c에 대한 타일 t의 attention 가중치 ℓ_poolᵇ      타일 증거를 합산한 공간 class logit ℓᵇ           branch b의 최종 class logit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τ            attention 분포의 집중도를 조절하는 온도 α_b          전역 증거와 공간 증거의 학습형 결합 비율</a:t>
            </a:r>
          </a:p>
        </p:txBody>
      </p:sp>
      <p:sp>
        <p:nvSpPr>
          <p:cNvPr id="27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A5746616-19D4-63D7-2235-407D1383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978" y="3109819"/>
            <a:ext cx="1979529" cy="250289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전역</a:t>
            </a: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·</a:t>
            </a: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공간</a:t>
            </a: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증거의 학습형 결합</a:t>
            </a:r>
            <a:endParaRPr sz="1800" b="0" i="0" u="none" kern="1200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사각형: 둥근 모서리 34">
            <a:extLst xmlns:a="http://schemas.openxmlformats.org/drawingml/2006/main">
              <a:ext uri="{FF2B5EF4-FFF2-40B4-BE49-F238E27FC236}">
                <a16:creationId xmlns:a16="http://schemas.microsoft.com/office/drawing/2014/main" id="{0386554B-AB74-C859-6DB8-2897828E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5634" y="1688494"/>
            <a:ext cx="1752557" cy="234077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클래스별</a:t>
            </a: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공간 증거 집계</a:t>
            </a:r>
            <a:endParaRPr sz="1800" b="0" i="0" u="none" kern="1200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F31EE9AE-B502-8E2C-B369-BF7A3634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931" y="3380024"/>
            <a:ext cx="1374251" cy="250289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기호 및 변수 정의</a:t>
            </a:r>
            <a:endParaRPr sz="1800" b="0" i="0" u="none" kern="1200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03255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D028C9C-04B6-1730-6412-05C9AF9D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OOF </a:t>
            </a: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기반 오류 위험도 산출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F225805A-DFA8-9BA2-8EEE-8CC98544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02 · MODULE 03 · ERROR-RISK DETECTOR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AC1EAEBF-8F46-BCDF-C95A-989446BB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C257D9A3-DA9B-7B42-5666-EDC94B50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23242C0-EE8F-5460-B8B1-D9C2B1DE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08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CB5C4699-FB3E-779E-A542-C2D040E2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C7921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3D330559-B156-891E-822E-205FF7A6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C79213"/>
                </a:solidFill>
              </a:defRPr>
            </a:pPr>
            <a:r>
              <a:rPr sz="825" b="1" i="0" u="none" cap="none">
                <a:solidFill>
                  <a:srgbClr val="C79213"/>
                </a:solidFill>
                <a:latin typeface="Calibri"/>
                <a:ea typeface="Calibri"/>
                <a:cs typeface="Calibri"/>
              </a:rPr>
              <a:t>03 · </a:t>
            </a:r>
            <a:r>
              <a:rPr sz="825" b="1" i="0" u="none" cap="none">
                <a:solidFill>
                  <a:srgbClr val="C79213"/>
                </a:solidFill>
                <a:latin typeface="Calibri"/>
                <a:ea typeface="Calibri"/>
                <a:cs typeface="Calibri"/>
              </a:rPr>
              <a:t>위험 감지 </a:t>
            </a:r>
            <a:r>
              <a:rPr sz="825" b="1" i="0" u="none" cap="none">
                <a:solidFill>
                  <a:srgbClr val="C79213"/>
                </a:solidFill>
                <a:latin typeface="Calibri"/>
                <a:ea typeface="Calibri"/>
                <a:cs typeface="Calibri"/>
              </a:rPr>
              <a:t>· 42</a:t>
            </a:r>
            <a:r>
              <a:rPr sz="825" b="1" i="0" u="none" cap="none">
                <a:solidFill>
                  <a:srgbClr val="C79213"/>
                </a:solidFill>
                <a:latin typeface="Calibri"/>
                <a:ea typeface="Calibri"/>
                <a:cs typeface="Calibri"/>
              </a:rPr>
              <a:t>차원 </a:t>
            </a:r>
            <a:r>
              <a:rPr sz="825" b="1" i="0" u="none" cap="none">
                <a:solidFill>
                  <a:srgbClr val="C79213"/>
                </a:solidFill>
                <a:latin typeface="Calibri"/>
                <a:ea typeface="Calibri"/>
                <a:cs typeface="Calibri"/>
              </a:rPr>
              <a:t>EVIDENCE STATE</a:t>
            </a:r>
          </a:p>
        </p:txBody>
      </p:sp>
      <p:sp>
        <p:nvSpPr>
          <p:cNvPr id="9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AE94CED5-2259-3604-C868-CFAE89A0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3"/>
            <a:ext cx="1428750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i="0" u="none" cap="none">
                <a:solidFill>
                  <a:srgbClr val="101827"/>
                </a:solidFill>
              </a:defRPr>
            </a:pPr>
            <a:r>
              <a:rPr sz="15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Profile</a:t>
            </a:r>
          </a:p>
        </p:txBody>
      </p:sp>
      <p:sp>
        <p:nvSpPr>
          <p:cNvPr id="10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B993EA9C-FE12-CFF8-F5E2-91BE4109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19271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node mean/std/max · Parent/Fine JS, L1, cosine · max probability · kNN support/entropy</a:t>
            </a:r>
          </a:p>
        </p:txBody>
      </p:sp>
      <p:sp>
        <p:nvSpPr>
          <p:cNvPr id="11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2E0DBDF1-5E1B-2B69-4F05-099663B8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6096003" cy="1381128"/>
          </a:xfrm>
          <a:custGeom xmlns:a="http://schemas.openxmlformats.org/drawingml/2006/main">
            <a:avLst>
              <a:gd name="f0" fmla="val 29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3919F0A5-ACA7-377F-D365-B2565719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45" y="2815209"/>
            <a:ext cx="5763911" cy="657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r_branch = max(rank(q_parent), rank(q_fine))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r_sup = 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ω_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d · rank(q_any) + (1 - 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ω_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d) · r_branch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R = (1 - 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ω_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n) · r_sup + 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ω_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n · rank(normality)</a:t>
            </a:r>
          </a:p>
        </p:txBody>
      </p:sp>
      <p:sp>
        <p:nvSpPr>
          <p:cNvPr id="13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14A4AB40-4E9A-8F48-8F1B-16A18BA9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6096003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런타임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rank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는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TRAIN score reference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를 기준으로 계산한다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0F84C992-4240-5771-8DA5-44EA6512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46" y="2457450"/>
            <a:ext cx="3952878" cy="1381128"/>
          </a:xfrm>
          <a:custGeom xmlns:a="http://schemas.openxmlformats.org/drawingml/2006/main">
            <a:avLst>
              <a:gd name="f0" fmla="val 89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CBF2203A-49BC-7547-63FC-63044EBC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3" y="2638428"/>
            <a:ext cx="3571874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선택된 </a:t>
            </a: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ResNet18 </a:t>
            </a: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정책</a:t>
            </a:r>
          </a:p>
        </p:txBody>
      </p:sp>
      <p:sp>
        <p:nvSpPr>
          <p:cNvPr id="16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8FB9ABEA-66DC-DB42-74DA-C54F184F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3" y="3000375"/>
            <a:ext cx="3571874" cy="733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HGB depth 2 / leaf 20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ω_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d = 0.75,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ω_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n = 0.00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TRAIN 10% budget threshold = 0.9043</a:t>
            </a:r>
          </a:p>
        </p:txBody>
      </p:sp>
      <p:sp>
        <p:nvSpPr>
          <p:cNvPr id="17" name="타원 15">
            <a:extLst xmlns:a="http://schemas.openxmlformats.org/drawingml/2006/main">
              <a:ext uri="{FF2B5EF4-FFF2-40B4-BE49-F238E27FC236}">
                <a16:creationId xmlns:a16="http://schemas.microsoft.com/office/drawing/2014/main" id="{4819E5A5-6A06-0032-4C42-AC23699B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4612672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C79213"/>
          </a:solidFill>
          <a:ln xmlns:a="http://schemas.openxmlformats.org/drawingml/2006/main" w="11430">
            <a:solidFill>
              <a:srgbClr val="C7921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449F89C1-1DFE-C424-CCE3-B9F03204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4524378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OOF </a:t>
            </a: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선택</a:t>
            </a:r>
          </a:p>
        </p:txBody>
      </p:sp>
      <p:sp>
        <p:nvSpPr>
          <p:cNvPr id="19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76EA0F2C-8153-CEBB-1F0E-033D6C32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496" y="4524378"/>
            <a:ext cx="7788886" cy="243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review budget 5% / 10% / 20%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의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weighted recall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과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AP, AURC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로 정책 선택</a:t>
            </a:r>
          </a:p>
        </p:txBody>
      </p:sp>
      <p:sp>
        <p:nvSpPr>
          <p:cNvPr id="20" name="타원 18">
            <a:extLst xmlns:a="http://schemas.openxmlformats.org/drawingml/2006/main">
              <a:ext uri="{FF2B5EF4-FFF2-40B4-BE49-F238E27FC236}">
                <a16:creationId xmlns:a16="http://schemas.microsoft.com/office/drawing/2014/main" id="{F646A770-2A8A-FE26-72A9-37423E76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5184172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C79213"/>
          </a:solidFill>
          <a:ln xmlns:a="http://schemas.openxmlformats.org/drawingml/2006/main" w="11430">
            <a:solidFill>
              <a:srgbClr val="C7921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37B6C60E-8E63-0669-7AD3-B03CE480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5095878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TEST </a:t>
            </a: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감사</a:t>
            </a:r>
          </a:p>
        </p:txBody>
      </p:sp>
      <p:sp>
        <p:nvSpPr>
          <p:cNvPr id="22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960B66B3-F5FA-18DF-BD75-466964C9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496" y="5133706"/>
            <a:ext cx="7799694" cy="248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103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장을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REVIEW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하여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base-invalid 78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장 중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64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장 탐지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(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recall 82.1%)</a:t>
            </a:r>
          </a:p>
        </p:txBody>
      </p:sp>
      <p:sp>
        <p:nvSpPr>
          <p:cNvPr id="23" name="타원 21">
            <a:extLst xmlns:a="http://schemas.openxmlformats.org/drawingml/2006/main">
              <a:ext uri="{FF2B5EF4-FFF2-40B4-BE49-F238E27FC236}">
                <a16:creationId xmlns:a16="http://schemas.microsoft.com/office/drawing/2014/main" id="{7846A4E8-C166-6A7F-6A4F-F026B947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5755672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C79213"/>
          </a:solidFill>
          <a:ln xmlns:a="http://schemas.openxmlformats.org/drawingml/2006/main" w="11430">
            <a:solidFill>
              <a:srgbClr val="C7921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4A07E5AD-D703-E558-EFA1-0506327C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5667378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모듈 경계</a:t>
            </a:r>
          </a:p>
        </p:txBody>
      </p:sp>
      <p:sp>
        <p:nvSpPr>
          <p:cNvPr id="25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5AC92484-385C-164F-39C1-73E88A96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880" y="5667378"/>
            <a:ext cx="7810503" cy="221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이 모듈은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REVIEW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만 요청하며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SWITCH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승인에는 관여하지 않음</a:t>
            </a:r>
          </a:p>
        </p:txBody>
      </p:sp>
      <p:sp>
        <p:nvSpPr>
          <p:cNvPr id="26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3508DF4F-F2FE-630E-4587-90FE46E2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92" y="4079540"/>
            <a:ext cx="3974823" cy="2033616"/>
          </a:xfrm>
          <a:custGeom xmlns:a="http://schemas.openxmlformats.org/drawingml/2006/main">
            <a:avLst>
              <a:gd name="f0" fmla="val 4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8CA74CD4-8243-4CF7-1291-587A8391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511" y="4188555"/>
            <a:ext cx="3763332" cy="1709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q_parent    Parent branch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가 틀릴 가능성</a:t>
            </a:r>
            <a:endParaRPr sz="1100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q_fine      Fine branch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가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틀릴 가능성</a:t>
            </a:r>
            <a:endParaRPr sz="1100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q_any       둘 중 하나 이상이 틀릴 가능성</a:t>
            </a:r>
            <a:endParaRPr sz="1100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rank(q)     TRAIN-OOF 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기준 백분위 위험 순위</a:t>
            </a:r>
            <a:endParaRPr sz="1100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normality   TRAIN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의 정상 증거 분포에서 벗어난 정도</a:t>
            </a:r>
            <a:endParaRPr sz="1100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_branch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   두 branch 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중 더 큰 오류 위험도</a:t>
            </a:r>
            <a:endParaRPr sz="1100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_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sup       직접 오류 탐지와 branch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별 탐지를 결합한 위험도</a:t>
            </a:r>
            <a:endParaRPr sz="1100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           최종 REVIEW 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위험도</a:t>
            </a:r>
            <a:endParaRPr sz="1100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ω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_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         직접 오류 탐지 q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_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any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의 반영 비율</a:t>
            </a:r>
            <a:endParaRPr sz="1100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ω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_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         정상성 이탈 점수의 반영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비율</a:t>
            </a:r>
            <a:endParaRPr sz="1275" b="0" i="0" u="none" kern="1200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C0BEAEBB-E6E9-1AA8-9A42-0B7242FC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997" y="2322493"/>
            <a:ext cx="1767068" cy="270360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다중 위험 신호 결합</a:t>
            </a:r>
            <a:endParaRPr sz="1000" b="0" i="0" u="none" kern="1200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사각형: 둥근 모서리 32">
            <a:extLst xmlns:a="http://schemas.openxmlformats.org/drawingml/2006/main">
              <a:ext uri="{FF2B5EF4-FFF2-40B4-BE49-F238E27FC236}">
                <a16:creationId xmlns:a16="http://schemas.microsoft.com/office/drawing/2014/main" id="{BBDD5438-AC82-92E6-AFBF-4B5091BA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889" y="3947473"/>
            <a:ext cx="1320210" cy="239481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기호 및 변수 정의</a:t>
            </a:r>
            <a:endParaRPr sz="1800" b="0" i="0" u="none" kern="1200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3054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15465C64-169F-5F96-2441-F29E5B77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504" y="3906600"/>
            <a:ext cx="5143499" cy="1888245"/>
          </a:xfrm>
          <a:custGeom xmlns:a="http://schemas.openxmlformats.org/drawingml/2006/main">
            <a:avLst>
              <a:gd name="f0" fmla="val 38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BB3D5C46-CBCF-E555-8D2B-9DEA7633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6600"/>
            <a:ext cx="5143499" cy="1888245"/>
          </a:xfrm>
          <a:custGeom xmlns:a="http://schemas.openxmlformats.org/drawingml/2006/main">
            <a:avLst>
              <a:gd name="f0" fmla="val 38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9">
            <a:extLst xmlns:a="http://schemas.openxmlformats.org/drawingml/2006/main">
              <a:ext uri="{FF2B5EF4-FFF2-40B4-BE49-F238E27FC236}">
                <a16:creationId xmlns:a16="http://schemas.microsoft.com/office/drawing/2014/main" id="{40A91175-719C-9E14-313E-C1FEC372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Attention </a:t>
            </a: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기반 재관측 영역 생성</a:t>
            </a:r>
          </a:p>
        </p:txBody>
      </p:sp>
      <p:sp>
        <p:nvSpPr>
          <p:cNvPr id="5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3052D70B-DC92-1FE9-2D16-1C45463B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02 · MODULE 04 · VIEW PLANNER</a:t>
            </a:r>
          </a:p>
        </p:txBody>
      </p:sp>
      <p:sp>
        <p:nvSpPr>
          <p:cNvPr id="6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53CB274E-F9CC-FC5C-30C9-8EF42F42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E2C44B52-1016-DC67-5104-3CC8D4C3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8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AE024A7-6563-DA15-645C-E3AB805B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09</a:t>
            </a:r>
          </a:p>
        </p:txBody>
      </p:sp>
      <p:sp>
        <p:nvSpPr>
          <p:cNvPr id="9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7114BA7D-ABE9-2735-EA8F-503D5000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3F96D4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50D45FAF-B49A-8AD1-6E70-9E7589A4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3F96D4"/>
                </a:solidFill>
              </a:defRPr>
            </a:pPr>
            <a:r>
              <a:rPr sz="82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04 · </a:t>
            </a:r>
            <a:r>
              <a:rPr sz="82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재관측 계획 </a:t>
            </a:r>
            <a:r>
              <a:rPr sz="82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825" b="1" i="0" u="none" cap="none">
                <a:solidFill>
                  <a:srgbClr val="3F96D4"/>
                </a:solidFill>
                <a:latin typeface="Calibri"/>
                <a:ea typeface="Calibri"/>
                <a:cs typeface="Calibri"/>
              </a:rPr>
              <a:t>CONNECTED TOP-K</a:t>
            </a:r>
          </a:p>
        </p:txBody>
      </p:sp>
      <p:sp>
        <p:nvSpPr>
          <p:cNvPr id="11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FA69B037-608B-FB2E-E1A0-206C0EC6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3"/>
            <a:ext cx="5143499" cy="1066803"/>
          </a:xfrm>
          <a:custGeom xmlns:a="http://schemas.openxmlformats.org/drawingml/2006/main">
            <a:avLst>
              <a:gd name="f0" fmla="val 38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44450A53-B582-2B36-C2F3-F314DB9E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33" y="2091854"/>
            <a:ext cx="4843832" cy="494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S₀ = { argmax_t a_t }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Sₘ₊₁ = Sₘ ∪ { argmax_{j ∈ N(Sₘ) \ Sₘ} a_j }</a:t>
            </a:r>
          </a:p>
        </p:txBody>
      </p:sp>
      <p:sp>
        <p:nvSpPr>
          <p:cNvPr id="13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9F71653A-CA3F-6BC7-6FB9-6187397D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7903"/>
            <a:ext cx="5143499" cy="44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a_t는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타일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t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의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attention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점수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Sₘ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m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단계까지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선택된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타일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집합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N(Sₘ)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Sₘ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에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인접한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타일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집합을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뜻한다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인접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후보가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없으면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남은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타일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중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a_t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가장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높은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위치를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선택한다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  <a:endParaRPr sz="900" b="0" i="0" u="none" kern="1200" cap="none" spc="0" baseline="0">
              <a:solidFill>
                <a:srgbClr val="5D667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C13F8D94-6EE6-B7E6-1501-FF5D3052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996" y="1809753"/>
            <a:ext cx="4810128" cy="742950"/>
          </a:xfrm>
          <a:custGeom xmlns:a="http://schemas.openxmlformats.org/drawingml/2006/main">
            <a:avLst>
              <a:gd name="f0" fmla="val 5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6337A978-C9EA-4B27-4D5F-EB2D466D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46" y="2054025"/>
            <a:ext cx="4478036" cy="252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bbox(S, e) = clip(envelope(S) ± e / 4)</a:t>
            </a:r>
          </a:p>
        </p:txBody>
      </p:sp>
      <p:sp>
        <p:nvSpPr>
          <p:cNvPr id="16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585C5690-5EC0-20B7-4274-1086E602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996" y="2612687"/>
            <a:ext cx="4810128" cy="474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e는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문맥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확장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비율이다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선택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타일의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최소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사각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영역을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확장한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이미지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경계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안의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crop 좌표로 변환한다.</a:t>
            </a:r>
          </a:p>
        </p:txBody>
      </p:sp>
      <p:sp>
        <p:nvSpPr>
          <p:cNvPr id="17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895C8A40-43EC-07EB-B308-47B28254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47649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1" i="0" u="none" cap="none">
                <a:solidFill>
                  <a:srgbClr val="101827"/>
                </a:solidFill>
              </a:defRPr>
            </a:pPr>
            <a:r>
              <a:rPr sz="157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확장 관측 정책</a:t>
            </a:r>
          </a:p>
        </p:txBody>
      </p:sp>
      <p:sp>
        <p:nvSpPr>
          <p:cNvPr id="18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4B13F393-D7F7-1D80-CD27-E1F53367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3" y="4067379"/>
            <a:ext cx="466725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01 Parent tight: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 </a:t>
            </a:r>
            <a:r>
              <a:rPr sz="11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k=3, ε=0.10</a:t>
            </a:r>
            <a:endParaRPr sz="1100" b="0" i="0" u="none" kern="1200" cap="none" spc="0" baseline="0">
              <a:solidFill>
                <a:srgbClr val="5D667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05EE4ABD-F7CC-A412-C0F8-E439E176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808" y="4072783"/>
            <a:ext cx="466725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05 Joint evidence</a:t>
            </a:r>
            <a:endParaRPr sz="1100" b="0" i="0" u="none" kern="1200" cap="none" spc="0" baseline="0">
              <a:solidFill>
                <a:srgbClr val="5D667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28D840F3-D6EE-E67F-A9E2-BEDE484D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3" y="4524579"/>
            <a:ext cx="466725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02 Parent context : k=6, ε=0.50</a:t>
            </a:r>
            <a:endParaRPr sz="1100" b="0" i="0" u="none" kern="1200" cap="none" spc="0" baseline="0">
              <a:solidFill>
                <a:srgbClr val="5D667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DBF36390-5BA4-8504-FE53-609AFD88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808" y="4529983"/>
            <a:ext cx="466725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06 Parent/Fine disagreement</a:t>
            </a:r>
            <a:endParaRPr sz="1100" b="0" i="0" u="none" kern="1200" cap="none" spc="0" baseline="0">
              <a:solidFill>
                <a:srgbClr val="5D667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F79DB0DF-9006-CFD8-5AD1-3444325A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3" y="4981779"/>
            <a:ext cx="466725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03 Fine tight : k=3, ε=0.10</a:t>
            </a:r>
            <a:endParaRPr sz="1100" b="0" i="0" u="none" kern="1200" cap="none" spc="0" baseline="0">
              <a:solidFill>
                <a:srgbClr val="5D667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DDE7B457-4F98-F87A-230C-5F5C4C9E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808" y="4987183"/>
            <a:ext cx="466725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07 Secondary joint</a:t>
            </a:r>
            <a:endParaRPr sz="1100" b="0" i="0" u="none" kern="1200" cap="none" spc="0" baseline="0">
              <a:solidFill>
                <a:srgbClr val="5D667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802A12C7-F8DC-D108-A5AB-F9DF9B53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3" y="5438979"/>
            <a:ext cx="466725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04 Fine context : k=6, ε=0.50</a:t>
            </a:r>
            <a:endParaRPr sz="1100" b="0" i="0" u="none" kern="1200" cap="none" spc="0" baseline="0">
              <a:solidFill>
                <a:srgbClr val="5D667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0247A7B4-1369-0CA2-4FE8-F8BDFDA2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808" y="5444383"/>
            <a:ext cx="466725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onsolas"/>
                <a:ea typeface="Consolas"/>
                <a:cs typeface="Consolas"/>
              </a:rPr>
              <a:t>08 Wide context</a:t>
            </a:r>
          </a:p>
        </p:txBody>
      </p:sp>
      <p:sp>
        <p:nvSpPr>
          <p:cNvPr id="26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97FAA56B-129E-4A22-CD56-F93AE6D2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001250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8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개 관측 정책을 생성한 뒤 중복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bbox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를 제거하고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Backbone inference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를 수행한다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  <a:endParaRPr sz="900" b="0" i="0" u="none" kern="1200" cap="none" spc="0" baseline="0">
              <a:solidFill>
                <a:srgbClr val="5D667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사각형: 둥근 모서리 27">
            <a:extLst xmlns:a="http://schemas.openxmlformats.org/drawingml/2006/main">
              <a:ext uri="{FF2B5EF4-FFF2-40B4-BE49-F238E27FC236}">
                <a16:creationId xmlns:a16="http://schemas.microsoft.com/office/drawing/2014/main" id="{2BDAA686-E07C-9098-324E-A4F130B7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368" y="3760332"/>
            <a:ext cx="1197617" cy="306031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기본 관측 후보</a:t>
            </a:r>
            <a:endParaRPr sz="1800" b="0" i="0" u="none" kern="1200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950B808C-CD3C-6F79-0513-46231BFD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693" y="3758485"/>
            <a:ext cx="1692024" cy="309579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관계·충돌 기반 후보</a:t>
            </a:r>
            <a:endParaRPr sz="1800" b="0" i="0" u="none" kern="1200" cap="none" spc="0" baseline="0">
              <a:solidFill>
                <a:srgbClr val="00000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9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F40DBB18-64FF-3D68-1A63-3F9C839A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289" y="1677695"/>
            <a:ext cx="1194983" cy="288118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연결 타일 선택</a:t>
            </a:r>
            <a:endParaRPr sz="1800" b="0" i="0" u="none" kern="1200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91EDF3BD-23E6-DBCE-D50F-C141B6EF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134" y="1677686"/>
            <a:ext cx="1296582" cy="288118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관측 영역 변환</a:t>
            </a:r>
            <a:endParaRPr sz="1800" b="0" i="0" u="none" kern="1200" cap="none" spc="0" baseline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61" name="직선 화살표 연결선 32"/>
          <p:cNvCxnSpPr/>
          <p:nvPr/>
        </p:nvCxnSpPr>
        <p:spPr>
          <a:xfrm xmlns:a="http://schemas.openxmlformats.org/drawingml/2006/main" flipV="1">
            <a:off x="5834941" y="2187217"/>
            <a:ext cx="643711" cy="914"/>
          </a:xfrm>
          <a:prstGeom xmlns:a="http://schemas.openxmlformats.org/drawingml/2006/main" prst="straightConnector1">
            <a:avLst/>
          </a:prstGeom>
          <a:ln xmlns:a="http://schemas.openxmlformats.org/drawingml/2006/main" w="12701">
            <a:solidFill>
              <a:srgbClr val="000000"/>
            </a:solidFill>
            <a:prstDash val="solid"/>
            <a:tailEnd type="arrow"/>
          </a:ln>
        </p:spPr>
      </p:cxnSp>
    </p:spTree>
    <p:extLst>
      <p:ext uri="{BB962C8B-B14F-4D97-AF65-F5344CB8AC3E}">
        <p14:creationId xmlns:p14="http://schemas.microsoft.com/office/powerpoint/2010/main" val="1356472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2BBB28D0-A53A-38A4-EC70-C7DAB9F2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재관측 후보의 비교 증거 구성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F3EABDCF-7FE1-A3FC-ABBD-BCCC21F7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02 · MODULE 05 · CANDIDATE EVIDENCE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3E36C122-EBE7-9A16-24E0-F620E067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30DA7477-DC9A-7B7B-7289-061ED02E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09792ABE-94EE-98F5-5D91-5BEDAAC7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10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9408D7C5-2BBB-A6ED-B457-D8B44A66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49DAEEF-EBA4-F6D6-3B5E-E94878D0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4F9D55"/>
                </a:solidFill>
              </a:defRPr>
            </a:pPr>
            <a:r>
              <a:rPr sz="82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05 · </a:t>
            </a:r>
            <a:r>
              <a:rPr sz="82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후보 증거 </a:t>
            </a:r>
            <a:r>
              <a:rPr sz="82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82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상대 비교 </a:t>
            </a:r>
            <a:r>
              <a:rPr sz="825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FEATURE</a:t>
            </a:r>
          </a:p>
        </p:txBody>
      </p:sp>
      <p:sp>
        <p:nvSpPr>
          <p:cNvPr id="9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AF5A3F3A-11DE-977C-FEAE-D12A808E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3"/>
            <a:ext cx="6191246" cy="1285875"/>
          </a:xfrm>
          <a:custGeom xmlns:a="http://schemas.openxmlformats.org/drawingml/2006/main">
            <a:avLst>
              <a:gd name="f0" fmla="val 3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7CD0CB24-347F-7753-53EF-1CBA137E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45" y="2102662"/>
            <a:ext cx="5859155" cy="69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x_candidate = [ x_conventional, z_base, z_crop, 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Δ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z,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               risk_base, risk_crop, 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Δ</a:t>
            </a: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risk,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                kNN_base, kNN_crop, group_consensus ]</a:t>
            </a:r>
          </a:p>
        </p:txBody>
      </p:sp>
      <p:sp>
        <p:nvSpPr>
          <p:cNvPr id="11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9A7E56B4-9BF1-72BB-2D8D-266BD8A9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28" y="3139400"/>
            <a:ext cx="6153418" cy="355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기존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판단과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재관측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후보를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예측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변화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학습된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증거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표현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위험도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TRAIN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이웃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지지도와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관측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간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합의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관점에서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비교해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후보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평가용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입력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벡터를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구성한다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2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8437E5F0-B922-099D-81D3-2836DDDB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46" y="1809753"/>
            <a:ext cx="3952878" cy="1285875"/>
          </a:xfrm>
          <a:custGeom xmlns:a="http://schemas.openxmlformats.org/drawingml/2006/main">
            <a:avLst>
              <a:gd name="f0" fmla="val 9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07BB12F5-206F-7B8E-B271-362289D1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3" y="1904256"/>
            <a:ext cx="3571874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관계 간 증거 집계</a:t>
            </a:r>
            <a:endParaRPr sz="1350" b="1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44429C31-E83D-EAE0-2352-6D79DC5D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3" y="2255395"/>
            <a:ext cx="3593491" cy="713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Parent/Fine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예측 일치율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후보 클래스 평균 지지도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예측 확률 엔트로피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고유 예측 비율</a:t>
            </a:r>
          </a:p>
        </p:txBody>
      </p:sp>
      <p:sp>
        <p:nvSpPr>
          <p:cNvPr id="15" name="타원 13">
            <a:extLst xmlns:a="http://schemas.openxmlformats.org/drawingml/2006/main">
              <a:ext uri="{FF2B5EF4-FFF2-40B4-BE49-F238E27FC236}">
                <a16:creationId xmlns:a16="http://schemas.microsoft.com/office/drawing/2014/main" id="{F864F209-7468-4C3F-7892-ACD1083F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3781428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4F9D55"/>
          </a:solidFill>
          <a:ln xmlns:a="http://schemas.openxmlformats.org/drawingml/2006/main" w="11430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25406968-1E1E-2319-6050-31893E09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3714749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동일한 </a:t>
            </a: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  <p:sp>
        <p:nvSpPr>
          <p:cNvPr id="17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0FC6929E-7584-B5E6-783C-4C98C517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834" y="3714749"/>
            <a:ext cx="781050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모든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crop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이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Backbone → Parent/Fine → profile → kNN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경로를 재사용</a:t>
            </a:r>
          </a:p>
        </p:txBody>
      </p:sp>
      <p:sp>
        <p:nvSpPr>
          <p:cNvPr id="18" name="타원 16">
            <a:extLst xmlns:a="http://schemas.openxmlformats.org/drawingml/2006/main">
              <a:ext uri="{FF2B5EF4-FFF2-40B4-BE49-F238E27FC236}">
                <a16:creationId xmlns:a16="http://schemas.microsoft.com/office/drawing/2014/main" id="{368590DA-0697-7CA0-F9A9-E7496F49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4352928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4F9D55"/>
          </a:solidFill>
          <a:ln xmlns:a="http://schemas.openxmlformats.org/drawingml/2006/main" w="11430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2583C590-A6C8-ED3D-C8ED-B72589D5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4286249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상대 상태</a:t>
            </a:r>
          </a:p>
        </p:txBody>
      </p:sp>
      <p:sp>
        <p:nvSpPr>
          <p:cNvPr id="20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E5EC01A4-3544-EC09-9D03-EACF6EB4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834" y="4286249"/>
            <a:ext cx="781050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Δ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feature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로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candidate evidence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를 해당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base sample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과 직접 비교</a:t>
            </a:r>
          </a:p>
        </p:txBody>
      </p:sp>
      <p:sp>
        <p:nvSpPr>
          <p:cNvPr id="21" name="타원 19">
            <a:extLst xmlns:a="http://schemas.openxmlformats.org/drawingml/2006/main">
              <a:ext uri="{FF2B5EF4-FFF2-40B4-BE49-F238E27FC236}">
                <a16:creationId xmlns:a16="http://schemas.microsoft.com/office/drawing/2014/main" id="{39A2FB2E-5840-7D2C-1332-490748F0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4924428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4F9D55"/>
          </a:solidFill>
          <a:ln xmlns:a="http://schemas.openxmlformats.org/drawingml/2006/main" w="11430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4ED0C79F-ED59-C921-6085-901FA9DD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4857749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후보 상한(Audit only)</a:t>
            </a:r>
          </a:p>
        </p:txBody>
      </p:sp>
      <p:sp>
        <p:nvSpPr>
          <p:cNvPr id="23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962C640B-3B14-BFFF-D26E-548440E8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834" y="4857749"/>
            <a:ext cx="781050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탐지된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base error 64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장 중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58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장은 정답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Parent/Fine pair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를 후보에 포함</a:t>
            </a:r>
          </a:p>
        </p:txBody>
      </p:sp>
      <p:sp>
        <p:nvSpPr>
          <p:cNvPr id="24" name="타원 22">
            <a:extLst xmlns:a="http://schemas.openxmlformats.org/drawingml/2006/main">
              <a:ext uri="{FF2B5EF4-FFF2-40B4-BE49-F238E27FC236}">
                <a16:creationId xmlns:a16="http://schemas.microsoft.com/office/drawing/2014/main" id="{11E723F8-CC17-6E36-FF48-BFD0A613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6" y="5495928"/>
            <a:ext cx="76196" cy="76196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4F9D55"/>
          </a:solidFill>
          <a:ln xmlns:a="http://schemas.openxmlformats.org/drawingml/2006/main" w="11430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C802B16E-0824-2272-4E43-BEC771A8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96" y="5429250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101827"/>
                </a:solidFill>
              </a:defRPr>
            </a:pP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Selector </a:t>
            </a:r>
            <a:r>
              <a:rPr sz="12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과제</a:t>
            </a:r>
          </a:p>
        </p:txBody>
      </p:sp>
      <p:sp>
        <p:nvSpPr>
          <p:cNvPr id="26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C0678213-ED74-7A5D-FD61-D44DF577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834" y="5369804"/>
            <a:ext cx="781050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base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정답을 깨뜨리지 않으면서 유효한 증거를 순위화해야 함</a:t>
            </a:r>
          </a:p>
        </p:txBody>
      </p:sp>
      <p:sp>
        <p:nvSpPr>
          <p:cNvPr id="27" name="사각형: 둥근 모서리 27">
            <a:extLst xmlns:a="http://schemas.openxmlformats.org/drawingml/2006/main">
              <a:ext uri="{FF2B5EF4-FFF2-40B4-BE49-F238E27FC236}">
                <a16:creationId xmlns:a16="http://schemas.microsoft.com/office/drawing/2014/main" id="{64D558C7-9944-3B15-DD51-0CABB3C8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509" y="1699302"/>
            <a:ext cx="2222723" cy="217864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Base–Candidate </a:t>
            </a: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상대 증거 벡터 구성</a:t>
            </a:r>
            <a:endParaRPr sz="1800" b="0" i="0" u="none" kern="1200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46A4B753-7BAF-8640-6E3B-8B73C3F4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043" y="3764237"/>
            <a:ext cx="3949503" cy="2580839"/>
          </a:xfrm>
          <a:custGeom xmlns:a="http://schemas.openxmlformats.org/drawingml/2006/main">
            <a:avLst>
              <a:gd name="f0" fmla="val 4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28D6C9BB-687D-BCCA-D547-37034E7B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013" y="3898571"/>
            <a:ext cx="3516590" cy="2323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z_base,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z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_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crop, Δz</a:t>
            </a:r>
            <a:endParaRPr sz="1250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기존 관측과 재관측에서 추출한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증거 상태 및 두 상태의 변화량</a:t>
            </a:r>
            <a:endParaRPr sz="1250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endParaRPr sz="1275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risk_base, risk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_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crop, Δrisk</a:t>
            </a:r>
            <a:endParaRPr sz="1275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기존 관측과 재관측의 정상성 이탈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위험도 및 변화량</a:t>
            </a:r>
            <a:endParaRPr sz="1275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endParaRPr sz="1275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kNN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_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base, kNN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_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crop</a:t>
            </a:r>
            <a:endParaRPr sz="1275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TRAIN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의 유사한 증거 상태가 현재 예측을 얼마나 지지하는지 나타내는 값</a:t>
            </a:r>
            <a:endParaRPr sz="1275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endParaRPr sz="1275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group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_</a:t>
            </a: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consensus</a:t>
            </a:r>
            <a:endParaRPr sz="1275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여러 재관측 결과의 예측 일치도와 분산을 요약한 값</a:t>
            </a:r>
            <a:endParaRPr sz="1275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95662F96-CC22-E503-0146-C1F9733C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526" y="3644834"/>
            <a:ext cx="1320210" cy="239481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기호 및 변수 정의</a:t>
            </a:r>
            <a:endParaRPr sz="1800" b="0" i="0" u="none" kern="1200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81452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F397A3CC-CCFD-A568-A088-593A9F9D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1107"/>
            <a:ext cx="6191246" cy="853601"/>
          </a:xfrm>
          <a:custGeom xmlns:a="http://schemas.openxmlformats.org/drawingml/2006/main">
            <a:avLst>
              <a:gd name="f0" fmla="val 56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78DCBEB0-7859-1335-FD29-231E6889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다중 전문가 보정 및 전환 승인</a:t>
            </a:r>
          </a:p>
        </p:txBody>
      </p:sp>
      <p:sp>
        <p:nvSpPr>
          <p:cNvPr id="4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15D1149A-2C7D-8774-EE76-3DBDC1D6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02 · MODULE 06 · JOINT CORRECTION</a:t>
            </a:r>
          </a:p>
        </p:txBody>
      </p:sp>
      <p:sp>
        <p:nvSpPr>
          <p:cNvPr id="5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4F9927D2-F027-FDF8-AC4E-34E154D4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A6C5269E-05FD-80B7-03B3-8D6F0402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7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36109DB0-E9C3-23E1-222B-7DEC7ABC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11</a:t>
            </a:r>
          </a:p>
        </p:txBody>
      </p:sp>
      <p:sp>
        <p:nvSpPr>
          <p:cNvPr id="8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4B86ABDC-04D5-2A74-93F5-972D7951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9256B2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8341540C-5C1D-9CF8-4187-8120CE4F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9256B2"/>
                </a:solidFill>
              </a:defRPr>
            </a:pP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06 ·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전환 승인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CALIBRATED MULTI-EXPERT</a:t>
            </a:r>
          </a:p>
        </p:txBody>
      </p:sp>
      <p:sp>
        <p:nvSpPr>
          <p:cNvPr id="10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03EBA4CE-FE9F-9D49-1224-469B16C4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3"/>
            <a:ext cx="6191246" cy="853601"/>
          </a:xfrm>
          <a:custGeom xmlns:a="http://schemas.openxmlformats.org/drawingml/2006/main">
            <a:avLst>
              <a:gd name="f0" fmla="val 56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868C38D9-27B5-7818-0760-95C412AF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3471"/>
            <a:ext cx="5848346" cy="324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5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S_v = λ · p_joint(v) + (1 - λ) · </a:t>
            </a:r>
            <a:r>
              <a:rPr sz="1250" b="0" i="0" u="none" cap="none">
                <a:solidFill>
                  <a:srgbClr val="101827"/>
                </a:solidFill>
                <a:latin typeface="Aptos"/>
                <a:ea typeface="Aptos"/>
                <a:cs typeface="Aptos"/>
              </a:rPr>
              <a:t>√</a:t>
            </a:r>
            <a:r>
              <a:rPr sz="125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(p_parent(v) </a:t>
            </a:r>
            <a:r>
              <a:rPr sz="13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· </a:t>
            </a:r>
            <a:r>
              <a:rPr sz="125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p_fine(v))</a:t>
            </a:r>
          </a:p>
        </p:txBody>
      </p:sp>
      <p:sp>
        <p:nvSpPr>
          <p:cNvPr id="12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1BA2C39A-0D37-CDE7-4BFE-BBA79E29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6318"/>
            <a:ext cx="6191246" cy="290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Parent, Fine, Joint correctness head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의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OOF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출력으로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각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view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의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증거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점수를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계산한다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3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E44B0F2E-6415-00AC-7630-9EB6F777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4506"/>
            <a:ext cx="5848346" cy="358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5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A(p) = η · max_{v∈V_p} S_v + (1 − η) · mean_{v∈V_p} S_v + β · |V_p| / |V|</a:t>
            </a:r>
            <a:endParaRPr sz="1275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B6171426-D65E-19AC-DC20-D2E5E230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556"/>
            <a:ext cx="6191246" cy="290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동일한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Parent/Fine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쌍을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지지하는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view를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그룹화한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최고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점수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평균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점수와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전체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view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대비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지지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비율을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집계한다.</a:t>
            </a:r>
          </a:p>
        </p:txBody>
      </p:sp>
      <p:sp>
        <p:nvSpPr>
          <p:cNvPr id="15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19896668-5510-8B10-9CE3-512142B5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9088"/>
            <a:ext cx="6191246" cy="829689"/>
          </a:xfrm>
          <a:custGeom xmlns:a="http://schemas.openxmlformats.org/drawingml/2006/main">
            <a:avLst>
              <a:gd name="f0" fmla="val 527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26EE5C6D-DE60-CB06-A5D7-F25C3003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54" y="4392036"/>
            <a:ext cx="5848346" cy="646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5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p* = argmax_p A(p)</a:t>
            </a:r>
            <a:endParaRPr sz="1250" b="0" i="0" u="none" kern="1200" cap="none" spc="0" baseline="0">
              <a:solidFill>
                <a:srgbClr val="101827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5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ΔU = A(p*) − S_base</a:t>
            </a:r>
            <a:endParaRPr sz="1275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5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SWITCH ⇔ p* ≠ p_base ∧ ΔU ≥ τ</a:t>
            </a:r>
            <a:endParaRPr sz="1275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25E7B4EF-7F4D-3385-87C9-9FA91BC6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6338"/>
            <a:ext cx="61912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5D6675"/>
                </a:solidFill>
              </a:defRPr>
            </a:pP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최적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후보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쌍이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기존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예측과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다르고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효용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증가가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임계값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이상일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때만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전환한다</a:t>
            </a:r>
            <a:r>
              <a:rPr sz="9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8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7B80E93C-7B52-5F4E-BA0C-F1F10C1E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20561"/>
            <a:ext cx="3868433" cy="2697534"/>
          </a:xfrm>
          <a:custGeom xmlns:a="http://schemas.openxmlformats.org/drawingml/2006/main">
            <a:avLst>
              <a:gd name="f0" fmla="val 39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898137A7-7A86-1EC9-9B7A-07AB3F70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96" y="1990721"/>
            <a:ext cx="3476621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선택된 </a:t>
            </a: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ResNet18 </a:t>
            </a: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정책</a:t>
            </a:r>
          </a:p>
        </p:txBody>
      </p:sp>
      <p:sp>
        <p:nvSpPr>
          <p:cNvPr id="20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A56AF135-9D72-A513-6B02-CC3E264A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188" y="2314849"/>
            <a:ext cx="3460409" cy="2076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λ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Joint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점수 반영 비율     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1.00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η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최고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view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점수 반영 비율 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0.50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β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반복 지지 보너스         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0.00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τ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SWITCH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승인 임계값        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0.05747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endParaRPr sz="1050" b="0" i="0" u="none" kern="1200" cap="none" spc="0" baseline="0">
              <a:solidFill>
                <a:srgbClr val="5D6675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TRAIN-OOF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정책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45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switches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34 fixed / 2 broken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endParaRPr sz="1050" b="0" i="0" u="none" kern="1200" cap="none" spc="0" baseline="0">
              <a:solidFill>
                <a:srgbClr val="5D6675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TEST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50 switches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40 fixed / 2 broken</a:t>
            </a:r>
          </a:p>
        </p:txBody>
      </p:sp>
      <p:sp>
        <p:nvSpPr>
          <p:cNvPr id="21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5C893AC9-C19A-BA13-976D-82B3E431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7239003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 u="none" cap="none">
                <a:solidFill>
                  <a:srgbClr val="9256B2"/>
                </a:solidFill>
              </a:defRPr>
            </a:pPr>
            <a:r>
              <a:rPr sz="1200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후보 생성과 전환 승인을 서로 다른 모듈로 분리했다</a:t>
            </a:r>
            <a:r>
              <a:rPr sz="1200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2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B7CB92A9-3CA4-54BC-AB65-086C2269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396" y="1668423"/>
            <a:ext cx="1336423" cy="281168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관측별 증거 결합</a:t>
            </a:r>
            <a:endParaRPr sz="1800" b="0" i="0" u="none" kern="1200" cap="none" spc="0" baseline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48E266F7-A273-C97D-19B8-FA4A7B66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396" y="2879134"/>
            <a:ext cx="1336423" cy="299392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후보 쌍 합의 집계</a:t>
            </a:r>
            <a:endParaRPr sz="1800" b="0" i="0" u="none" kern="1200" cap="none" spc="0" baseline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D954C1ED-AA1B-19CA-FA54-3D2F8518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876" y="4143576"/>
            <a:ext cx="1826203" cy="312057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전환 효용</a:t>
            </a:r>
            <a:r>
              <a:rPr sz="10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평가 및 승인</a:t>
            </a:r>
            <a:endParaRPr sz="1800" b="0" i="0" u="none" kern="1200" cap="none" spc="0" baseline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사각형: 둥근 모서리 34">
            <a:extLst xmlns:a="http://schemas.openxmlformats.org/drawingml/2006/main">
              <a:ext uri="{FF2B5EF4-FFF2-40B4-BE49-F238E27FC236}">
                <a16:creationId xmlns:a16="http://schemas.microsoft.com/office/drawing/2014/main" id="{18242060-2C72-5A21-E0A9-A693081A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874" y="4798304"/>
            <a:ext cx="3866741" cy="1579662"/>
          </a:xfrm>
          <a:custGeom xmlns:a="http://schemas.openxmlformats.org/drawingml/2006/main">
            <a:avLst>
              <a:gd name="f0" fmla="val 4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11430">
            <a:solidFill>
              <a:srgbClr val="E8E8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06991C5B-E229-488D-551A-109F2B9A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36" y="4966920"/>
            <a:ext cx="3431971" cy="1240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p        Parent/Fine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후보 쌍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p*      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합의 점수가 가장 높은 후보 쌍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p_base  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기존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Parent/Fine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예측 쌍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Vₚ      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후보 쌍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p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를 지지한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view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집합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V       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전체 재관측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view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집합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S_base  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기존 관측의 증거 점수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ΔU       </a:t>
            </a:r>
            <a:r>
              <a:rPr sz="1100" b="0" i="0" u="none" cap="none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후보로 전환했을 때의 효용 증가</a:t>
            </a:r>
          </a:p>
        </p:txBody>
      </p:sp>
      <p:sp>
        <p:nvSpPr>
          <p:cNvPr id="27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E796C6A6-D371-9158-CEF6-3E2C1DD2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3376" y="4650025"/>
            <a:ext cx="1320210" cy="288118"/>
          </a:xfrm>
          <a:custGeom xmlns:a="http://schemas.openxmlformats.org/drawingml/2006/main"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19046">
            <a:solidFill>
              <a:srgbClr val="D8DEE8"/>
            </a:solidFill>
            <a:prstDash val="solid"/>
          </a:ln>
        </p:spPr>
        <p:txBody>
          <a:bodyPr xmlns:a="http://schemas.openxmlformats.org/drawingml/2006/main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</a:defRPr>
            </a:pPr>
            <a:r>
              <a:rPr sz="1000" b="0" i="0" u="non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기호 및 변수 정의</a:t>
            </a:r>
            <a:endParaRPr sz="1800" b="0" i="0" u="none" kern="1200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96849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EFE97B2C-1802-3CC5-B27F-EB53123C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단일 이미지 추론 결과 및 판단 전환 기록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8D7745E4-84E7-C9EA-D897-F9B49C92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03 · LABEL-FREE RUNTIME · tiger_10406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82C59C46-9D26-C495-E1C6-8DF34189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392EA90E-4219-0B87-83F2-8E36272B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0AD411F-903C-84FA-6EDA-87173A5C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12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2402E3A3-1595-55CF-3E6C-E5BB2C79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9256B2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7FAB6397-4387-BE8C-FD00-C952CCC7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9256B2"/>
                </a:solidFill>
              </a:defRPr>
            </a:pP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06 ·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전환 승인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실제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LABEL-FREE TRACE</a:t>
            </a:r>
          </a:p>
        </p:txBody>
      </p:sp>
      <p:pic>
        <p:nvPicPr>
          <p:cNvPr id="17" name="그림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72d1bd9c047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30" y="1711985"/>
            <a:ext cx="10813145" cy="43774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550178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1CF8BD6F-187E-3E14-563E-8A503832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재관측 후보와 전환 근거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927DDE26-F066-7B27-880B-3EC5B52C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03 · DECISION EVIDENCE · tiger_10406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DC545CB6-9FEB-3E6C-CA1D-1351BC95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678098A8-88B6-B8F2-A13D-04AA367D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B6D167B1-920A-62DF-C7F4-48D08D4E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13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43205C0A-97EE-EAEC-21AF-47432B0E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9256B2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01B87EC1-036E-5F3B-8839-46E47548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9256B2"/>
                </a:solidFill>
              </a:defRPr>
            </a:pP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06 ·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전환 승인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후보 비교와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UTILITY</a:t>
            </a:r>
          </a:p>
        </p:txBody>
      </p:sp>
      <p:sp>
        <p:nvSpPr>
          <p:cNvPr id="9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4A0B9BC5-0846-C8A4-5EE0-AA86376C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7635"/>
            <a:ext cx="2000250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i="0" u="none" cap="none">
                <a:solidFill>
                  <a:srgbClr val="101827"/>
                </a:solidFill>
              </a:defRPr>
            </a:pPr>
            <a:r>
              <a:rPr sz="15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Gate </a:t>
            </a:r>
            <a:r>
              <a:rPr sz="15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상태</a:t>
            </a:r>
          </a:p>
        </p:txBody>
      </p:sp>
      <p:pic>
        <p:nvPicPr>
          <p:cNvPr id="19" name="그림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7c5b860234a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30" y="2590815"/>
            <a:ext cx="10370457" cy="280848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0067146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C26DA87C-C153-1161-A977-B7935861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재관측 후보와 전환 근거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BA93E90-ABBF-C422-292A-7F33245D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03 · DECISION EVIDENCE · tiger_10406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D71B95FF-F069-3390-2F7E-77B7EC90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E70B7531-19E8-1ECC-BAFC-29091F77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4B5D15B5-1808-8406-3554-3791E9C6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14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C7C07372-16AA-1030-D768-E51E5F99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9256B2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513B67EE-6876-81A9-3142-6E7BD964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9256B2"/>
                </a:solidFill>
              </a:defRPr>
            </a:pP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06 ·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전환 승인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후보 비교와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UTILITY</a:t>
            </a:r>
          </a:p>
        </p:txBody>
      </p:sp>
      <p:sp>
        <p:nvSpPr>
          <p:cNvPr id="9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59042A04-9B37-E43E-8883-85D6E081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7052"/>
            <a:ext cx="2000250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i="0" u="none" cap="none">
                <a:solidFill>
                  <a:srgbClr val="101827"/>
                </a:solidFill>
              </a:defRPr>
            </a:pPr>
            <a:r>
              <a:rPr sz="15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후보별 비교</a:t>
            </a:r>
          </a:p>
        </p:txBody>
      </p:sp>
      <p:sp>
        <p:nvSpPr>
          <p:cNvPr id="10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FCF03D65-ABB9-3483-7B9F-194D09E9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396" cy="796469"/>
          </a:xfrm>
          <a:custGeom xmlns:a="http://schemas.openxmlformats.org/drawingml/2006/main">
            <a:avLst>
              <a:gd name="f0" fmla="val 7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62FBD2B5-5648-9465-48EC-C741C38E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3" y="5646959"/>
            <a:ext cx="10401300" cy="481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Fine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은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tiger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를 유지했지만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Parent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는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dog_like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에 끌렸다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. fine_context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재관측에서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candidate validity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가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0.8396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으로 상승해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Parent 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전환이 승인되었다</a:t>
            </a:r>
            <a:r>
              <a:rPr sz="1100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.</a:t>
            </a:r>
            <a:endParaRPr sz="1100" b="0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101827"/>
                </a:solidFill>
              </a:defRPr>
            </a:pP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Local interactive demo · 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실행 방법 및 필요 아티팩트는  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GitHub 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저장소의  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README</a:t>
            </a:r>
            <a:r>
              <a:rPr sz="110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 참조</a:t>
            </a:r>
          </a:p>
        </p:txBody>
      </p:sp>
      <p:pic>
        <p:nvPicPr>
          <p:cNvPr id="27" name="그림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5b16fb99848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0684" y="1799932"/>
            <a:ext cx="7750628" cy="17631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8" name="그림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30d55a8be4401"/>
          <a:srcRect xmlns:a="http://schemas.openxmlformats.org/drawingml/2006/main" l="0" t="0" r="16564" b="6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0684" y="3692082"/>
            <a:ext cx="7750628" cy="17598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DD3EBA64-F4EA-58E2-8BF6-17F9D648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060" y="3691158"/>
            <a:ext cx="1528538" cy="26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i="0" u="none" cap="none">
                <a:solidFill>
                  <a:srgbClr val="101827"/>
                </a:solidFill>
              </a:defRPr>
            </a:pPr>
            <a:r>
              <a:rPr sz="15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Top-3 </a:t>
            </a:r>
            <a:r>
              <a:rPr sz="15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예측</a:t>
            </a:r>
            <a:endParaRPr sz="1500" b="1" i="0" u="none" kern="1200" cap="none" spc="0" baseline="0">
              <a:solidFill>
                <a:srgbClr val="101827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746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2499839D-11A2-0E1E-02A5-EFDE0A6F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10-Class </a:t>
            </a: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평가 결과 및 전환 감사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52A3055C-6202-F216-EB31-89C3F60B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03 · RESNET18 · 10-CLASS TEST · N=1,000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3962B532-D7AD-85FC-58CD-EE44D59F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C9C6ABAE-6A30-1F5E-967D-FCBB7F48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ED0F7C59-3ACA-AB54-EF79-157157A3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15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DBD8C800-4FDA-D605-1CB7-B673F417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9256B2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E4B94F73-00F8-ABB5-A9E4-290FFA1D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9256B2"/>
                </a:solidFill>
              </a:defRPr>
            </a:pP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06 ·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전환 결과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· </a:t>
            </a:r>
            <a:r>
              <a:rPr sz="825" b="1" i="0" u="none" cap="none">
                <a:solidFill>
                  <a:srgbClr val="9256B2"/>
                </a:solidFill>
                <a:latin typeface="Calibri"/>
                <a:ea typeface="Calibri"/>
                <a:cs typeface="Calibri"/>
              </a:rPr>
              <a:t>FIXED / BROKEN AUDIT</a:t>
            </a:r>
          </a:p>
        </p:txBody>
      </p:sp>
      <p:sp>
        <p:nvSpPr>
          <p:cNvPr id="9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4CF1BEB7-1671-28E0-D2A6-24C49310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3"/>
            <a:ext cx="1619246" cy="1123953"/>
          </a:xfrm>
          <a:custGeom xmlns:a="http://schemas.openxmlformats.org/drawingml/2006/main">
            <a:avLst>
              <a:gd name="f0" fmla="val 146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EA717D27-EFD8-361D-ED53-6CB8E694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296"/>
            <a:ext cx="1276346" cy="381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1" i="0" u="none" cap="none">
                <a:solidFill>
                  <a:srgbClr val="101827"/>
                </a:solidFill>
              </a:defRPr>
            </a:pPr>
            <a:r>
              <a:rPr sz="22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1,000</a:t>
            </a:r>
          </a:p>
        </p:txBody>
      </p:sp>
      <p:sp>
        <p:nvSpPr>
          <p:cNvPr id="11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EFE490B1-12D9-BBBF-0A3B-6317BD31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3"/>
            <a:ext cx="12763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입력</a:t>
            </a:r>
          </a:p>
        </p:txBody>
      </p:sp>
      <p:sp>
        <p:nvSpPr>
          <p:cNvPr id="12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F2F905E5-9669-FEA8-51EC-E1D10485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809753"/>
            <a:ext cx="1619246" cy="1123953"/>
          </a:xfrm>
          <a:custGeom xmlns:a="http://schemas.openxmlformats.org/drawingml/2006/main">
            <a:avLst>
              <a:gd name="f0" fmla="val 146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BEB63A69-B50F-6F9C-36A7-8D2A7FC0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19296"/>
            <a:ext cx="1276346" cy="381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1" i="0" u="none" cap="none">
                <a:solidFill>
                  <a:srgbClr val="101827"/>
                </a:solidFill>
              </a:defRPr>
            </a:pPr>
            <a:r>
              <a:rPr sz="22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103</a:t>
            </a:r>
          </a:p>
        </p:txBody>
      </p:sp>
      <p:sp>
        <p:nvSpPr>
          <p:cNvPr id="14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E6A72D5B-BCF3-FBCE-7518-D0B0745E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95553"/>
            <a:ext cx="12763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cxnSp>
        <p:nvCxnSpPr>
          <p:cNvPr id="60" name="직선 화살표 연결선 58"/>
          <p:cNvCxnSpPr>
            <a:stCxn xmlns:a="http://schemas.openxmlformats.org/drawingml/2006/main" id="9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>
            <a:off x="2305046" y="2371730"/>
            <a:ext cx="523879" cy="0"/>
          </a:xfrm>
          <a:prstGeom xmlns:a="http://schemas.openxmlformats.org/drawingml/2006/main" prst="straightConnector1">
            <a:avLst/>
          </a:prstGeom>
          <a:ln xmlns:a="http://schemas.openxmlformats.org/drawingml/2006/main" w="15243">
            <a:solidFill>
              <a:srgbClr val="101827"/>
            </a:solidFill>
            <a:prstDash val="solid"/>
            <a:tailEnd type="arrow"/>
          </a:ln>
        </p:spPr>
      </p:cxnSp>
      <p:sp>
        <p:nvSpPr>
          <p:cNvPr id="16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18BAB9C3-C44A-B946-873F-BDC70F5D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3"/>
            <a:ext cx="1619246" cy="1123953"/>
          </a:xfrm>
          <a:custGeom xmlns:a="http://schemas.openxmlformats.org/drawingml/2006/main">
            <a:avLst>
              <a:gd name="f0" fmla="val 146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2150084D-C19B-B999-6433-5EE8114F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499" y="2019296"/>
            <a:ext cx="1276346" cy="381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1" i="0" u="none" cap="none">
                <a:solidFill>
                  <a:srgbClr val="101827"/>
                </a:solidFill>
              </a:defRPr>
            </a:pPr>
            <a:r>
              <a:rPr sz="22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  <p:sp>
        <p:nvSpPr>
          <p:cNvPr id="18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5E6F3BD0-36E0-6F52-13D3-66FEFDE2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499" y="2495553"/>
            <a:ext cx="12763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탐지한 오답</a:t>
            </a:r>
          </a:p>
        </p:txBody>
      </p:sp>
      <p:cxnSp>
        <p:nvCxnSpPr>
          <p:cNvPr id="64" name="직선 화살표 연결선 62"/>
          <p:cNvCxnSpPr>
            <a:stCxn xmlns:a="http://schemas.openxmlformats.org/drawingml/2006/main" id="12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>
            <a:off x="4448171" y="2371730"/>
            <a:ext cx="523879" cy="0"/>
          </a:xfrm>
          <a:prstGeom xmlns:a="http://schemas.openxmlformats.org/drawingml/2006/main" prst="straightConnector1">
            <a:avLst/>
          </a:prstGeom>
          <a:ln xmlns:a="http://schemas.openxmlformats.org/drawingml/2006/main" w="15243">
            <a:solidFill>
              <a:srgbClr val="101827"/>
            </a:solidFill>
            <a:prstDash val="solid"/>
            <a:tailEnd type="arrow"/>
          </a:ln>
        </p:spPr>
      </p:cxnSp>
      <p:sp>
        <p:nvSpPr>
          <p:cNvPr id="20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552BF0F8-27EB-0158-3AA7-1743EAEB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09753"/>
            <a:ext cx="1619246" cy="1123953"/>
          </a:xfrm>
          <a:custGeom xmlns:a="http://schemas.openxmlformats.org/drawingml/2006/main">
            <a:avLst>
              <a:gd name="f0" fmla="val 146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C4568EFF-53DD-6B30-8273-03BC3121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19296"/>
            <a:ext cx="1276346" cy="381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1" i="0" u="none" cap="none">
                <a:solidFill>
                  <a:srgbClr val="101827"/>
                </a:solidFill>
              </a:defRPr>
            </a:pPr>
            <a:r>
              <a:rPr sz="22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58</a:t>
            </a:r>
          </a:p>
        </p:txBody>
      </p:sp>
      <p:sp>
        <p:nvSpPr>
          <p:cNvPr id="22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B8846C69-C949-7259-03F7-2C6FC038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95553"/>
            <a:ext cx="12763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정답 후보 존재</a:t>
            </a:r>
          </a:p>
        </p:txBody>
      </p:sp>
      <p:cxnSp>
        <p:nvCxnSpPr>
          <p:cNvPr id="68" name="직선 화살표 연결선 66"/>
          <p:cNvCxnSpPr>
            <a:stCxn xmlns:a="http://schemas.openxmlformats.org/drawingml/2006/main" id="16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>
            <a:off x="6591296" y="2371730"/>
            <a:ext cx="523879" cy="0"/>
          </a:xfrm>
          <a:prstGeom xmlns:a="http://schemas.openxmlformats.org/drawingml/2006/main" prst="straightConnector1">
            <a:avLst/>
          </a:prstGeom>
          <a:ln xmlns:a="http://schemas.openxmlformats.org/drawingml/2006/main" w="15243">
            <a:solidFill>
              <a:srgbClr val="101827"/>
            </a:solidFill>
            <a:prstDash val="solid"/>
            <a:tailEnd type="arrow"/>
          </a:ln>
        </p:spPr>
      </p:cxnSp>
      <p:sp>
        <p:nvSpPr>
          <p:cNvPr id="24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463AAFB1-E83C-DF78-CB52-FC09007B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9753"/>
            <a:ext cx="1619246" cy="1123953"/>
          </a:xfrm>
          <a:custGeom xmlns:a="http://schemas.openxmlformats.org/drawingml/2006/main">
            <a:avLst>
              <a:gd name="f0" fmla="val 146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1F8F1"/>
          </a:solidFill>
          <a:ln xmlns:a="http://schemas.openxmlformats.org/drawingml/2006/main" w="11430">
            <a:solidFill>
              <a:srgbClr val="4F9D55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4DA8EF3F-3A59-7598-93B0-450DA9B0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19296"/>
            <a:ext cx="1276346" cy="381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1" i="0" u="none" cap="none">
                <a:solidFill>
                  <a:srgbClr val="4F9D55"/>
                </a:solidFill>
              </a:defRPr>
            </a:pPr>
            <a:r>
              <a:rPr sz="2250" b="1" i="0" u="none" cap="none">
                <a:solidFill>
                  <a:srgbClr val="4F9D55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  <p:sp>
        <p:nvSpPr>
          <p:cNvPr id="26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57EB8EED-6A62-ECA1-62F0-C325C2D4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95553"/>
            <a:ext cx="12763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fixed</a:t>
            </a:r>
          </a:p>
        </p:txBody>
      </p:sp>
      <p:cxnSp>
        <p:nvCxnSpPr>
          <p:cNvPr id="72" name="직선 화살표 연결선 70"/>
          <p:cNvCxnSpPr>
            <a:stCxn xmlns:a="http://schemas.openxmlformats.org/drawingml/2006/main" id="20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>
            <a:off x="8734421" y="2371730"/>
            <a:ext cx="523879" cy="0"/>
          </a:xfrm>
          <a:prstGeom xmlns:a="http://schemas.openxmlformats.org/drawingml/2006/main" prst="straightConnector1">
            <a:avLst/>
          </a:prstGeom>
          <a:ln xmlns:a="http://schemas.openxmlformats.org/drawingml/2006/main" w="15243">
            <a:solidFill>
              <a:srgbClr val="101827"/>
            </a:solidFill>
            <a:prstDash val="solid"/>
            <a:tailEnd type="arrow"/>
          </a:ln>
        </p:spPr>
      </p:cxnSp>
      <p:sp>
        <p:nvSpPr>
          <p:cNvPr id="28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6C03D7DD-564F-DD2C-DA06-ACABAB06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8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1" i="0" u="none" cap="none">
                <a:solidFill>
                  <a:srgbClr val="101827"/>
                </a:solidFill>
              </a:defRPr>
            </a:pPr>
            <a:r>
              <a:rPr sz="16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정확도</a:t>
            </a:r>
          </a:p>
        </p:txBody>
      </p:sp>
      <p:sp>
        <p:nvSpPr>
          <p:cNvPr id="29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D503FF7B-CDD8-81C6-3F21-3F6825FD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49"/>
            <a:ext cx="2381253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u="none" cap="none">
                <a:solidFill>
                  <a:srgbClr val="101827"/>
                </a:solidFill>
              </a:defRPr>
            </a:pPr>
            <a:r>
              <a:rPr sz="10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Metric</a:t>
            </a:r>
          </a:p>
        </p:txBody>
      </p:sp>
      <p:sp>
        <p:nvSpPr>
          <p:cNvPr id="30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AB3AF8C7-05B1-EC00-C0B6-155EEA43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49" y="4171949"/>
            <a:ext cx="1238253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u="none" cap="none">
                <a:solidFill>
                  <a:srgbClr val="101827"/>
                </a:solidFill>
              </a:defRPr>
            </a:pPr>
            <a:r>
              <a:rPr sz="10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Base</a:t>
            </a:r>
          </a:p>
        </p:txBody>
      </p:sp>
      <p:sp>
        <p:nvSpPr>
          <p:cNvPr id="31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4874F8AB-CF40-AB22-404A-9345067F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71949"/>
            <a:ext cx="1238253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u="none" cap="none">
                <a:solidFill>
                  <a:srgbClr val="101827"/>
                </a:solidFill>
              </a:defRPr>
            </a:pPr>
            <a:r>
              <a:rPr sz="10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Final</a:t>
            </a:r>
          </a:p>
        </p:txBody>
      </p:sp>
      <p:sp>
        <p:nvSpPr>
          <p:cNvPr id="32" name="직선 연결선 30">
            <a:extLst xmlns:a="http://schemas.openxmlformats.org/drawingml/2006/main">
              <a:ext uri="{FF2B5EF4-FFF2-40B4-BE49-F238E27FC236}">
                <a16:creationId xmlns:a16="http://schemas.microsoft.com/office/drawing/2014/main" id="{61D042D9-F528-3214-4C39-5066D720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3"/>
            <a:ext cx="6000749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E9449970-159C-2D28-C6C1-703E1ABF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101827"/>
                </a:solidFill>
              </a:defRPr>
            </a:pPr>
            <a:r>
              <a:rPr sz="112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Parent</a:t>
            </a:r>
          </a:p>
        </p:txBody>
      </p:sp>
      <p:sp>
        <p:nvSpPr>
          <p:cNvPr id="34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8E885052-9110-25D7-5BA7-69FCC7D6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49" y="4572000"/>
            <a:ext cx="1238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95.9%</a:t>
            </a:r>
          </a:p>
        </p:txBody>
      </p:sp>
      <p:sp>
        <p:nvSpPr>
          <p:cNvPr id="35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807FEC37-0B36-4DE0-D519-6F46CC32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1238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1" i="0" u="none" cap="none">
                <a:solidFill>
                  <a:srgbClr val="101827"/>
                </a:solidFill>
              </a:defRPr>
            </a:pPr>
            <a:r>
              <a:rPr sz="11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98.0%</a:t>
            </a:r>
          </a:p>
        </p:txBody>
      </p:sp>
      <p:sp>
        <p:nvSpPr>
          <p:cNvPr id="36" name="직선 연결선 34">
            <a:extLst xmlns:a="http://schemas.openxmlformats.org/drawingml/2006/main">
              <a:ext uri="{FF2B5EF4-FFF2-40B4-BE49-F238E27FC236}">
                <a16:creationId xmlns:a16="http://schemas.microsoft.com/office/drawing/2014/main" id="{5A465942-5464-4D66-5789-D3FFAD45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3"/>
            <a:ext cx="6000749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0B4DD06C-E5CF-0AB2-BA79-6A1FFD8B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101827"/>
                </a:solidFill>
              </a:defRPr>
            </a:pPr>
            <a:r>
              <a:rPr sz="112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Fine</a:t>
            </a:r>
          </a:p>
        </p:txBody>
      </p:sp>
      <p:sp>
        <p:nvSpPr>
          <p:cNvPr id="38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9BABFDFB-531D-9103-8E24-0B93FCCA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49" y="4972050"/>
            <a:ext cx="1238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93.8%</a:t>
            </a:r>
          </a:p>
        </p:txBody>
      </p:sp>
      <p:sp>
        <p:nvSpPr>
          <p:cNvPr id="39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29A0137A-960C-CD95-715A-AABD761E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72050"/>
            <a:ext cx="1238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1" i="0" u="none" cap="none">
                <a:solidFill>
                  <a:srgbClr val="101827"/>
                </a:solidFill>
              </a:defRPr>
            </a:pPr>
            <a:r>
              <a:rPr sz="11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96.0%</a:t>
            </a:r>
          </a:p>
        </p:txBody>
      </p:sp>
      <p:sp>
        <p:nvSpPr>
          <p:cNvPr id="40" name="직선 연결선 38">
            <a:extLst xmlns:a="http://schemas.openxmlformats.org/drawingml/2006/main">
              <a:ext uri="{FF2B5EF4-FFF2-40B4-BE49-F238E27FC236}">
                <a16:creationId xmlns:a16="http://schemas.microsoft.com/office/drawing/2014/main" id="{145B019F-A14C-A7E2-7CB8-02257328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3"/>
            <a:ext cx="6000749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F301876E-14D4-99A1-90BF-5D8B3635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2381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101827"/>
                </a:solidFill>
              </a:defRPr>
            </a:pPr>
            <a:r>
              <a:rPr sz="112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Parent + Fine</a:t>
            </a:r>
          </a:p>
        </p:txBody>
      </p:sp>
      <p:sp>
        <p:nvSpPr>
          <p:cNvPr id="42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F4206D2B-FAB5-3423-EB57-39AE5715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49" y="5372100"/>
            <a:ext cx="1238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92.2%</a:t>
            </a:r>
          </a:p>
        </p:txBody>
      </p:sp>
      <p:sp>
        <p:nvSpPr>
          <p:cNvPr id="43" name="직사각형 41">
            <a:extLst xmlns:a="http://schemas.openxmlformats.org/drawingml/2006/main">
              <a:ext uri="{FF2B5EF4-FFF2-40B4-BE49-F238E27FC236}">
                <a16:creationId xmlns:a16="http://schemas.microsoft.com/office/drawing/2014/main" id="{821E674D-9B73-3682-614D-3070A345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72100"/>
            <a:ext cx="123825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1" i="0" u="none" cap="none">
                <a:solidFill>
                  <a:srgbClr val="101827"/>
                </a:solidFill>
              </a:defRPr>
            </a:pPr>
            <a:r>
              <a:rPr sz="11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96.0%</a:t>
            </a:r>
          </a:p>
        </p:txBody>
      </p:sp>
      <p:sp>
        <p:nvSpPr>
          <p:cNvPr id="44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22E4550E-4F35-3DC7-8423-6718F138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3" y="3714749"/>
            <a:ext cx="3762371" cy="1714500"/>
          </a:xfrm>
          <a:custGeom xmlns:a="http://schemas.openxmlformats.org/drawingml/2006/main">
            <a:avLst>
              <a:gd name="f0" fmla="val 7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직사각형 43">
            <a:extLst xmlns:a="http://schemas.openxmlformats.org/drawingml/2006/main">
              <a:ext uri="{FF2B5EF4-FFF2-40B4-BE49-F238E27FC236}">
                <a16:creationId xmlns:a16="http://schemas.microsoft.com/office/drawing/2014/main" id="{76C508E6-7CF8-CFC0-7288-C7652444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95728"/>
            <a:ext cx="3381378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Transition </a:t>
            </a: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감사</a:t>
            </a:r>
          </a:p>
        </p:txBody>
      </p:sp>
      <p:sp>
        <p:nvSpPr>
          <p:cNvPr id="46" name="직사각형 44">
            <a:extLst xmlns:a="http://schemas.openxmlformats.org/drawingml/2006/main">
              <a:ext uri="{FF2B5EF4-FFF2-40B4-BE49-F238E27FC236}">
                <a16:creationId xmlns:a16="http://schemas.microsoft.com/office/drawing/2014/main" id="{77CB5FEB-F829-C1B1-2AA0-4582A11E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57675"/>
            <a:ext cx="3381378" cy="1066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switch 50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fixed 40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broken 2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wrong→wrong 8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최종 정답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+38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장</a:t>
            </a:r>
          </a:p>
        </p:txBody>
      </p:sp>
    </p:spTree>
    <p:extLst>
      <p:ext uri="{BB962C8B-B14F-4D97-AF65-F5344CB8AC3E}">
        <p14:creationId xmlns:p14="http://schemas.microsoft.com/office/powerpoint/2010/main" val="1931960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31498526-FBD1-7DF9-F75F-EF5B1517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 b="1" i="0" u="none" cap="none">
                <a:solidFill>
                  <a:srgbClr val="101827"/>
                </a:solidFill>
              </a:defRPr>
            </a:pP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라벨 비의존 실행 및 </a:t>
            </a: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Backbone</a:t>
            </a:r>
            <a:r>
              <a:rPr sz="25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별 결과</a:t>
            </a:r>
          </a:p>
        </p:txBody>
      </p:sp>
      <p:sp>
        <p:nvSpPr>
          <p:cNvPr id="3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E30CFA31-CE91-1C6E-E49B-2D3E0BA6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3"/>
            <a:ext cx="236219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 u="none" cap="none">
                <a:solidFill>
                  <a:srgbClr val="5D6675"/>
                </a:solidFill>
              </a:defRPr>
            </a:pPr>
            <a:r>
              <a:rPr sz="9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03 · DEPLOYMENT CONTRACT</a:t>
            </a:r>
          </a:p>
        </p:txBody>
      </p:sp>
      <p:sp>
        <p:nvSpPr>
          <p:cNvPr id="4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C36B25CA-B22A-BA72-7028-FB06DAC3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3"/>
            <a:ext cx="10820396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8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BE410AAE-FD8A-F60B-7EC9-E60BF80C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3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Dual-Line Perception and Judgment System</a:t>
            </a:r>
          </a:p>
        </p:txBody>
      </p:sp>
      <p:sp>
        <p:nvSpPr>
          <p:cNvPr id="6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9AAC284-3E30-7D90-DD66-01C7B842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3"/>
            <a:ext cx="9334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 i="0" u="none" cap="none">
                <a:solidFill>
                  <a:srgbClr val="8A94A3"/>
                </a:solidFill>
              </a:defRPr>
            </a:pPr>
            <a:r>
              <a:rPr sz="750" b="0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PAGE 16</a:t>
            </a:r>
          </a:p>
        </p:txBody>
      </p:sp>
      <p:sp>
        <p:nvSpPr>
          <p:cNvPr id="7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6A19CCA3-1A81-6356-8E14-17F7031E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3" cy="0"/>
          </a:xfrm>
          <a:custGeom xmlns:a="http://schemas.openxmlformats.org/drawingml/2006/main"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rect l="f31" t="f31" r="f32" b="f33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3">
            <a:solidFill>
              <a:srgbClr val="8A94A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99DFDC65-6B16-00E0-639F-2D191916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1"/>
            <a:ext cx="4953003" cy="2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8A94A3"/>
                </a:solidFill>
              </a:defRPr>
            </a:pPr>
            <a:r>
              <a:rPr sz="825" b="1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물리적으로 분리된 </a:t>
            </a:r>
            <a:r>
              <a:rPr sz="825" b="1" i="0" u="none" cap="none">
                <a:solidFill>
                  <a:srgbClr val="8A94A3"/>
                </a:solidFill>
                <a:latin typeface="Calibri"/>
                <a:ea typeface="Calibri"/>
                <a:cs typeface="Calibri"/>
              </a:rPr>
              <a:t>LABEL-FREE AUDIT</a:t>
            </a:r>
          </a:p>
        </p:txBody>
      </p:sp>
      <p:sp>
        <p:nvSpPr>
          <p:cNvPr id="9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B867A88A-0AC1-E346-CA24-3CBBB16B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3"/>
            <a:ext cx="2238378" cy="1047746"/>
          </a:xfrm>
          <a:custGeom xmlns:a="http://schemas.openxmlformats.org/drawingml/2006/main">
            <a:avLst>
              <a:gd name="f0" fmla="val 117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타원 8">
            <a:extLst xmlns:a="http://schemas.openxmlformats.org/drawingml/2006/main">
              <a:ext uri="{FF2B5EF4-FFF2-40B4-BE49-F238E27FC236}">
                <a16:creationId xmlns:a16="http://schemas.microsoft.com/office/drawing/2014/main" id="{0715E63E-0CAC-1D71-B78D-55DE9C99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3"/>
            <a:ext cx="285750" cy="285750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E9EDF3"/>
          </a:solidFill>
          <a:ln xmlns:a="http://schemas.openxmlformats.org/drawingml/2006/main" w="11430">
            <a:solidFill>
              <a:srgbClr val="E9EDF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4ABB096A-5303-5E48-6644-DA87DA79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101827"/>
                </a:solidFill>
              </a:defRPr>
            </a:pPr>
            <a:r>
              <a:rPr sz="8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399E18FB-BC4F-FF90-E0AC-A455BF66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90721"/>
            <a:ext cx="1495428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3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A1E9CD06-28E1-EFE7-8DA7-1BC14D10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96" y="2352678"/>
            <a:ext cx="185737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label/truth keys: 0</a:t>
            </a:r>
          </a:p>
        </p:txBody>
      </p:sp>
      <p:sp>
        <p:nvSpPr>
          <p:cNvPr id="14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C0152A13-F37F-1681-4D63-1372C024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809753"/>
            <a:ext cx="2238378" cy="1047746"/>
          </a:xfrm>
          <a:custGeom xmlns:a="http://schemas.openxmlformats.org/drawingml/2006/main">
            <a:avLst>
              <a:gd name="f0" fmla="val 117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타원 13">
            <a:extLst xmlns:a="http://schemas.openxmlformats.org/drawingml/2006/main">
              <a:ext uri="{FF2B5EF4-FFF2-40B4-BE49-F238E27FC236}">
                <a16:creationId xmlns:a16="http://schemas.microsoft.com/office/drawing/2014/main" id="{0162E9EE-752B-AA9F-441E-7D940563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81203"/>
            <a:ext cx="285750" cy="285750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E9EDF3"/>
          </a:solidFill>
          <a:ln xmlns:a="http://schemas.openxmlformats.org/drawingml/2006/main" w="11430">
            <a:solidFill>
              <a:srgbClr val="E9EDF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73FBC7BB-CEC5-350A-2F40-0D825987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28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101827"/>
                </a:solidFill>
              </a:defRPr>
            </a:pPr>
            <a:r>
              <a:rPr sz="8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7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DF588E7C-B9A6-4355-F86E-A1D4401B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990721"/>
            <a:ext cx="1495428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Runtime</a:t>
            </a:r>
          </a:p>
        </p:txBody>
      </p:sp>
      <p:sp>
        <p:nvSpPr>
          <p:cNvPr id="18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B0965297-C570-A670-105D-C392F396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1" y="2352678"/>
            <a:ext cx="185737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REVIEW 103</a:t>
            </a:r>
          </a:p>
        </p:txBody>
      </p:sp>
      <p:sp>
        <p:nvSpPr>
          <p:cNvPr id="19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E6B3FC97-59E6-ABF5-78FE-EF2E30DB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49" y="1809753"/>
            <a:ext cx="2238378" cy="1047746"/>
          </a:xfrm>
          <a:custGeom xmlns:a="http://schemas.openxmlformats.org/drawingml/2006/main">
            <a:avLst>
              <a:gd name="f0" fmla="val 117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타원 18">
            <a:extLst xmlns:a="http://schemas.openxmlformats.org/drawingml/2006/main">
              <a:ext uri="{FF2B5EF4-FFF2-40B4-BE49-F238E27FC236}">
                <a16:creationId xmlns:a16="http://schemas.microsoft.com/office/drawing/2014/main" id="{CD6C9C56-0B28-4FC5-6B50-AF41DBD2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3"/>
            <a:ext cx="285750" cy="285750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E9EDF3"/>
          </a:solidFill>
          <a:ln xmlns:a="http://schemas.openxmlformats.org/drawingml/2006/main" w="11430">
            <a:solidFill>
              <a:srgbClr val="E9EDF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EEFB3161-3324-5C46-3484-10DEBC77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28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101827"/>
                </a:solidFill>
              </a:defRPr>
            </a:pPr>
            <a:r>
              <a:rPr sz="8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545B9640-483A-6587-4D3E-3DDDCB61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90721"/>
            <a:ext cx="1495428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Correction</a:t>
            </a:r>
          </a:p>
        </p:txBody>
      </p:sp>
      <p:sp>
        <p:nvSpPr>
          <p:cNvPr id="23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7E6E2329-186B-19D4-FDE3-CD84B4D7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46" y="2352678"/>
            <a:ext cx="185737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SWITCH 50</a:t>
            </a:r>
          </a:p>
        </p:txBody>
      </p:sp>
      <p:sp>
        <p:nvSpPr>
          <p:cNvPr id="24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EC3BA9C1-A188-7A2F-67DE-E6C497FA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09753"/>
            <a:ext cx="2238378" cy="1047746"/>
          </a:xfrm>
          <a:custGeom xmlns:a="http://schemas.openxmlformats.org/drawingml/2006/main">
            <a:avLst>
              <a:gd name="f0" fmla="val 117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rect l="f96" t="f96" r="f97" b="f98"/>
            <a:pathLst>
              <a:path w="0" h="0">
                <a:moveTo>
                  <a:pt x="0" y="0"/>
                </a:move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lnTo>
                  <a:pt x="0" y="0"/>
                </a:ln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타원 23">
            <a:extLst xmlns:a="http://schemas.openxmlformats.org/drawingml/2006/main">
              <a:ext uri="{FF2B5EF4-FFF2-40B4-BE49-F238E27FC236}">
                <a16:creationId xmlns:a16="http://schemas.microsoft.com/office/drawing/2014/main" id="{BF05334C-D6D4-818E-B10D-2D8BAF64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4" y="1981203"/>
            <a:ext cx="285750" cy="285750"/>
          </a:xfrm>
          <a:custGeom xmlns:a="http://schemas.openxmlformats.org/drawingml/2006/main"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rect l="f63" t="f64" r="f65" b="f66"/>
            <a:pathLst>
              <a:path w="0" h="0">
                <a:moveTo>
                  <a:pt x="0" y="0"/>
                </a:moveTo>
                <a:arcTo wR="0" hR="0" stAng="0" swAng="0"/>
                <a:close/>
              </a:path>
            </a:pathLst>
          </a:custGeom>
          <a:solidFill xmlns:a="http://schemas.openxmlformats.org/drawingml/2006/main">
            <a:srgbClr val="E9EDF3"/>
          </a:solidFill>
          <a:ln xmlns:a="http://schemas.openxmlformats.org/drawingml/2006/main" w="11430">
            <a:solidFill>
              <a:srgbClr val="E9EDF3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64FCB6CA-E109-2569-589E-C132C7EA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4" y="2028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25" b="1" i="0" u="none" cap="none">
                <a:solidFill>
                  <a:srgbClr val="101827"/>
                </a:solidFill>
              </a:defRPr>
            </a:pPr>
            <a:r>
              <a:rPr sz="82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7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02AFA34A-B134-74C7-F817-CAC751C6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990721"/>
            <a:ext cx="1495428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i="0" u="none" cap="none">
                <a:solidFill>
                  <a:srgbClr val="101827"/>
                </a:solidFill>
              </a:defRPr>
            </a:pPr>
            <a:r>
              <a:rPr sz="135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Audit</a:t>
            </a:r>
          </a:p>
        </p:txBody>
      </p:sp>
      <p:sp>
        <p:nvSpPr>
          <p:cNvPr id="28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DF772541-6376-1027-2350-953C18FE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1" y="2352678"/>
            <a:ext cx="185737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0" i="0" u="none" cap="none">
                <a:solidFill>
                  <a:srgbClr val="5D6675"/>
                </a:solidFill>
              </a:defRPr>
            </a:pP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기존 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decision</a:t>
            </a:r>
            <a:r>
              <a:rPr sz="1050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과 완전 일치</a:t>
            </a:r>
          </a:p>
        </p:txBody>
      </p:sp>
      <p:cxnSp>
        <p:nvCxnSpPr>
          <p:cNvPr id="67" name="직선 화살표 연결선 65"/>
          <p:cNvCxnSpPr>
            <a:stCxn xmlns:a="http://schemas.openxmlformats.org/drawingml/2006/main" id="9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>
            <a:off x="2924178" y="2333626"/>
            <a:ext cx="533397" cy="0"/>
          </a:xfrm>
          <a:prstGeom xmlns:a="http://schemas.openxmlformats.org/drawingml/2006/main" prst="straightConnector1">
            <a:avLst/>
          </a:prstGeom>
          <a:ln xmlns:a="http://schemas.openxmlformats.org/drawingml/2006/main" w="15243">
            <a:solidFill>
              <a:srgbClr val="101827"/>
            </a:solidFill>
            <a:prstDash val="solid"/>
            <a:tailEnd type="arrow"/>
          </a:ln>
        </p:spPr>
      </p:cxnSp>
      <p:cxnSp>
        <p:nvCxnSpPr>
          <p:cNvPr id="68" name="직선 화살표 연결선 66"/>
          <p:cNvCxnSpPr>
            <a:stCxn xmlns:a="http://schemas.openxmlformats.org/drawingml/2006/main" id="14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>
            <a:off x="5695953" y="2333626"/>
            <a:ext cx="533396" cy="0"/>
          </a:xfrm>
          <a:prstGeom xmlns:a="http://schemas.openxmlformats.org/drawingml/2006/main" prst="straightConnector1">
            <a:avLst/>
          </a:prstGeom>
          <a:ln xmlns:a="http://schemas.openxmlformats.org/drawingml/2006/main" w="15243">
            <a:solidFill>
              <a:srgbClr val="101827"/>
            </a:solidFill>
            <a:prstDash val="solid"/>
            <a:tailEnd type="arrow"/>
          </a:ln>
        </p:spPr>
      </p:cxnSp>
      <p:cxnSp>
        <p:nvCxnSpPr>
          <p:cNvPr id="69" name="직선 화살표 연결선 67"/>
          <p:cNvCxnSpPr>
            <a:stCxn xmlns:a="http://schemas.openxmlformats.org/drawingml/2006/main" id="19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>
            <a:off x="8467727" y="2333626"/>
            <a:ext cx="533398" cy="0"/>
          </a:xfrm>
          <a:prstGeom xmlns:a="http://schemas.openxmlformats.org/drawingml/2006/main" prst="straightConnector1">
            <a:avLst/>
          </a:prstGeom>
          <a:ln xmlns:a="http://schemas.openxmlformats.org/drawingml/2006/main" w="15243">
            <a:solidFill>
              <a:srgbClr val="101827"/>
            </a:solidFill>
            <a:prstDash val="solid"/>
            <a:tailEnd type="arrow"/>
          </a:ln>
        </p:spPr>
      </p:cxnSp>
      <p:sp>
        <p:nvSpPr>
          <p:cNvPr id="32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8294D90F-DE35-257C-3233-82FC51AB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2308"/>
            <a:ext cx="4998357" cy="307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25" b="1" i="0" u="none" cap="none">
                <a:solidFill>
                  <a:srgbClr val="101827"/>
                </a:solidFill>
              </a:defRPr>
            </a:pPr>
            <a:r>
              <a:rPr sz="17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Backbone</a:t>
            </a:r>
            <a:r>
              <a:rPr sz="17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별 개선 범위 </a:t>
            </a:r>
            <a:r>
              <a:rPr sz="1700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| </a:t>
            </a:r>
            <a:r>
              <a:rPr sz="1300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동일 </a:t>
            </a:r>
            <a:r>
              <a:rPr sz="1300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10-</a:t>
            </a:r>
            <a:r>
              <a:rPr sz="1300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class TEST 1,000</a:t>
            </a:r>
            <a:r>
              <a:rPr sz="1300" b="1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장 기준</a:t>
            </a:r>
            <a:endParaRPr sz="1300" b="1" i="0" u="none" kern="1200" cap="none" spc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F4807520-8C55-029D-8925-D3250557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3"/>
            <a:ext cx="16192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1" i="0" u="none" cap="none">
                <a:solidFill>
                  <a:srgbClr val="101827"/>
                </a:solidFill>
              </a:defRPr>
            </a:pPr>
            <a:r>
              <a:rPr sz="127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ResNet18</a:t>
            </a:r>
          </a:p>
        </p:txBody>
      </p:sp>
      <p:sp>
        <p:nvSpPr>
          <p:cNvPr id="34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4CFAE658-9368-4CB6-DA1A-8CAB1D35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3" y="4095753"/>
            <a:ext cx="2095503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92.2% → 96.0%</a:t>
            </a:r>
          </a:p>
        </p:txBody>
      </p:sp>
      <p:sp>
        <p:nvSpPr>
          <p:cNvPr id="35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F41C754F-AF6A-503F-A216-458E5085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95753"/>
            <a:ext cx="2286000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5D6675"/>
                </a:solidFill>
              </a:defRPr>
            </a:pPr>
            <a:r>
              <a:rPr sz="12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40 fixed / 2 broken</a:t>
            </a:r>
          </a:p>
        </p:txBody>
      </p:sp>
      <p:sp>
        <p:nvSpPr>
          <p:cNvPr id="36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EBDD16DB-6188-FE57-CED3-E3338818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1"/>
            <a:ext cx="1619246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1" i="0" u="none" cap="none">
                <a:solidFill>
                  <a:srgbClr val="101827"/>
                </a:solidFill>
              </a:defRPr>
            </a:pPr>
            <a:r>
              <a:rPr sz="1275" b="1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DINOv2</a:t>
            </a:r>
          </a:p>
        </p:txBody>
      </p:sp>
      <p:sp>
        <p:nvSpPr>
          <p:cNvPr id="37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F180A860-76D6-31B7-25AB-CD9B2AFD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3" y="4619621"/>
            <a:ext cx="2095503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101827"/>
                </a:solidFill>
              </a:defRPr>
            </a:pPr>
            <a:r>
              <a:rPr sz="1275" b="0" i="0" u="none" cap="none">
                <a:solidFill>
                  <a:srgbClr val="101827"/>
                </a:solidFill>
                <a:latin typeface="Calibri"/>
                <a:ea typeface="Calibri"/>
                <a:cs typeface="Calibri"/>
              </a:rPr>
              <a:t>98.4% → 98.7%</a:t>
            </a:r>
          </a:p>
        </p:txBody>
      </p:sp>
      <p:sp>
        <p:nvSpPr>
          <p:cNvPr id="38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60D83EE9-3665-CD9F-00DF-B4E41A8E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619621"/>
            <a:ext cx="2286000" cy="247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 i="0" u="none" cap="none">
                <a:solidFill>
                  <a:srgbClr val="5D6675"/>
                </a:solidFill>
              </a:defRPr>
            </a:pPr>
            <a:r>
              <a:rPr sz="127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3 fixed / 0 broken</a:t>
            </a:r>
          </a:p>
        </p:txBody>
      </p:sp>
      <p:sp>
        <p:nvSpPr>
          <p:cNvPr id="39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93831066-0502-BACD-0AE3-48FF7886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1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 i="0" u="none" cap="none">
                <a:solidFill>
                  <a:srgbClr val="5D6675"/>
                </a:solidFill>
              </a:defRPr>
            </a:pP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Judgment layer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는 작은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Backbone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에는 큰 복구 여지를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강한 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Backbone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에는 보수적인 추가 이득을 제공한다</a:t>
            </a:r>
            <a:r>
              <a:rPr sz="1125" b="0" i="0" u="none" cap="none">
                <a:solidFill>
                  <a:srgbClr val="5D667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6743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103818-45E3-43B9-8827-00A999D1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검증 설계와 누수 통제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709E0-F541-4C92-9C0A-AC24425F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75"/>
                </a:solidFill>
              </a:defRPr>
            </a:pPr>
            <a:r>
              <a:rPr sz="825" b="1">
                <a:solidFill>
                  <a:srgbClr val="5D6675"/>
                </a:solidFill>
              </a:rPr>
              <a:t>05 · VALIDATION · EVIDENCE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7EF03-BBDD-4EE6-8348-7D3CAB95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16D1E-0546-417D-9525-BC187CAE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D8E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50017-BA2E-486F-B86A-1391E23A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7C1E8-0137-4484-AD52-CE1E3A04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PAGE 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BD174-3963-440F-A43A-F4D852C5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</a:defRPr>
            </a:pPr>
            <a:r>
              <a:rPr sz="1350" b="0">
                <a:solidFill>
                  <a:srgbClr val="5D6675"/>
                </a:solidFill>
              </a:rPr>
              <a:t>모델 성능뿐 아니라 선택·전환 과정의 재현성과 서비스 가능 조건을 분리해 검증했습니다.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96566-71F0-4BC5-9171-9D5625A3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3431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B2142-95EF-44A9-9467-C6777540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5524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3D8EDB"/>
          </a:solidFill>
          <a:ln xmlns:a="http://schemas.openxmlformats.org/drawingml/2006/main" w="9525">
            <a:solidFill>
              <a:srgbClr val="3D8E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C35B0-A114-4A12-92F0-B38DABDB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76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8324E-7CC4-48B0-BFE5-CBE8F2DA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</a:defRPr>
            </a:pPr>
            <a:r>
              <a:rPr sz="1275" b="1">
                <a:solidFill>
                  <a:srgbClr val="101827"/>
                </a:solidFill>
              </a:rPr>
              <a:t>TRAIN / 5-Fold 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DAF84-5ED6-46F1-8AD8-BEBF633D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임계값·정상 상태·보정 정책 학습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DB1FB-277E-4D67-83D9-77865E53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003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94A3"/>
                </a:solidFill>
              </a:defRPr>
            </a:pPr>
            <a:r>
              <a:rPr sz="1650" b="1">
                <a:solidFill>
                  <a:srgbClr val="8B94A3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007A9-7C30-4ACD-9872-5E2EA7EB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14550"/>
            <a:ext cx="23431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9F163-BA89-41F6-9C76-539C2EB3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5524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EA35A"/>
          </a:solidFill>
          <a:ln xmlns:a="http://schemas.openxmlformats.org/drawingml/2006/main" w="9525">
            <a:solidFill>
              <a:srgbClr val="4EA3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D46E8-4AC2-4BE1-B5C0-4A8A4BF4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76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59BAA-BA08-4691-A5DB-E5099DA5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47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</a:defRPr>
            </a:pPr>
            <a:r>
              <a:rPr sz="1275" b="1">
                <a:solidFill>
                  <a:srgbClr val="101827"/>
                </a:solidFill>
              </a:rPr>
              <a:t>고정 TEST1000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F16DF2-73D0-481B-96EB-BB4063F2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28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동일 후보 풀·동일 백본·Fixed/Broken 감사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F6DDA-1C1C-4ED9-B973-E1431E12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03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94A3"/>
                </a:solidFill>
              </a:defRPr>
            </a:pPr>
            <a:r>
              <a:rPr sz="1650" b="1">
                <a:solidFill>
                  <a:srgbClr val="8B94A3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61D97-9C4A-447B-91D1-6A4F4EF3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14550"/>
            <a:ext cx="23431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1CA9B-F63A-4D81-B51C-2CC598C9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5524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5A612"/>
          </a:solidFill>
          <a:ln xmlns:a="http://schemas.openxmlformats.org/drawingml/2006/main" w="9525">
            <a:solidFill>
              <a:srgbClr val="D5A61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EC2D25-D671-4150-97AC-27FF4BCF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76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90F54-E2FE-43A7-95BA-F0CA9E73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</a:defRPr>
            </a:pPr>
            <a:r>
              <a:rPr sz="1275" b="1">
                <a:solidFill>
                  <a:srgbClr val="101827"/>
                </a:solidFill>
              </a:rPr>
              <a:t>외부 데이터 3종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B07B8E-D82D-423F-A0EA-F04A5DEB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HF90·AWA holdout·AWA wild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A960C4-5B21-407D-BC52-7886D28A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03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94A3"/>
                </a:solidFill>
              </a:defRPr>
            </a:pPr>
            <a:r>
              <a:rPr sz="1650" b="1">
                <a:solidFill>
                  <a:srgbClr val="8B94A3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E775E5-3DEA-4815-9785-7C4343EA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23431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92BCC5-4DAB-4299-BAF2-1A40FB0B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5524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9B55BD"/>
          </a:solidFill>
          <a:ln xmlns:a="http://schemas.openxmlformats.org/drawingml/2006/main" w="9525">
            <a:solidFill>
              <a:srgbClr val="9B55B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5DEA17-CD2E-48AD-9E62-E79C1AAA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76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EE469B-8D42-4192-BA37-3746E930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</a:defRPr>
            </a:pPr>
            <a:r>
              <a:rPr sz="1275" b="1">
                <a:solidFill>
                  <a:srgbClr val="101827"/>
                </a:solidFill>
              </a:rPr>
              <a:t>신규 Final Holdout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05B573-6778-4B51-B1A8-A5560310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Wikimedia 300장·SHA 동결·중복 제거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60182E-986F-4EC1-A2EF-F230F110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7AFB6F-05D5-40CC-834A-43B8E61C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EDB"/>
                </a:solidFill>
              </a:defRPr>
            </a:pPr>
            <a:r>
              <a:rPr sz="1350" b="1">
                <a:solidFill>
                  <a:srgbClr val="3D8EDB"/>
                </a:solidFill>
              </a:rPr>
              <a:t>검증 계약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898BD8-8994-42BA-8FD7-839D309B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0075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TEST 라벨은 모든 런타임 결정이 끝난 뒤 감사 단계에서만 결합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TRAIN-OOF에서 임계값과 선택 정책을 고정하고 TEST에서 재조정하지 않음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Independent / Full Dual-Line 비교는 각자 서비스 가능한 임계값으로 실행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동일 백본·동일 후보 풀·동일 REVIEW 예산 비교를 별도로 수행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4128F1-9EF5-4A3D-89F4-5F43C23C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43375"/>
            <a:ext cx="1809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D9489C-B70D-4BF6-8E7D-89A02878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4337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35A"/>
          </a:solidFill>
          <a:ln xmlns:a="http://schemas.openxmlformats.org/drawingml/2006/main" w="0">
            <a:solidFill>
              <a:srgbClr val="4EA35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B31B88-BCD4-4AD0-BA49-292961BF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672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반복 학습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40864E-FD85-4BC7-9D9F-BA0C271D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148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3 seeds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8B378B-BAED-4808-B2EC-7B69F79E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6727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310 / 311 / 312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8BB105-E47B-49CE-B59D-7C8F25B2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43375"/>
            <a:ext cx="1809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FB355F-CB70-4276-BDAF-9137415C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4337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5BD"/>
          </a:solidFill>
          <a:ln xmlns:a="http://schemas.openxmlformats.org/drawingml/2006/main" w="0">
            <a:solidFill>
              <a:srgbClr val="9B55B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B36B81-D400-43AA-AD27-0C418942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672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최종 holdout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926445-307F-4C6F-9914-28F52C1E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148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300장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88808F-B23D-450A-975E-EA30941B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86727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10 classes × 30</a:t>
            </a:r>
          </a:p>
        </p:txBody>
      </p:sp>
    </p:spTree>
    <p:extLst>
      <p:ext uri="{BB962C8B-B14F-4D97-AF65-F5344CB8AC3E}">
        <p14:creationId xmlns:p14="http://schemas.microsoft.com/office/powerpoint/2010/main" val="6188031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A4929B8-931D-4C67-B7E0-D9EEB619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Risk와 Selector의 기여도 분해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D08D4-E2C9-4328-A40C-D4BE5FBC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75"/>
                </a:solidFill>
              </a:defRPr>
            </a:pPr>
            <a:r>
              <a:rPr sz="825" b="1">
                <a:solidFill>
                  <a:srgbClr val="5D6675"/>
                </a:solidFill>
              </a:rPr>
              <a:t>05 · VALIDATION · 2×2 FACTORIAL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CC9F6-F82C-4939-9F5A-070F6BC3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DC079-B386-4AE9-89F0-28EABB46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4EA3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E76C1-E0B9-440C-8E8E-9CF14F9F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68643-9606-42AC-B3A5-C0FBEC03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PAGE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2D1FA-D0A2-41CC-876A-B4EF3882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5"/>
                </a:solidFill>
              </a:defRPr>
            </a:pPr>
            <a:r>
              <a:rPr sz="1275" b="0">
                <a:solidFill>
                  <a:srgbClr val="5D6675"/>
                </a:solidFill>
              </a:rPr>
              <a:t>동일 ResNet18, 동일 base prediction, 동일 7,553개 후보 풀에서 두 판단축만 교차했습니다.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1C4F6-264F-4BF1-9C51-938E4CA8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B558E-A7A8-4743-BD37-8E3AB44E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120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23CBB-2BBF-4029-A854-9974EB10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CCE57-D73E-44FF-9978-B5D88FD6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812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Selector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F719C-4CC2-43F5-9565-7B7267EB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9E8C9-ACC3-456D-AB31-FD1C1AFE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812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069AAB-6D73-44B8-BA42-2E66EFC0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8DC5A-214D-4599-8630-BC273C50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812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오답 밀도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CA597-C679-43BF-9862-24E4C55A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60003-8355-4C91-8BD1-B8B6C1F8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812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Final Joint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B2D81-9897-4DF2-8730-CAA21B37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526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F7A9D2-0203-4126-A2CA-57AA83AE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81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EC1001-2D13-45E6-9FF9-2179D421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52625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F536FE-0DCA-4E0B-8E1E-31E6BF4F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98120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Broken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202A8-5A70-42FD-A330-E503A5B4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2171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6A177-577A-421C-8DFA-A7BCE4A3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574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Independent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96B4DD-CCAE-48AE-A24D-C38D8653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9825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373E77-C204-4C60-935C-026456DF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574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Independent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0C128D-C58E-47E1-8B01-229A9664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98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6A3D47-1FB3-4772-BF8F-11A71AD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57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191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CC5E52-F5B0-4395-8891-63FF1E53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98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4EF744-9D0D-41AE-A2BE-0987EB8A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57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36.1%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7C3179-01D2-4DCE-842F-BA6CC1CE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98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5D6224-E6B7-4C14-9E09-D590B5E2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93.1%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B3B651-0A3F-4085-AE87-C279A9AD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982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939672-6306-4B02-88B7-D45391E8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574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552CB0-7797-422E-A0F2-590CC05D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09825"/>
            <a:ext cx="112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2043D0-BE5E-4B69-832C-156D1F16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4574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8D8B77-9538-4C57-A1B8-522079D5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171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C52FBA-3154-4CEE-A1A0-40B703CB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527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Independent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F2ECCD-59A3-42CE-B79A-D660DF5B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05125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FD1529-94DA-4184-91DE-3E996BFC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52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Joint pair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D88883-4BA2-400F-8D60-A34D4C52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051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F2BE42-44B8-4B3D-B8CA-6CDBE8C5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527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191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9EB46E-BB4E-4BBA-B343-CECA5A4E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051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5E6792-4EA2-40DB-B211-087C23E0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527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36.1%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3B3223-0F72-4E5B-8F6E-762828FA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051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0F2E28-215B-4BFB-85CF-D0BB2D9D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527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95.8%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8EC128-6288-4716-B74D-5D7D9903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0512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3B6D55-E6DF-41D7-937C-DFA3FCE3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39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C6B1D6-7CEF-46B8-BB0D-D82D1F46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05125"/>
            <a:ext cx="112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F50ABD-3C0D-4E77-9C76-0DEC49DA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527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E407EE-3C78-4715-BC90-026C0AE5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2171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B48E08-B87E-41E5-9D5E-69807482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480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Dual v233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565714-456A-4CFE-B25D-F2BF2957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0425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64A586-2AE9-44CE-880A-12E187AF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480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Independent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4E4FC3-F393-4FEE-8272-E899CFC3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004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250EA5-D48C-4352-B7CF-CC99560C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480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103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79371D6-968D-4D3B-A3E2-9F133480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04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F59CBCA-F1D5-4B3D-B3FB-0D2D2F42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480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62.1%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AC5BD8C-C0C3-493E-945A-D8D5CE4B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04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6426CA-8572-4611-80FF-98A726E6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480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93.3%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9801A24-8A7B-4184-81D3-A53AA40A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042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9CF2F52-A9D3-4DE9-AED3-2A3CFA73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480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60497F1-86A4-4330-BDF1-133281D6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00425"/>
            <a:ext cx="112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7CD44D6-F738-41E1-AB2A-3EDEF27B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4480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D5C0E09-3843-4ED9-ADF0-FC9F17CD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2171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61FDA0A-63DD-4AB7-82C0-1890BD89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433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Dual v233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C43DBE0-4A10-4D12-A24B-5AA24909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95725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B7953C5-F6B9-4E6C-A579-2EBEBB2D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433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Joint v234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67CE2F7-DD86-46A4-96CC-0AE24C90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957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F096092-B787-4680-9C96-B4100F66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433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103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382C978-36DC-4623-AC10-ADD2710E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957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486BD83-6D96-4C36-9255-8AD82434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9433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62.1%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24879F1-2690-446A-BC0F-FB80DE8A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957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BAA95FD-2DD4-44F6-AEFB-280F86A5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433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A35A"/>
                </a:solidFill>
              </a:defRPr>
            </a:pPr>
            <a:r>
              <a:rPr sz="975" b="1">
                <a:solidFill>
                  <a:srgbClr val="4EA35A"/>
                </a:solidFill>
              </a:rPr>
              <a:t>96.0%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F049CF2-9F92-4CD7-B566-CEB42965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9572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F5A8B40-EAC3-4A72-8D73-AAED9C11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433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A35A"/>
                </a:solidFill>
              </a:defRPr>
            </a:pPr>
            <a:r>
              <a:rPr sz="975" b="1">
                <a:solidFill>
                  <a:srgbClr val="4EA35A"/>
                </a:solidFill>
              </a:rPr>
              <a:t>40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96F1AA9-ABD6-4D40-8D88-9371C34E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95725"/>
            <a:ext cx="112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A43AC58-0F13-4844-9E17-32A19379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9433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A35A"/>
                </a:solidFill>
              </a:defRPr>
            </a:pPr>
            <a:r>
              <a:rPr sz="975" b="1">
                <a:solidFill>
                  <a:srgbClr val="4EA35A"/>
                </a:solidFill>
              </a:rP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5D0F946-A614-424E-8F23-6F5E21D2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32385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4B592B4-9512-43CE-9548-26C12C07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12"/>
          </a:solidFill>
          <a:ln xmlns:a="http://schemas.openxmlformats.org/drawingml/2006/main" w="0">
            <a:solidFill>
              <a:srgbClr val="D5A61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430FE8C-CAA8-4639-9B91-56A6FB62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Dual Risk의 역할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AFFCF57-3A27-4B18-8540-7EADCED7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191 → 103 REVIEW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DC8E7CF-432C-4CFC-A62D-7BC556CC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3402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오답 밀도 36.1% → 62.1%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052E179-D0DD-4CFD-8A0B-3E95B644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0125"/>
            <a:ext cx="32385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4F012BD-3A2C-41E7-8A23-A6B7389A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012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35A"/>
          </a:solidFill>
          <a:ln xmlns:a="http://schemas.openxmlformats.org/drawingml/2006/main" w="0">
            <a:solidFill>
              <a:srgbClr val="4EA35A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23FF84B-6B47-407E-B1D3-51FC6191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339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Joint Selector의 역할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822D9CB-A1D6-4649-8A09-8785C388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81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+2.7%p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21CAB3C-CD7E-4CDD-B1A7-33CDF564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53402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고정 Risk에서 Final Joint 향상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AB623E1-0350-4D05-BC97-79C12D78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10125"/>
            <a:ext cx="40005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489877A-85D9-4F41-99EA-F3FA8537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1012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5BD"/>
          </a:solidFill>
          <a:ln xmlns:a="http://schemas.openxmlformats.org/drawingml/2006/main" w="0">
            <a:solidFill>
              <a:srgbClr val="9B55BD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152310B-9AEC-4E8C-AC2F-C5E7AFDA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3395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Full Dual-Line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DD75A60-55B3-441E-A933-BBADE7AC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816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96.0% · 40 / 2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E55048E-505C-4095-B9E3-41CC2BC4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34025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탐지는 예산 효율, 선택기는 최종 정확도 담당</a:t>
            </a:r>
          </a:p>
        </p:txBody>
      </p:sp>
    </p:spTree>
    <p:extLst>
      <p:ext uri="{BB962C8B-B14F-4D97-AF65-F5344CB8AC3E}">
        <p14:creationId xmlns:p14="http://schemas.microsoft.com/office/powerpoint/2010/main" val="17031988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A50331-262F-4F24-BC93-22CCB021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독립 실행과 Full Dual-Line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CFF09-91E1-46C8-9EE4-3B8F4AB0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75"/>
                </a:solidFill>
              </a:defRPr>
            </a:pPr>
            <a:r>
              <a:rPr sz="825" b="1">
                <a:solidFill>
                  <a:srgbClr val="5D6675"/>
                </a:solidFill>
              </a:rPr>
              <a:t>05 · VALIDATION · INTERACTION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A46FC-88D6-4486-837D-1A781ACA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F880C-11EE-44A6-9323-F43C4ED7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9B55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F8C0C-F0AB-427B-9C14-551B11D6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73341-B5CD-404C-AE4B-E47CDAE4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PAGE 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47F67-4786-45A1-A8C9-7C0754B3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5"/>
                </a:solidFill>
              </a:defRPr>
            </a:pPr>
            <a:r>
              <a:rPr sz="1200" b="0">
                <a:solidFill>
                  <a:srgbClr val="5D6675"/>
                </a:solidFill>
              </a:rPr>
              <a:t>Parent/Fine을 각각 서비스 가능한 파이프라인으로 실행한 뒤 교집합을 낸 경우와 공동 상태를 해석한 경우를 비교했습니다.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73F06-398E-490A-8A24-4E1E6D00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TEST1000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A4256-90D2-4F2E-8AB3-59008CF0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955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Independent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70316-77F4-49E5-9348-C2586255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33600"/>
            <a:ext cx="3768471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B94A3"/>
          </a:solidFill>
          <a:ln xmlns:a="http://schemas.openxmlformats.org/drawingml/2006/main" w="9525">
            <a:solidFill>
              <a:srgbClr val="8B94A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6DD03-1A46-490C-BDA2-F1B45540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859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7"/>
                </a:solidFill>
              </a:defRPr>
            </a:pPr>
            <a:r>
              <a:rPr sz="1050" b="1">
                <a:solidFill>
                  <a:srgbClr val="101827"/>
                </a:solidFill>
              </a:rPr>
              <a:t>94.2%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964E5-3831-45B0-98D0-D03D86B8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6697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55BD"/>
                </a:solidFill>
              </a:defRPr>
            </a:pPr>
            <a:r>
              <a:rPr sz="900" b="0">
                <a:solidFill>
                  <a:srgbClr val="9B55BD"/>
                </a:solidFill>
              </a:rPr>
              <a:t>Full Dual-Line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238FE-4E50-4E8C-9C3A-48BEBFCE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05075"/>
            <a:ext cx="384048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9B55BD"/>
          </a:solidFill>
          <a:ln xmlns:a="http://schemas.openxmlformats.org/drawingml/2006/main" w="9525">
            <a:solidFill>
              <a:srgbClr val="9B55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A05285-57A8-48EC-84F3-3D9D1618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479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B55BD"/>
                </a:solidFill>
              </a:defRPr>
            </a:pPr>
            <a:r>
              <a:rPr sz="1050" b="1">
                <a:solidFill>
                  <a:srgbClr val="9B55BD"/>
                </a:solidFill>
              </a:rPr>
              <a:t>96%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F001B-1F8C-4CEB-AA5D-7DE14D89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A35A"/>
                </a:solidFill>
              </a:defRPr>
            </a:pPr>
            <a:r>
              <a:rPr sz="1350" b="1">
                <a:solidFill>
                  <a:srgbClr val="4EA35A"/>
                </a:solidFill>
              </a:rPr>
              <a:t>REVIEW 191 → 103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4C4EBE-10C8-426F-AB93-AC0704A2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HF90 mixed 600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1CE76-2DE8-4C99-8BBB-2755C77B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385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Independent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03DC6-5D37-4BE8-92FE-04636D64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76600"/>
            <a:ext cx="3827278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B94A3"/>
          </a:solidFill>
          <a:ln xmlns:a="http://schemas.openxmlformats.org/drawingml/2006/main" w="9525">
            <a:solidFill>
              <a:srgbClr val="8B94A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33A4BA-8D4E-4189-922F-EAB7BF8E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289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7"/>
                </a:solidFill>
              </a:defRPr>
            </a:pPr>
            <a:r>
              <a:rPr sz="1050" b="1">
                <a:solidFill>
                  <a:srgbClr val="101827"/>
                </a:solidFill>
              </a:rPr>
              <a:t>95.67%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62E12E-5108-4696-866E-27B1FBA1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0997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55BD"/>
                </a:solidFill>
              </a:defRPr>
            </a:pPr>
            <a:r>
              <a:rPr sz="900" b="0">
                <a:solidFill>
                  <a:srgbClr val="9B55BD"/>
                </a:solidFill>
              </a:rPr>
              <a:t>Full Dual-Line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8127AE-FDC7-41F7-8064-9893171E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48075"/>
            <a:ext cx="3880485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9B55BD"/>
          </a:solidFill>
          <a:ln xmlns:a="http://schemas.openxmlformats.org/drawingml/2006/main" w="9525">
            <a:solidFill>
              <a:srgbClr val="9B55B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769E3-C931-456C-A111-6693B9ED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909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B55BD"/>
                </a:solidFill>
              </a:defRPr>
            </a:pPr>
            <a:r>
              <a:rPr sz="1050" b="1">
                <a:solidFill>
                  <a:srgbClr val="9B55BD"/>
                </a:solidFill>
              </a:rPr>
              <a:t>97%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438C46-7CB2-4E3A-805A-929DC5C8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528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A35A"/>
                </a:solidFill>
              </a:defRPr>
            </a:pPr>
            <a:r>
              <a:rPr sz="1350" b="1">
                <a:solidFill>
                  <a:srgbClr val="4EA35A"/>
                </a:solidFill>
              </a:rPr>
              <a:t>REVIEW 98 → 57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D2506B-3D49-42DB-853B-38EC619C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AWA holdout 800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74053B-340A-4A76-B8F2-F0168E67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815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Independent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9A1281-8340-4E52-BCAA-AFDAD8E2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19600"/>
            <a:ext cx="3905688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B94A3"/>
          </a:solidFill>
          <a:ln xmlns:a="http://schemas.openxmlformats.org/drawingml/2006/main" w="9525">
            <a:solidFill>
              <a:srgbClr val="8B94A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149552-9CE0-43F1-81F9-461B255C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3719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7"/>
                </a:solidFill>
              </a:defRPr>
            </a:pPr>
            <a:r>
              <a:rPr sz="1050" b="1">
                <a:solidFill>
                  <a:srgbClr val="101827"/>
                </a:solidFill>
              </a:rPr>
              <a:t>97.63%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E08FCF-8DA6-4D83-BE4D-E360CE39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5297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B55BD"/>
                </a:solidFill>
              </a:defRPr>
            </a:pPr>
            <a:r>
              <a:rPr sz="900" b="0">
                <a:solidFill>
                  <a:srgbClr val="9B55BD"/>
                </a:solidFill>
              </a:rPr>
              <a:t>Full Dual-Line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34312B-E805-4615-B2D5-AEF18890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91075"/>
            <a:ext cx="3930491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9B55BD"/>
          </a:solidFill>
          <a:ln xmlns:a="http://schemas.openxmlformats.org/drawingml/2006/main" w="9525">
            <a:solidFill>
              <a:srgbClr val="9B55B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1EB017-4826-489C-8D0B-C8CE643A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339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B55BD"/>
                </a:solidFill>
              </a:defRPr>
            </a:pPr>
            <a:r>
              <a:rPr sz="1050" b="1">
                <a:solidFill>
                  <a:srgbClr val="9B55BD"/>
                </a:solidFill>
              </a:rPr>
              <a:t>98.25%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621FF7-EA7A-4479-88AB-AF311686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958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A35A"/>
                </a:solidFill>
              </a:defRPr>
            </a:pPr>
            <a:r>
              <a:rPr sz="1350" b="1">
                <a:solidFill>
                  <a:srgbClr val="4EA35A"/>
                </a:solidFill>
              </a:rPr>
              <a:t>REVIEW 79 → 38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02CF01-768A-45B6-8ABC-82468129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6EAFB"/>
          </a:solidFill>
          <a:ln xmlns:a="http://schemas.openxmlformats.org/drawingml/2006/main" w="9525">
            <a:solidFill>
              <a:srgbClr val="9B55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3DFA77-139E-41E5-88AE-24988AAB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43575"/>
            <a:ext cx="10363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B55BD"/>
                </a:solidFill>
              </a:defRPr>
            </a:pPr>
            <a:r>
              <a:rPr sz="1275" b="1">
                <a:solidFill>
                  <a:srgbClr val="9B55BD"/>
                </a:solidFill>
              </a:rPr>
              <a:t>두 분류기를 단순 병렬로 두는 것보다, 서로 다른 판단 상태를 공동 해석할 때 더 적게 다시 보고 더 많이 맞혔습니다.</a:t>
            </a:r>
          </a:p>
        </p:txBody>
      </p:sp>
    </p:spTree>
    <p:extLst>
      <p:ext uri="{BB962C8B-B14F-4D97-AF65-F5344CB8AC3E}">
        <p14:creationId xmlns:p14="http://schemas.microsoft.com/office/powerpoint/2010/main" val="17500419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15CC6D-86E0-412F-8BBB-57D9A137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제한된 REVIEW 예산의 오류 집중도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0CA9D-B9F2-42E1-855D-BA0E4DFE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75"/>
                </a:solidFill>
              </a:defRPr>
            </a:pPr>
            <a:r>
              <a:rPr sz="825" b="1">
                <a:solidFill>
                  <a:srgbClr val="5D6675"/>
                </a:solidFill>
              </a:rPr>
              <a:t>05 · VALIDATION · RISK BASELINES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4707D-FE18-4397-8C76-86BD6473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B2F55-36B9-4579-987C-00B01681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5A61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6ECAE-E02D-42CF-B990-7E8DFB87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E0A5D-AF83-4B74-B149-C855984A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PAGE 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10D80-C4EC-4740-BE80-E4E84930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5"/>
                </a:solidFill>
              </a:defRPr>
            </a:pPr>
            <a:r>
              <a:rPr sz="1275" b="0">
                <a:solidFill>
                  <a:srgbClr val="5D6675"/>
                </a:solidFill>
              </a:rPr>
              <a:t>TEST1000의 상위 10%만 다시 볼 수 있다는 동일 예산에서 오류 탐지 성능을 비교했습니다.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1E32B-A8EE-4E83-84CA-E9D2DCAC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</a:defRPr>
            </a:pPr>
            <a:r>
              <a:rPr sz="1425" b="1">
                <a:solidFill>
                  <a:srgbClr val="101827"/>
                </a:solidFill>
              </a:rPr>
              <a:t>Review 10% 오답 탐지율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C5C04-2B15-4EEB-8273-60CCA3FE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Confidence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9FF6D-9C56-4011-8FFE-48332D59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428875"/>
            <a:ext cx="304800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560AA-6839-415A-8AD1-98A599F2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428875"/>
            <a:ext cx="2266493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B94A3"/>
          </a:solidFill>
          <a:ln xmlns:a="http://schemas.openxmlformats.org/drawingml/2006/main" w="9525">
            <a:solidFill>
              <a:srgbClr val="8B94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1675C-0CA2-42A3-9CC2-5425E825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39077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74.36%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E801B-57C1-4417-A4B9-AA1F32C2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Margin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EFADF-BB57-4ECD-A711-8407579F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905125"/>
            <a:ext cx="304800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5ED53-A873-4582-A620-C6F063A3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905125"/>
            <a:ext cx="218815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B94A3"/>
          </a:solidFill>
          <a:ln xmlns:a="http://schemas.openxmlformats.org/drawingml/2006/main" w="9525">
            <a:solidFill>
              <a:srgbClr val="8B94A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3420C-5467-4563-8C72-DFEE829E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670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71.79%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2B75B-246F-46D7-8842-12C76E1D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Entropy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0524EF-3783-4B12-B02F-AB3DE703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381375"/>
            <a:ext cx="304800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B3911F-9C8C-43BC-ABC7-91437B92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381375"/>
            <a:ext cx="2071116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B94A3"/>
          </a:solidFill>
          <a:ln xmlns:a="http://schemas.openxmlformats.org/drawingml/2006/main" w="9525">
            <a:solidFill>
              <a:srgbClr val="8B94A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909E64-2C13-497A-BF84-9BE3F26D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34327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67.95%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234A39-1E86-4665-808A-35E6A111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Dual-Line v233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F27A55-AC1E-40B8-B935-9BFF0296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857625"/>
            <a:ext cx="304800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9525">
            <a:solidFill>
              <a:srgbClr val="E9E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E1CFA7-8238-4D68-84D1-408FD828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857625"/>
            <a:ext cx="246187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5A612"/>
          </a:solidFill>
          <a:ln xmlns:a="http://schemas.openxmlformats.org/drawingml/2006/main" w="9525">
            <a:solidFill>
              <a:srgbClr val="D5A61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5C7C3-3109-4208-96E6-544FD9EB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8195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1827"/>
                </a:solidFill>
              </a:defRPr>
            </a:pPr>
            <a:r>
              <a:rPr sz="975" b="1">
                <a:solidFill>
                  <a:srgbClr val="101827"/>
                </a:solidFill>
              </a:rPr>
              <a:t>80.77%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481243-C87F-4C57-A8D0-005FB0E1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52625"/>
            <a:ext cx="43624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7D8"/>
          </a:solidFill>
          <a:ln xmlns:a="http://schemas.openxmlformats.org/drawingml/2006/main" w="9525">
            <a:solidFill>
              <a:srgbClr val="D5A61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AF2CE8-4233-4F9F-B977-2D58C629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90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5A612"/>
                </a:solidFill>
              </a:defRPr>
            </a:pPr>
            <a:r>
              <a:rPr sz="1800" b="1">
                <a:solidFill>
                  <a:srgbClr val="D5A612"/>
                </a:solidFill>
              </a:rPr>
              <a:t>v233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960597-A22A-4B96-B143-CC1B601E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3714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AUROC  0.9584</a:t>
            </a:r>
          </a:p>
          <a:p xmlns:a="http://schemas.openxmlformats.org/drawingml/2006/main">
            <a:pPr algn="l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AUPR     0.6780</a:t>
            </a:r>
          </a:p>
          <a:p xmlns:a="http://schemas.openxmlformats.org/drawingml/2006/main">
            <a:pPr algn="l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오답 탐지 80.77%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B48912-A1EB-4390-AD48-71CF525D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6712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5"/>
                </a:solidFill>
              </a:defRPr>
            </a:pPr>
            <a:r>
              <a:rPr sz="1275" b="0">
                <a:solidFill>
                  <a:srgbClr val="5D6675"/>
                </a:solidFill>
              </a:rPr>
              <a:t>최고 confidence 대조군보다</a:t>
            </a:r>
          </a:p>
          <a:p xmlns:a="http://schemas.openxmlformats.org/drawingml/2006/main">
            <a:pPr algn="l">
              <a:defRPr sz="1275" b="0">
                <a:solidFill>
                  <a:srgbClr val="5D6675"/>
                </a:solidFill>
              </a:defRPr>
            </a:pPr>
            <a:r>
              <a:rPr sz="1275" b="0">
                <a:solidFill>
                  <a:srgbClr val="5D6675"/>
                </a:solidFill>
              </a:rPr>
              <a:t>오답 탐지율 +6.41%p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AA841E-2804-4249-B5C1-34579586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2A5EF0-9E5B-405E-8603-BCB21039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5A612"/>
                </a:solidFill>
              </a:defRPr>
            </a:pPr>
            <a:r>
              <a:rPr sz="1275" b="1">
                <a:solidFill>
                  <a:srgbClr val="D5A612"/>
                </a:solidFill>
              </a:rPr>
              <a:t>해석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99A375-C41F-4613-AE7A-A31B364F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339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v233은 단순 confidence 저하뿐 아니라 Parent/Fine 판단 상태와 TRAIN-OOF 정상 상태로부터의 이탈을 함께 사용해, 같은 예산에서 더 높은 오류 밀도를 만들었습니다.</a:t>
            </a:r>
          </a:p>
        </p:txBody>
      </p:sp>
    </p:spTree>
    <p:extLst>
      <p:ext uri="{BB962C8B-B14F-4D97-AF65-F5344CB8AC3E}">
        <p14:creationId xmlns:p14="http://schemas.microsoft.com/office/powerpoint/2010/main" val="8844596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225866F-9C97-4CF2-AB53-AD81F85D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동일 ResNet18 기반 TTA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33FAD-007C-4977-A249-624BF2D9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75"/>
                </a:solidFill>
              </a:defRPr>
            </a:pPr>
            <a:r>
              <a:rPr sz="825" b="1">
                <a:solidFill>
                  <a:srgbClr val="5D6675"/>
                </a:solidFill>
              </a:rPr>
              <a:t>05 · VALIDATION · SAME-BACKBONE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91937-521C-44F9-A860-0DAC8537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03316-7F57-413D-9B41-8D852B4E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D8E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33CA6-FC68-45E8-922F-EE8FA5C5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A57D0-53D1-4875-B9BC-45D529DC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PAGE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ECADD-437D-4EF6-9E4D-8E9A89AA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5"/>
                </a:solidFill>
              </a:defRPr>
            </a:pPr>
            <a:r>
              <a:rPr sz="1275" b="0">
                <a:solidFill>
                  <a:srgbClr val="5D6675"/>
                </a:solidFill>
              </a:rPr>
              <a:t>백본 교체 효과를 배제하기 위해 모든 비교군을 동일 ResNet18 조건으로 맞췄습니다.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E2F0D-191C-4107-A5E8-C3CA7555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600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28A96-B274-46BA-86C1-1CEAFA32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1200"/>
            <a:ext cx="350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방식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5AF51-6CDB-4750-84EC-3CDD7DC3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E587B-0FA2-4924-82CA-81004F56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812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F0BF3-679A-43A8-8B46-D90EFE13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76300-197B-4CF1-BB27-522915C9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9812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추가 forward / image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B5A81-7629-42BA-ACED-70A202C9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7A3020-98C0-4409-ADF3-68F39E14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812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Fine / Joint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5AC8E0-AAD9-49BC-A206-B30332C8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885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F23347-99F6-473E-89DE-6E66535C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812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Fixed / Broken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8349A-6E80-4B39-8779-A4EFD947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3600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3FD69-1616-424F-A24D-27034B79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ResNet18 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2FD9B-3503-4077-84A8-A354B2A1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907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8B59CB-C038-4306-B27D-5DB457B6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3840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9D22AC-BD1A-4E4F-82D6-69B792D7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90775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A924E6-6BD4-4871-9E1C-8EC600B1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384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2FDC25-F2BC-40B4-A18D-806A6715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9077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E07BFE-3036-4F64-9118-34E9B514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384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94.1% Fine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3205AD-2112-47E1-B8C0-1346E297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90775"/>
            <a:ext cx="188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D8A8F4-CD1C-4A28-A933-684C1AF6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384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884D2E-FAAE-4A24-A89E-C592AC1B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3600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33FA38-F980-497D-9268-06000CCF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Uniform TTA 30-view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A6D802-E3AD-4938-ACDD-E99101FD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860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70A65F-B94C-4DA5-B014-7E4477F9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3370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B236D9-5EE3-47AD-83AC-F838091C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86075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70EEE4-0E60-4E8E-9109-E72862A5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337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+29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2CBC8F-A90E-419A-B1EC-7A37CDCA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8607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AFE8D5-98BA-4EC8-84FD-C5504401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337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95.0% Fine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A0F5AA-D16B-4409-A051-85793F65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86075"/>
            <a:ext cx="188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FB00FB-F6FD-4C90-849F-3547F12C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337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18 / 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8D21E2-FB1D-4ED7-B114-AE707A64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600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87026F-55C9-4B47-925B-D42E3195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Learned TTA aggregation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E7A36B-51DE-44EF-B9CD-481C3324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813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52B5FA-02AF-4021-9A2B-76BAC798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2900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1000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B42F60-8542-4C7D-98C7-2794330B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81375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F20C49-C868-4F8F-B93D-636ACD80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290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+29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FCEB5D-4C1F-46AE-A836-6895C2D4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8137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AD642E-46CF-465C-A050-86A4FB80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94.4% Fine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EF6047-F088-4729-9138-E63B5D89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81375"/>
            <a:ext cx="188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50DD95-72D3-4868-B4C7-BF5C33F2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290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16 / 13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21EDBB-AD4E-4026-8535-93933C34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3600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0D9E19-C3CC-4461-A08F-EB9E230F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Selective Uniform TTA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2B2E53-D891-4404-85BA-5DAC892F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766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4941EB-A4D7-49A7-96C5-4C50FB98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2430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112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E0EAD3-01CD-4F68-9CDD-262DD08E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76675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1CE79F-A76C-4042-8111-CB350B0B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924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+3.248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E096B6-E817-4E2F-9618-6E8A932E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7667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763659-0DDF-45C8-B9DB-91C2454B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43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94.9% Fine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0EF1E4-8470-4199-9BE9-B2B2A844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76675"/>
            <a:ext cx="188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5B7AC0C-45BA-44C9-9452-DFF82B0C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243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16 / 8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F1130E4-3BB7-4A11-B7DF-FEA6BB3F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3600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9477A9-0239-40AC-A096-98DC20D8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Selective Learned TTA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5846E7-EEFA-4A94-9B63-3C4960D5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719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27A540B-2084-4078-A7BE-5147F81E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1960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112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69FE4C-3AFD-44A4-8706-530A7C1E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71975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EAF5381-1CAF-4A90-90E2-79E5016F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196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+3.248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8BAC1F8-77A4-4B2C-BC7F-86460B20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7197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045EE34-ED1D-4F69-A1C1-60990E4D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196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94.5% Fine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F8E0CFF-4091-4992-B72C-1DFCC2FC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71975"/>
            <a:ext cx="188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BDCE010-3E83-45CC-ABDD-9C144F98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196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1827"/>
                </a:solidFill>
              </a:defRPr>
            </a:pPr>
            <a:r>
              <a:rPr sz="975" b="0">
                <a:solidFill>
                  <a:srgbClr val="101827"/>
                </a:solidFill>
              </a:rPr>
              <a:t>16 / 12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F69DD30-6955-4DC3-8B5B-E4F26179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3600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08A76A4-2897-4B9D-A28B-5DCC09EA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EDB"/>
                </a:solidFill>
              </a:defRPr>
            </a:pPr>
            <a:r>
              <a:rPr sz="975" b="1">
                <a:solidFill>
                  <a:srgbClr val="3D8EDB"/>
                </a:solidFill>
              </a:rPr>
              <a:t>Dual-Line v233 + v234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16A770D-D01B-4E3D-A390-7FDD7B39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672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0C43870-7297-4270-BD20-BFB15251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1490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EDB"/>
                </a:solidFill>
              </a:defRPr>
            </a:pPr>
            <a:r>
              <a:rPr sz="975" b="1">
                <a:solidFill>
                  <a:srgbClr val="3D8EDB"/>
                </a:solidFill>
              </a:rPr>
              <a:t>103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F006071-FB00-467B-8291-D29A269A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67275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DA32D4A-C199-4D0F-9F37-45BBCBD1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149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EDB"/>
                </a:solidFill>
              </a:defRPr>
            </a:pPr>
            <a:r>
              <a:rPr sz="975" b="1">
                <a:solidFill>
                  <a:srgbClr val="3D8EDB"/>
                </a:solidFill>
              </a:rPr>
              <a:t>selective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D24F005-F30D-4208-AFD5-F6648578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6727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69545A7-36CF-4ED0-9DF8-552D2F00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149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EDB"/>
                </a:solidFill>
              </a:defRPr>
            </a:pPr>
            <a:r>
              <a:rPr sz="975" b="1">
                <a:solidFill>
                  <a:srgbClr val="3D8EDB"/>
                </a:solidFill>
              </a:rPr>
              <a:t>96.0% Joint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D05AC58-7B92-448E-8302-0F55F33C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67275"/>
            <a:ext cx="188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072ABAF-FD36-496D-819E-546D70C8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9149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EDB"/>
                </a:solidFill>
              </a:defRPr>
            </a:pPr>
            <a:r>
              <a:rPr sz="975" b="1">
                <a:solidFill>
                  <a:srgbClr val="3D8EDB"/>
                </a:solidFill>
              </a:rPr>
              <a:t>40 / 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F712985-0375-4451-8FFE-F50E8544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주: Dual-Line은 Parent/Fine 공동 정답 과제이며, Fine top-1은 동일 클래스 예측 축으로 별도 비교했습니다.</a:t>
            </a:r>
          </a:p>
        </p:txBody>
      </p:sp>
    </p:spTree>
    <p:extLst>
      <p:ext uri="{BB962C8B-B14F-4D97-AF65-F5344CB8AC3E}">
        <p14:creationId xmlns:p14="http://schemas.microsoft.com/office/powerpoint/2010/main" val="16897538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24673B-D790-4A91-963E-277F4F5D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3개 시드 반복과 통계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E77E1-751E-4CAC-9A9D-68FEFE1E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75"/>
                </a:solidFill>
              </a:defRPr>
            </a:pPr>
            <a:r>
              <a:rPr sz="825" b="1">
                <a:solidFill>
                  <a:srgbClr val="5D6675"/>
                </a:solidFill>
              </a:rPr>
              <a:t>05 · VALIDATION · ROBUSTNESS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BBACF-AE62-4CFF-82F4-0EFF33EB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1E5DD-21B9-4E32-AC2A-11F1BD51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4EA3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39D75-3BD3-4C22-84EB-2B53B3A8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B1CA5-5082-4754-AE60-1D438C6E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PAGE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63FA2-1B37-45B7-8A7A-6D470938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5"/>
                </a:solidFill>
              </a:defRPr>
            </a:pPr>
            <a:r>
              <a:rPr sz="1275" b="0">
                <a:solidFill>
                  <a:srgbClr val="5D6675"/>
                </a:solidFill>
              </a:rPr>
              <a:t>각 시드에서 전체 학습과 OOF 정책 생성을 다시 수행했습니다.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F4728-5E87-4FC2-9A09-745B92F7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2385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6F5F0-A374-43E2-B529-E259BC3A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857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EA35A"/>
          </a:solidFill>
          <a:ln xmlns:a="http://schemas.openxmlformats.org/drawingml/2006/main" w="9525">
            <a:solidFill>
              <a:srgbClr val="4EA3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88EBB-78AF-46D1-82BF-6DAE7FA5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704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SEED 310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1A98D-E69E-4104-9884-68971788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7622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B94A3"/>
                </a:solidFill>
              </a:defRPr>
            </a:pPr>
            <a:r>
              <a:rPr sz="2025" b="1">
                <a:solidFill>
                  <a:srgbClr val="8B94A3"/>
                </a:solidFill>
              </a:rPr>
              <a:t>91.7%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28C48-FCEF-4A53-896E-886744AE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762250"/>
            <a:ext cx="33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EA35A"/>
                </a:solidFill>
              </a:defRPr>
            </a:pPr>
            <a:r>
              <a:rPr sz="1800" b="1">
                <a:solidFill>
                  <a:srgbClr val="4EA35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56DF7-1117-4B22-9BB9-8C7C2227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62250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4EA35A"/>
                </a:solidFill>
              </a:defRPr>
            </a:pPr>
            <a:r>
              <a:rPr sz="2025" b="1">
                <a:solidFill>
                  <a:srgbClr val="4EA35A"/>
                </a:solidFill>
              </a:rPr>
              <a:t>96.6%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B608F-1A4A-4803-AB2B-62BEA4CB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81375"/>
            <a:ext cx="271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개선 +4.9%p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Fixed / Broken 50 / 1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McNemar p = 4.62e-14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B09A7-2BDC-4909-B5E8-F920B77B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47875"/>
            <a:ext cx="32385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2AC30-80EA-44FF-AC8F-3F3D2BF2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38375"/>
            <a:ext cx="857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EA35A"/>
          </a:solidFill>
          <a:ln xmlns:a="http://schemas.openxmlformats.org/drawingml/2006/main" w="9525">
            <a:solidFill>
              <a:srgbClr val="4EA3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708597-EB76-4400-9A2F-8F7AFB6C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47900"/>
            <a:ext cx="704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SEED 311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2B4F46-8CB5-48C2-8E28-B348E062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622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B94A3"/>
                </a:solidFill>
              </a:defRPr>
            </a:pPr>
            <a:r>
              <a:rPr sz="2025" b="1">
                <a:solidFill>
                  <a:srgbClr val="8B94A3"/>
                </a:solidFill>
              </a:rPr>
              <a:t>93.2%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0C4C2-6DED-4582-A634-5D3368A9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762250"/>
            <a:ext cx="33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EA35A"/>
                </a:solidFill>
              </a:defRPr>
            </a:pPr>
            <a:r>
              <a:rPr sz="1800" b="1">
                <a:solidFill>
                  <a:srgbClr val="4EA35A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2BDA84-5A07-4B54-92F8-DCDADC2D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62250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4EA35A"/>
                </a:solidFill>
              </a:defRPr>
            </a:pPr>
            <a:r>
              <a:rPr sz="2025" b="1">
                <a:solidFill>
                  <a:srgbClr val="4EA35A"/>
                </a:solidFill>
              </a:rPr>
              <a:t>96%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5E55CF-691A-49A5-9E20-6198419B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381375"/>
            <a:ext cx="271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개선 +2.8%p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Fixed / Broken 31 / 3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McNemar p = 7.66e-7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937E9-504E-4DFE-9593-80F95A84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47875"/>
            <a:ext cx="32385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B8FBD-320E-4DF9-A962-84E5BB59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38375"/>
            <a:ext cx="857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EA35A"/>
          </a:solidFill>
          <a:ln xmlns:a="http://schemas.openxmlformats.org/drawingml/2006/main" w="9525">
            <a:solidFill>
              <a:srgbClr val="4EA3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58816E-DBC7-4007-B436-D9C0331E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704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SEED 312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7DCEEE-A9DE-4778-A44F-669C8093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7622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B94A3"/>
                </a:solidFill>
              </a:defRPr>
            </a:pPr>
            <a:r>
              <a:rPr sz="2025" b="1">
                <a:solidFill>
                  <a:srgbClr val="8B94A3"/>
                </a:solidFill>
              </a:rPr>
              <a:t>92.1%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56F98E-466B-475F-BE6A-91BC3EB0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62250"/>
            <a:ext cx="333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EA35A"/>
                </a:solidFill>
              </a:defRPr>
            </a:pPr>
            <a:r>
              <a:rPr sz="1800" b="1">
                <a:solidFill>
                  <a:srgbClr val="4EA35A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EA427C-21E6-4748-8A2F-AEB54C06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0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4EA35A"/>
                </a:solidFill>
              </a:defRPr>
            </a:pPr>
            <a:r>
              <a:rPr sz="2025" b="1">
                <a:solidFill>
                  <a:srgbClr val="4EA35A"/>
                </a:solidFill>
              </a:rPr>
              <a:t>95.4%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372B97-8B89-4D8E-A12E-AB855E85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381375"/>
            <a:ext cx="271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개선 +3.3%p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Fixed / Broken 34 / 1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McNemar p = 2.10e-9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8920C5-F115-481C-B750-E5554BA2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3333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F4D25A-FA41-4EE9-80D3-ED6A8014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35A"/>
          </a:solidFill>
          <a:ln xmlns:a="http://schemas.openxmlformats.org/drawingml/2006/main" w="0">
            <a:solidFill>
              <a:srgbClr val="4EA3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AE593E-DDA9-438F-B566-722C753A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평균 Final Joint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EC2F95-399A-4485-BB4B-88F5A843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96.00 ± 0.60%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EC5A0A-126D-4299-9593-D31B47FF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2927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세 시드 모두 개선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95E487-7388-419D-8923-A1C4E5F6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05375"/>
            <a:ext cx="3333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94F468-72DF-4C6B-BBE7-69E6D5C0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0537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EDB"/>
          </a:solidFill>
          <a:ln xmlns:a="http://schemas.openxmlformats.org/drawingml/2006/main" w="0">
            <a:solidFill>
              <a:srgbClr val="3D8E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0DC20C-F4CB-44AC-9EC4-6BB19D2E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292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평균 개선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21B446-2CFC-42A3-AA8C-A554FEB8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768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+3.67 ± 1.10%p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C1004E-A22B-4EDC-94D5-E1E9E794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2927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모든 CI가 0 초과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E62DA8-7BC2-4D5B-B1FA-79E8E279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05375"/>
            <a:ext cx="35814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39AE92-7E76-4B62-8A53-B3292F01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0537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5BD"/>
          </a:solidFill>
          <a:ln xmlns:a="http://schemas.openxmlformats.org/drawingml/2006/main" w="0">
            <a:solidFill>
              <a:srgbClr val="9B55B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84D260-F63D-45E9-9EA7-BFEAE9C8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292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안전성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14D60D-2DFB-42FE-AD12-6759E273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768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Broken 1 / 3 / 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901C90-B9F8-4CF2-B049-2DA3EE60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629275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정답 보호 경향 반복</a:t>
            </a:r>
          </a:p>
        </p:txBody>
      </p:sp>
    </p:spTree>
    <p:extLst>
      <p:ext uri="{BB962C8B-B14F-4D97-AF65-F5344CB8AC3E}">
        <p14:creationId xmlns:p14="http://schemas.microsoft.com/office/powerpoint/2010/main" val="9864150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B227CA7-8A51-408B-AC78-6BB1C3B9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미사용 Wikimedia 최종 Holdout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3B80E-395F-4976-A03C-A49EF588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75"/>
                </a:solidFill>
              </a:defRPr>
            </a:pPr>
            <a:r>
              <a:rPr sz="825" b="1">
                <a:solidFill>
                  <a:srgbClr val="5D6675"/>
                </a:solidFill>
              </a:rPr>
              <a:t>05 · VALIDATION · FROZEN HOLDOUT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CBFFF-E05F-47A1-B22A-B23EABCA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0A666-B9EA-480B-A81C-7AECF108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9B55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5C79A-223B-44AD-9B94-CC10F189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50984-7B63-42F6-BEAF-FD370D96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PAGE 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FA280-B788-4484-BA7E-336F5AD4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75"/>
                </a:solidFill>
              </a:defRPr>
            </a:pPr>
            <a:r>
              <a:rPr sz="1275" b="0">
                <a:solidFill>
                  <a:srgbClr val="5D6675"/>
                </a:solidFill>
              </a:rPr>
              <a:t>결과를 본 뒤 고르지 않은 신규 300장을 source·license·SHA와 함께 동결해 평가했습니다.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9A783-5EED-4F0F-922F-7A8EC7AB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409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9958C-4B18-4BCF-AC5E-41685833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859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0AA6D-1E24-4348-A19B-1FA882B9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478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9D0C8-2ED1-46E9-9FC1-05DA7C06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85975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Base Joint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59FBF-6574-4FA7-B0FC-32877D8B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478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08258-D46E-45AE-80B4-FDC89D5B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85975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Final Joint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883B4-064C-4140-980D-40CA4A2F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478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5CDE5-AD8B-4C0B-BCD5-BD3A5351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85975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개선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97DEE-0B2C-4669-B0D0-874CB8E8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4787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F6CBA-2325-4CD8-81F5-46879A7A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85975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Fixed / Broken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1AAF1A-4CFE-4D33-B4BA-F0D5FB5C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47875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9525">
            <a:solidFill>
              <a:srgbClr val="1622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BB9B6-4049-4075-B538-6BCE425E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859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A0BACF-6326-4427-B68D-50BB2364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40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F441F5-646C-48B7-9DD4-E9EB8E2A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71750"/>
            <a:ext cx="1314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310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A60A41-8F16-4B67-8300-1A710BA8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0507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F77572-819E-4A55-A586-34ED8139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717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75.67%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6667D3-A3DA-4098-BEDD-6E8562AB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0507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D61619-FFDB-4F41-9CB0-78DBFFF1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717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B55BD"/>
                </a:solidFill>
              </a:defRPr>
            </a:pPr>
            <a:r>
              <a:rPr sz="1125" b="1">
                <a:solidFill>
                  <a:srgbClr val="9B55BD"/>
                </a:solidFill>
              </a:rPr>
              <a:t>86.67%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AAE19B-AF27-44A5-A512-52D9AA9B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0507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F9EED0-092F-473A-9343-C5EA1FE8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717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B55BD"/>
                </a:solidFill>
              </a:defRPr>
            </a:pPr>
            <a:r>
              <a:rPr sz="1125" b="1">
                <a:solidFill>
                  <a:srgbClr val="9B55BD"/>
                </a:solidFill>
              </a:rPr>
              <a:t>+11.00%p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85D055-76FC-49A8-979C-0F80B065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0507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AC88E1-135C-47B5-AA43-25A1EDAD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36 / 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BA7D38-6557-44EA-8780-5B86407C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05075"/>
            <a:ext cx="217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82A1AF-0F50-4A3F-8612-C3CFFC0E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71750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97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E721F3-EBC6-415E-9318-2BAD0FB4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40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0724C9-5B2A-4359-9AE6-D76EB34F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62300"/>
            <a:ext cx="1314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311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C53689-BE45-4655-9DC0-4C573F89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9562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DC1BD7-DD4B-4AA5-AA9C-A6F7B93E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6230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76.67%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B729DF-C884-4FE6-99CF-027EFF5C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E86AD2-D55A-437E-B669-BF5E6066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6230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B55BD"/>
                </a:solidFill>
              </a:defRPr>
            </a:pPr>
            <a:r>
              <a:rPr sz="1125" b="1">
                <a:solidFill>
                  <a:srgbClr val="9B55BD"/>
                </a:solidFill>
              </a:rPr>
              <a:t>84.33%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D8371A-9619-45AF-9707-8D7EB05E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9562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273D70-8648-4947-B515-59DA6EF7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6230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B55BD"/>
                </a:solidFill>
              </a:defRPr>
            </a:pPr>
            <a:r>
              <a:rPr sz="1125" b="1">
                <a:solidFill>
                  <a:srgbClr val="9B55BD"/>
                </a:solidFill>
              </a:rPr>
              <a:t>+7.67%p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5271F2-8609-4F99-8DF6-F15C8884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8B1535-07BF-4E0C-9C6B-60725F0B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6230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25 / 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A0618B-6546-47F2-BD05-3ED9B398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95625"/>
            <a:ext cx="217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6667AA-80AC-4172-A952-BC451B84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62300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92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070A90-3DCB-417C-A931-81815D07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40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3CD624-71BB-499C-BFEF-7B833206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52850"/>
            <a:ext cx="1314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312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41D535-8B20-411B-BE15-2371A34B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8617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B944AB-85DA-4458-B19C-31229C8C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528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77.00%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E8FD3D-5EB6-4640-B193-806D258B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7BEB46-0EC3-4C75-BFA9-9C2DF74D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528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B55BD"/>
                </a:solidFill>
              </a:defRPr>
            </a:pPr>
            <a:r>
              <a:rPr sz="1125" b="1">
                <a:solidFill>
                  <a:srgbClr val="9B55BD"/>
                </a:solidFill>
              </a:rPr>
              <a:t>84.67%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20FF41-CEB1-4C69-8A82-211CB634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8617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75DA944-360B-469A-A901-AED31483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528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B55BD"/>
                </a:solidFill>
              </a:defRPr>
            </a:pPr>
            <a:r>
              <a:rPr sz="1125" b="1">
                <a:solidFill>
                  <a:srgbClr val="9B55BD"/>
                </a:solidFill>
              </a:rPr>
              <a:t>+7.67%p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506188D-0E7A-49D9-85AC-1CB4BE1C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8617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E682D2-F9BA-4621-8EF1-54792486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528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24 / 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3B8F0F-8CF7-4713-941D-B67E71DD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86175"/>
            <a:ext cx="217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8F08B9-908A-405C-BB87-99E815F2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52850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96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7E82E6-4065-40D4-9A0E-EE5870BF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333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C107D8-8062-436D-A1F3-0287CE08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5BD"/>
          </a:solidFill>
          <a:ln xmlns:a="http://schemas.openxmlformats.org/drawingml/2006/main" w="0">
            <a:solidFill>
              <a:srgbClr val="9B55B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08DB374-E6A7-4A92-B45D-B570051A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8632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평균 Final Joint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645EEEB-B571-464D-9589-AA20919A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339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85.22%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B6D224-08A4-4391-8153-D9793464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864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Base 76.44%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EA66124-361B-4DC1-9AC6-5430B681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62500"/>
            <a:ext cx="3333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C60E1C7-7E57-462E-844D-985B54DF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625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35A"/>
          </a:solidFill>
          <a:ln xmlns:a="http://schemas.openxmlformats.org/drawingml/2006/main" w="0">
            <a:solidFill>
              <a:srgbClr val="4EA35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E7715C5-8061-4415-B61A-32F47609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8632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평균 개선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4987DD9-C4F7-474A-817A-9935EFA3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339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+8.78%p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01735B2-0488-4110-AAEC-91FB2623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864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세 시드 CI 모두 0 초과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692E745-79CE-4BA2-9901-6B1DEEC5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62500"/>
            <a:ext cx="35814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053B37F-F6ED-4E00-8803-581EF7D7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625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12"/>
          </a:solidFill>
          <a:ln xmlns:a="http://schemas.openxmlformats.org/drawingml/2006/main" w="0">
            <a:solidFill>
              <a:srgbClr val="D5A61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A69A074-A51E-4E64-A95B-FAEB0360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86325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675"/>
                </a:solidFill>
              </a:defRPr>
            </a:pPr>
            <a:r>
              <a:rPr sz="975" b="1">
                <a:solidFill>
                  <a:srgbClr val="5D6675"/>
                </a:solidFill>
              </a:rPr>
              <a:t>배포 시 관찰점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CA7A9BE-1EAC-4B9F-8545-04861B77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339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REVIEW 약 31.7%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6C261C9-9F3B-466E-BBD2-A08DA390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486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675"/>
                </a:solidFill>
              </a:defRPr>
            </a:pPr>
            <a:r>
              <a:rPr sz="825" b="0">
                <a:solidFill>
                  <a:srgbClr val="5D6675"/>
                </a:solidFill>
              </a:rPr>
              <a:t>분포 이동에서 검토 비용 증가</a:t>
            </a:r>
          </a:p>
        </p:txBody>
      </p:sp>
    </p:spTree>
    <p:extLst>
      <p:ext uri="{BB962C8B-B14F-4D97-AF65-F5344CB8AC3E}">
        <p14:creationId xmlns:p14="http://schemas.microsoft.com/office/powerpoint/2010/main" val="3377314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FF9B07-3977-4579-9FA0-4A241AD4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두 판단이 함께 틀린 사례의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F488A-FFFF-4BE6-A992-54B8EF64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75"/>
                </a:solidFill>
              </a:defRPr>
            </a:pPr>
            <a:r>
              <a:rPr sz="825" b="1">
                <a:solidFill>
                  <a:srgbClr val="5D6675"/>
                </a:solidFill>
              </a:rPr>
              <a:t>05 · VALIDATION · JOINT-ERROR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511C7-8A44-4FE8-9F31-B78AC284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BA3AF-E82A-4BAA-82A5-C163907C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9B55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32EF4-056E-40C7-9187-8B586883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5E9DD-FFA7-4EC1-B63D-7B9A3FF0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PAGE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AEC25-32BF-4C7D-9F4D-66221712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71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5"/>
                </a:solidFill>
              </a:defRPr>
            </a:pPr>
            <a:r>
              <a:rPr sz="1200" b="0">
                <a:solidFill>
                  <a:srgbClr val="5D6675"/>
                </a:solidFill>
              </a:rPr>
              <a:t>Fixed 40장 중 10장은 Parent와 Fine이 동시에 틀렸지만, 라벨 불일치가 아닌 위험 상태 탐지와 새 관측으로 복구했습니다.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62CE7-5340-4785-9EE1-73D17450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3337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eb22ee6774927"/>
          <a:srcRect xmlns:a="http://schemas.openxmlformats.org/drawingml/2006/main" l="0" t="9426" r="0" b="94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2114550"/>
            <a:ext cx="3105150" cy="1695450"/>
          </a:xfrm>
          <a:prstGeom xmlns:a="http://schemas.openxmlformats.org/drawingml/2006/main" prst="roundRect">
            <a:avLst>
              <a:gd name="adj" fmla="val 337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B2D67-90C4-4EDE-9CFC-48F26A9D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4A4A"/>
                </a:solidFill>
              </a:defRPr>
            </a:pPr>
            <a:r>
              <a:rPr sz="900" b="0">
                <a:solidFill>
                  <a:srgbClr val="C84A4A"/>
                </a:solidFill>
              </a:rPr>
              <a:t>기존  dog / german shepherd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9590F-7ED9-43BF-B4AC-50AB711D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A35A"/>
                </a:solidFill>
              </a:defRPr>
            </a:pPr>
            <a:r>
              <a:rPr sz="1200" b="1">
                <a:solidFill>
                  <a:srgbClr val="4EA35A"/>
                </a:solidFill>
              </a:rPr>
              <a:t>최종  horse/horse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B5B9B-21A5-4749-94CF-84DDE6C0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joint_tight · support 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BB73B-065F-4EA7-8D80-F328A478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33337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4cb979b7c48e2"/>
          <a:srcRect xmlns:a="http://schemas.openxmlformats.org/drawingml/2006/main" l="0" t="9131" r="0" b="91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0550" y="2114550"/>
            <a:ext cx="3105150" cy="1695450"/>
          </a:xfrm>
          <a:prstGeom xmlns:a="http://schemas.openxmlformats.org/drawingml/2006/main" prst="roundRect">
            <a:avLst>
              <a:gd name="adj" fmla="val 3371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AB9665-3D94-4D04-9D9D-FE02C7F1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433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4A4A"/>
                </a:solidFill>
              </a:defRPr>
            </a:pPr>
            <a:r>
              <a:rPr sz="900" b="0">
                <a:solidFill>
                  <a:srgbClr val="C84A4A"/>
                </a:solidFill>
              </a:rPr>
              <a:t>기존  dog / german shepherd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81719-578D-4BA3-860B-D23280EB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3862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A35A"/>
                </a:solidFill>
              </a:defRPr>
            </a:pPr>
            <a:r>
              <a:rPr sz="1200" b="1">
                <a:solidFill>
                  <a:srgbClr val="4EA35A"/>
                </a:solidFill>
              </a:rPr>
              <a:t>최종  dog_like/fox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CB3E3-CD4B-4836-A0BC-F31B5065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910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fine_disagreement · support 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CFAFA1-D8B5-41EB-A19A-8911E621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33337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f2ba802284494"/>
          <a:srcRect xmlns:a="http://schemas.openxmlformats.org/drawingml/2006/main" l="0" t="4395" r="0" b="43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2114550"/>
            <a:ext cx="3105150" cy="1695450"/>
          </a:xfrm>
          <a:prstGeom xmlns:a="http://schemas.openxmlformats.org/drawingml/2006/main" prst="roundRect">
            <a:avLst>
              <a:gd name="adj" fmla="val 3371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A9B3C6-261B-49FE-9B5C-10D1AE27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4A4A"/>
                </a:solidFill>
              </a:defRPr>
            </a:pPr>
            <a:r>
              <a:rPr sz="900" b="0">
                <a:solidFill>
                  <a:srgbClr val="C84A4A"/>
                </a:solidFill>
              </a:rPr>
              <a:t>기존  dog / fox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5FC582-3A64-4CC8-A859-87E14FA2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3862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A35A"/>
                </a:solidFill>
              </a:defRPr>
            </a:pPr>
            <a:r>
              <a:rPr sz="1200" b="1">
                <a:solidFill>
                  <a:srgbClr val="4EA35A"/>
                </a:solidFill>
              </a:rPr>
              <a:t>최종  deer/deer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E4C1CE-52B4-45E0-97C7-866A0610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910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5"/>
                </a:solidFill>
              </a:defRPr>
            </a:pPr>
            <a:r>
              <a:rPr sz="900" b="0">
                <a:solidFill>
                  <a:srgbClr val="5D6675"/>
                </a:solidFill>
              </a:rPr>
              <a:t>parent_disagreement · support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5EAA26-59F7-4E7C-9FF3-7FFF58D3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EAFB"/>
          </a:solidFill>
          <a:ln xmlns:a="http://schemas.openxmlformats.org/drawingml/2006/main" w="9525">
            <a:solidFill>
              <a:srgbClr val="9B55B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C2347B-B697-4007-826A-DC90C2DF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B55BD"/>
                </a:solidFill>
              </a:defRPr>
            </a:pPr>
            <a:r>
              <a:rPr sz="1275" b="1">
                <a:solidFill>
                  <a:srgbClr val="9B55BD"/>
                </a:solidFill>
              </a:rPr>
              <a:t>Parent-only 복구 14장  ·  Fine-only 복구 16장  ·  Parent/Fine 공동 오답 복구 10장  ·  전체 Fixed 40장</a:t>
            </a:r>
          </a:p>
        </p:txBody>
      </p:sp>
    </p:spTree>
    <p:extLst>
      <p:ext uri="{BB962C8B-B14F-4D97-AF65-F5344CB8AC3E}">
        <p14:creationId xmlns:p14="http://schemas.microsoft.com/office/powerpoint/2010/main" val="2542623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67157-1AC4-44DD-A5B9-0FFB88EA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검증된 주장과 확장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D5187-E6B7-4438-8158-0DB5D283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675"/>
                </a:solidFill>
              </a:defRPr>
            </a:pPr>
            <a:r>
              <a:rPr sz="825" b="1">
                <a:solidFill>
                  <a:srgbClr val="5D6675"/>
                </a:solidFill>
              </a:rPr>
              <a:t>05 · VALIDATION · CLAIMS &amp;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3A528-7F2C-4A7E-875D-1E096EAA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98811-ACC1-4F83-8287-9C53AE7F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8B94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E697C-8F24-4F62-AE34-6303C666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79301-357A-420F-937B-5AE7C971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B94A3"/>
                </a:solidFill>
              </a:defRPr>
            </a:pPr>
            <a:r>
              <a:rPr sz="675" b="0">
                <a:solidFill>
                  <a:srgbClr val="8B94A3"/>
                </a:solidFill>
              </a:rPr>
              <a:t>PAGE 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35806-29F9-4E68-A0FA-93D43368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276600" cy="3429000"/>
          </a:xfrm>
          <a:prstGeom xmlns:a="http://schemas.openxmlformats.org/drawingml/2006/main" prst="roundRect">
            <a:avLst>
              <a:gd name="adj" fmla="val 17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6CEB1-D7E0-41BF-A3F4-ABB3963C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2766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4EA35A"/>
          </a:solidFill>
          <a:ln xmlns:a="http://schemas.openxmlformats.org/drawingml/2006/main" w="9525">
            <a:solidFill>
              <a:srgbClr val="4EA3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19A37-B512-4173-9FB9-F0746C53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검증된 핵심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5E5BD-1BE5-4551-A83E-B8F0CD74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2819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Dual risk는 적은 REVIEW로 높은 오류 밀도 구성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Joint selector는 동일 후보 풀에서 +2.7%p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독립 실행 대비 Full Dual-Line +1.8%p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공동 오답 10장 복구로 단순 일관성 보정과 구분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3DADB-5CB8-47DA-ADC4-12D371EE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05000"/>
            <a:ext cx="3276600" cy="3429000"/>
          </a:xfrm>
          <a:prstGeom xmlns:a="http://schemas.openxmlformats.org/drawingml/2006/main" prst="roundRect">
            <a:avLst>
              <a:gd name="adj" fmla="val 17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5C15B-156D-450A-9EBD-EC95C8B2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05000"/>
            <a:ext cx="32766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5A612"/>
          </a:solidFill>
          <a:ln xmlns:a="http://schemas.openxmlformats.org/drawingml/2006/main" w="9525">
            <a:solidFill>
              <a:srgbClr val="D5A6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B5C80-0D88-4A11-91BC-FD0E28E3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97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현재 한계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8D42A-9208-4190-BB43-33661EEC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19375"/>
            <a:ext cx="2819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분포 이동 시 REVIEW 비율 증가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외부셋별 절대 이득의 크기는 다름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강한 백본을 항상 능가한다는 주장은 하지 않음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후보 생성과 선택기의 오류를 완전히 분리하지 못함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3CE88-4D95-4924-B28B-AA728333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3276600" cy="3429000"/>
          </a:xfrm>
          <a:prstGeom xmlns:a="http://schemas.openxmlformats.org/drawingml/2006/main" prst="roundRect">
            <a:avLst>
              <a:gd name="adj" fmla="val 17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C2E51-8A52-40EA-85FB-3A1DBBC4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32766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9B55BD"/>
          </a:solidFill>
          <a:ln xmlns:a="http://schemas.openxmlformats.org/drawingml/2006/main" w="9525">
            <a:solidFill>
              <a:srgbClr val="9B55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25238-DD16-49E8-893A-F8E34C58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97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확장 실험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6E35ED-3B0A-472C-9923-7B5D5EDC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19375"/>
            <a:ext cx="2819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Cross-branch activation steering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TEST1000 40/2 → 42/2, 96.2%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외부셋에서는 개선·유지·소폭 하락 혼재</a:t>
            </a:r>
          </a:p>
          <a:p xmlns:a="http://schemas.openxmlformats.org/drawingml/2006/main">
            <a:pPr algn="l">
              <a:defRPr sz="1125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• 본체가 아닌 검증 단계의 추가 모듈로 유지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F3292E-616C-475E-A10E-57E5CD95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04374-B830-433E-974E-C7767480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81675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결론: Dual-Line의 이득은 두 분류기를 보유하는 데서가 아니라, 서로 다른 판단 상태를 공동 해석해 재관측 예산과 전환 결정을 제어하는 데서 발생했습니다.</a:t>
            </a:r>
          </a:p>
        </p:txBody>
      </p:sp>
    </p:spTree>
    <p:extLst>
      <p:ext uri="{BB962C8B-B14F-4D97-AF65-F5344CB8AC3E}">
        <p14:creationId xmlns:p14="http://schemas.microsoft.com/office/powerpoint/2010/main" val="255668520"/>
      </p:ext>
    </p:extLst>
  </p:cSld>
</p:sld>
</file>

<file path=ppt/theme/theme1.xml><?xml version="1.0" encoding="utf-8"?>
<a:theme xmlns:a="http://schemas.openxmlformats.org/drawingml/2006/main" name="ChatGP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2026-08-06T06:52:33.2010000Z</dcterms:created>
  <dcterms:modified xsi:type="dcterms:W3CDTF">2026-08-06T06:52:33.2010000Z</dcterms:modified>
</coreProperties>
</file>