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7d984139a145ee" /><Relationship Type="http://schemas.openxmlformats.org/officeDocument/2006/relationships/extended-properties" Target="/docProps/app.xml" Id="Rc69b7cbe52b14f2c" /><Relationship Type="http://schemas.openxmlformats.org/officeDocument/2006/relationships/officeDocument" Target="/ppt/presentation.xml" Id="R4c9087935fc545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907ea6470442ca"/>
  </p:sldMasterIdLst>
  <p:notesMasterIdLst>
    <p:notesMasterId xmlns:r="http://schemas.openxmlformats.org/officeDocument/2006/relationships" r:id="Ra622652370eb448c"/>
  </p:notesMasterIdLst>
  <p:sldIdLst>
    <p:sldId xmlns:r="http://schemas.openxmlformats.org/officeDocument/2006/relationships" id="256" r:id="Rc7f5dae8f4a746ae"/>
    <p:sldId xmlns:r="http://schemas.openxmlformats.org/officeDocument/2006/relationships" id="257" r:id="R37e27a53a7a84032"/>
    <p:sldId xmlns:r="http://schemas.openxmlformats.org/officeDocument/2006/relationships" id="258" r:id="Ra6a69fedcc664264"/>
    <p:sldId xmlns:r="http://schemas.openxmlformats.org/officeDocument/2006/relationships" id="259" r:id="Rc39e0e75901f4748"/>
    <p:sldId xmlns:r="http://schemas.openxmlformats.org/officeDocument/2006/relationships" id="260" r:id="Rdac325b478134a18"/>
    <p:sldId xmlns:r="http://schemas.openxmlformats.org/officeDocument/2006/relationships" id="261" r:id="Rae349d97b47d4f55"/>
    <p:sldId xmlns:r="http://schemas.openxmlformats.org/officeDocument/2006/relationships" id="262" r:id="Rf57999770c654393"/>
    <p:sldId xmlns:r="http://schemas.openxmlformats.org/officeDocument/2006/relationships" id="263" r:id="R93080a38026442ce"/>
    <p:sldId xmlns:r="http://schemas.openxmlformats.org/officeDocument/2006/relationships" id="264" r:id="R739c14f803b84577"/>
    <p:sldId xmlns:r="http://schemas.openxmlformats.org/officeDocument/2006/relationships" id="265" r:id="R9761c623df324de7"/>
    <p:sldId xmlns:r="http://schemas.openxmlformats.org/officeDocument/2006/relationships" id="266" r:id="R7c603eb248974fb0"/>
    <p:sldId xmlns:r="http://schemas.openxmlformats.org/officeDocument/2006/relationships" id="267" r:id="R840f3add27ca4edf"/>
    <p:sldId xmlns:r="http://schemas.openxmlformats.org/officeDocument/2006/relationships" id="268" r:id="R568852c6fa4e48d7"/>
    <p:sldId xmlns:r="http://schemas.openxmlformats.org/officeDocument/2006/relationships" id="269" r:id="R68bfd28444624698"/>
    <p:sldId xmlns:r="http://schemas.openxmlformats.org/officeDocument/2006/relationships" id="270" r:id="Rd373e714e0604f56"/>
    <p:sldId xmlns:r="http://schemas.openxmlformats.org/officeDocument/2006/relationships" id="271" r:id="R8aafa2a4e0144d6b"/>
    <p:sldId xmlns:r="http://schemas.openxmlformats.org/officeDocument/2006/relationships" id="272" r:id="R8dd7349150c24f68"/>
    <p:sldId xmlns:r="http://schemas.openxmlformats.org/officeDocument/2006/relationships" id="273" r:id="R5e32ab6818ea4082"/>
    <p:sldId xmlns:r="http://schemas.openxmlformats.org/officeDocument/2006/relationships" id="274" r:id="R55fc890506d1491e"/>
    <p:sldId xmlns:r="http://schemas.openxmlformats.org/officeDocument/2006/relationships" id="275" r:id="Rff31a23f285c4c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1bd0603ade4a53" /><Relationship Type="http://schemas.openxmlformats.org/officeDocument/2006/relationships/slideMaster" Target="/ppt/slideMasters/slideMaster1.xml" Id="R46907ea6470442ca" /><Relationship Type="http://schemas.openxmlformats.org/officeDocument/2006/relationships/notesMaster" Target="/ppt/notesMasters/notesMaster1.xml" Id="Ra622652370eb448c" /><Relationship Type="http://schemas.openxmlformats.org/officeDocument/2006/relationships/presProps" Target="/ppt/presProps.xml" Id="R8ca748d408124aee" /><Relationship Type="http://schemas.openxmlformats.org/officeDocument/2006/relationships/tableStyles" Target="/ppt/tableStyles.xml" Id="R4e636fa6d720492f" /><Relationship Type="http://schemas.openxmlformats.org/officeDocument/2006/relationships/slide" Target="/ppt/slides/slide1.xml" Id="Rc7f5dae8f4a746ae" /><Relationship Type="http://schemas.openxmlformats.org/officeDocument/2006/relationships/slide" Target="/ppt/slides/slide2.xml" Id="R37e27a53a7a84032" /><Relationship Type="http://schemas.openxmlformats.org/officeDocument/2006/relationships/slide" Target="/ppt/slides/slide3.xml" Id="Ra6a69fedcc664264" /><Relationship Type="http://schemas.openxmlformats.org/officeDocument/2006/relationships/slide" Target="/ppt/slides/slide4.xml" Id="Rc39e0e75901f4748" /><Relationship Type="http://schemas.openxmlformats.org/officeDocument/2006/relationships/slide" Target="/ppt/slides/slide5.xml" Id="Rdac325b478134a18" /><Relationship Type="http://schemas.openxmlformats.org/officeDocument/2006/relationships/slide" Target="/ppt/slides/slide6.xml" Id="Rae349d97b47d4f55" /><Relationship Type="http://schemas.openxmlformats.org/officeDocument/2006/relationships/slide" Target="/ppt/slides/slide7.xml" Id="Rf57999770c654393" /><Relationship Type="http://schemas.openxmlformats.org/officeDocument/2006/relationships/slide" Target="/ppt/slides/slide8.xml" Id="R93080a38026442ce" /><Relationship Type="http://schemas.openxmlformats.org/officeDocument/2006/relationships/slide" Target="/ppt/slides/slide9.xml" Id="R739c14f803b84577" /><Relationship Type="http://schemas.openxmlformats.org/officeDocument/2006/relationships/slide" Target="/ppt/slides/slide10.xml" Id="R9761c623df324de7" /><Relationship Type="http://schemas.openxmlformats.org/officeDocument/2006/relationships/slide" Target="/ppt/slides/slide11.xml" Id="R7c603eb248974fb0" /><Relationship Type="http://schemas.openxmlformats.org/officeDocument/2006/relationships/slide" Target="/ppt/slides/slide12.xml" Id="R840f3add27ca4edf" /><Relationship Type="http://schemas.openxmlformats.org/officeDocument/2006/relationships/slide" Target="/ppt/slides/slide13.xml" Id="R568852c6fa4e48d7" /><Relationship Type="http://schemas.openxmlformats.org/officeDocument/2006/relationships/slide" Target="/ppt/slides/slide14.xml" Id="R68bfd28444624698" /><Relationship Type="http://schemas.openxmlformats.org/officeDocument/2006/relationships/slide" Target="/ppt/slides/slide15.xml" Id="Rd373e714e0604f56" /><Relationship Type="http://schemas.openxmlformats.org/officeDocument/2006/relationships/slide" Target="/ppt/slides/slide16.xml" Id="R8aafa2a4e0144d6b" /><Relationship Type="http://schemas.openxmlformats.org/officeDocument/2006/relationships/slide" Target="/ppt/slides/slide17.xml" Id="R8dd7349150c24f68" /><Relationship Type="http://schemas.openxmlformats.org/officeDocument/2006/relationships/slide" Target="/ppt/slides/slide18.xml" Id="R5e32ab6818ea4082" /><Relationship Type="http://schemas.openxmlformats.org/officeDocument/2006/relationships/slide" Target="/ppt/slides/slide19.xml" Id="R55fc890506d1491e" /><Relationship Type="http://schemas.openxmlformats.org/officeDocument/2006/relationships/slide" Target="/ppt/slides/slide20.xml" Id="Rff31a23f285c4c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d3e108052d49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a041c1b2c842c5" /><Relationship Type="http://schemas.openxmlformats.org/officeDocument/2006/relationships/notesMaster" Target="/ppt/notesMasters/notesMaster1.xml" Id="Rdbba6015f5094b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12491e4333497b" /><Relationship Type="http://schemas.openxmlformats.org/officeDocument/2006/relationships/notesMaster" Target="/ppt/notesMasters/notesMaster1.xml" Id="R76dc6e8e23c744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0cb7b7d06a4c2e" /><Relationship Type="http://schemas.openxmlformats.org/officeDocument/2006/relationships/notesMaster" Target="/ppt/notesMasters/notesMaster1.xml" Id="R2029c5c27d604c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409c67a2184885" /><Relationship Type="http://schemas.openxmlformats.org/officeDocument/2006/relationships/notesMaster" Target="/ppt/notesMasters/notesMaster1.xml" Id="R56485c55713144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da5d82c9364ae3" /><Relationship Type="http://schemas.openxmlformats.org/officeDocument/2006/relationships/notesMaster" Target="/ppt/notesMasters/notesMaster1.xml" Id="R95e4edb8074547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47fe6b442d40f5" /><Relationship Type="http://schemas.openxmlformats.org/officeDocument/2006/relationships/notesMaster" Target="/ppt/notesMasters/notesMaster1.xml" Id="Re1296d70e6ff48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e48c4d553f42a0" /><Relationship Type="http://schemas.openxmlformats.org/officeDocument/2006/relationships/notesMaster" Target="/ppt/notesMasters/notesMaster1.xml" Id="R5002cfcdb65846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6e4cd081264f84" /><Relationship Type="http://schemas.openxmlformats.org/officeDocument/2006/relationships/notesMaster" Target="/ppt/notesMasters/notesMaster1.xml" Id="Rceb6b55c043245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e3377f28df44f3" /><Relationship Type="http://schemas.openxmlformats.org/officeDocument/2006/relationships/notesMaster" Target="/ppt/notesMasters/notesMaster1.xml" Id="Rd19f28ced1ef4f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ecd5cca0a4460f" /><Relationship Type="http://schemas.openxmlformats.org/officeDocument/2006/relationships/notesMaster" Target="/ppt/notesMasters/notesMaster1.xml" Id="R6a2dc31cc3264c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9c8bbf66364eed" /><Relationship Type="http://schemas.openxmlformats.org/officeDocument/2006/relationships/notesMaster" Target="/ppt/notesMasters/notesMaster1.xml" Id="Re19c7627df0e49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d869ec65e34250" /><Relationship Type="http://schemas.openxmlformats.org/officeDocument/2006/relationships/notesMaster" Target="/ppt/notesMasters/notesMaster1.xml" Id="Rec78591c1a9646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193bda9e7d461f" /><Relationship Type="http://schemas.openxmlformats.org/officeDocument/2006/relationships/notesMaster" Target="/ppt/notesMasters/notesMaster1.xml" Id="R87af27f3e4f5447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273d6ed0304156" /><Relationship Type="http://schemas.openxmlformats.org/officeDocument/2006/relationships/notesMaster" Target="/ppt/notesMasters/notesMaster1.xml" Id="R90ab53d196b942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fe31396e384e21" /><Relationship Type="http://schemas.openxmlformats.org/officeDocument/2006/relationships/notesMaster" Target="/ppt/notesMasters/notesMaster1.xml" Id="Rd05267ac6e8a49c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d7ec9ff9f994a4f" /><Relationship Type="http://schemas.openxmlformats.org/officeDocument/2006/relationships/notesMaster" Target="/ppt/notesMasters/notesMaster1.xml" Id="Rb8ed82f5900e44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f2209667549433f" /><Relationship Type="http://schemas.openxmlformats.org/officeDocument/2006/relationships/notesMaster" Target="/ppt/notesMasters/notesMaster1.xml" Id="R12c63ba60e784a6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a7ddfd1c6cc48c0" /><Relationship Type="http://schemas.openxmlformats.org/officeDocument/2006/relationships/notesMaster" Target="/ppt/notesMasters/notesMaster1.xml" Id="R8043f61a70f7426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680eceabc004c0e" /><Relationship Type="http://schemas.openxmlformats.org/officeDocument/2006/relationships/notesMaster" Target="/ppt/notesMasters/notesMaster1.xml" Id="R8bc72a2f5b364c5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48554a853de4c16" /><Relationship Type="http://schemas.openxmlformats.org/officeDocument/2006/relationships/notesMaster" Target="/ppt/notesMasters/notesMaster1.xml" Id="Re8dcd112e3c64e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bacb14c9354b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79a9d4db1d46b5" /><Relationship Type="http://schemas.openxmlformats.org/officeDocument/2006/relationships/slideLayout" Target="/ppt/slideLayouts/slideLayout1.xml" Id="R3ab0b248fb9641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b0b248fb9641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dabeddfc04ed0" /><Relationship Type="http://schemas.openxmlformats.org/officeDocument/2006/relationships/notesSlide" Target="/ppt/notesSlides/notesSlide1.xml" Id="Rc361a3068a9047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d0c85cda74148" /><Relationship Type="http://schemas.openxmlformats.org/officeDocument/2006/relationships/notesSlide" Target="/ppt/notesSlides/notesSlide2.xml" Id="R7c13959e7f3f4e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b799a4a2245b1" /><Relationship Type="http://schemas.openxmlformats.org/officeDocument/2006/relationships/notesSlide" Target="/ppt/notesSlides/notesSlide3.xml" Id="R98b4719f8eb246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2e15eb4d5468c" /><Relationship Type="http://schemas.openxmlformats.org/officeDocument/2006/relationships/notesSlide" Target="/ppt/notesSlides/notesSlide4.xml" Id="R082c7b45988841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56a886cf64a68" /><Relationship Type="http://schemas.openxmlformats.org/officeDocument/2006/relationships/notesSlide" Target="/ppt/notesSlides/notesSlide5.xml" Id="R3d267115d1ec4e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4eabe035545e4" /><Relationship Type="http://schemas.openxmlformats.org/officeDocument/2006/relationships/notesSlide" Target="/ppt/notesSlides/notesSlide6.xml" Id="Re24c6a69954349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14933c8cd4894" /><Relationship Type="http://schemas.openxmlformats.org/officeDocument/2006/relationships/notesSlide" Target="/ppt/notesSlides/notesSlide7.xml" Id="R8c90ef0a924a41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c868616e24a41" /><Relationship Type="http://schemas.openxmlformats.org/officeDocument/2006/relationships/notesSlide" Target="/ppt/notesSlides/notesSlide8.xml" Id="R21ac72840a024f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ab5f042cf46b7" /><Relationship Type="http://schemas.openxmlformats.org/officeDocument/2006/relationships/notesSlide" Target="/ppt/notesSlides/notesSlide9.xml" Id="R81f96ba9553442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7388109874ac9" /><Relationship Type="http://schemas.openxmlformats.org/officeDocument/2006/relationships/notesSlide" Target="/ppt/notesSlides/notesSlide10.xml" Id="R847caa7688d848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f67b6a4c2431e" /><Relationship Type="http://schemas.openxmlformats.org/officeDocument/2006/relationships/notesSlide" Target="/ppt/notesSlides/notesSlide11.xml" Id="R8cdead22f59144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bc739f5a3445e" /><Relationship Type="http://schemas.openxmlformats.org/officeDocument/2006/relationships/image" Target="/ppt/media/image.jpeg" Id="Rb688ebb76de44d70" /><Relationship Type="http://schemas.openxmlformats.org/officeDocument/2006/relationships/notesSlide" Target="/ppt/notesSlides/notesSlide12.xml" Id="R85cc9cabff2f4f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29dfdfdd44760" /><Relationship Type="http://schemas.openxmlformats.org/officeDocument/2006/relationships/notesSlide" Target="/ppt/notesSlides/notesSlide13.xml" Id="Rc52ddbf70dbf47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11b4f75a7472b" /><Relationship Type="http://schemas.openxmlformats.org/officeDocument/2006/relationships/notesSlide" Target="/ppt/notesSlides/notesSlide14.xml" Id="R18d6697d092749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69663bb594db9" /><Relationship Type="http://schemas.openxmlformats.org/officeDocument/2006/relationships/notesSlide" Target="/ppt/notesSlides/notesSlide15.xml" Id="R6edb729311a142f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6859d16064f38" /><Relationship Type="http://schemas.openxmlformats.org/officeDocument/2006/relationships/notesSlide" Target="/ppt/notesSlides/notesSlide16.xml" Id="R60d56dc9228043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92ba743954299" /><Relationship Type="http://schemas.openxmlformats.org/officeDocument/2006/relationships/notesSlide" Target="/ppt/notesSlides/notesSlide17.xml" Id="R297ea09b03e54f5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404cf57d44862" /><Relationship Type="http://schemas.openxmlformats.org/officeDocument/2006/relationships/image" Target="/ppt/media/image2.jpeg" Id="Rb49c28167f9f444c" /><Relationship Type="http://schemas.openxmlformats.org/officeDocument/2006/relationships/image" Target="/ppt/media/image3.jpeg" Id="R99aa0bcb1fac4048" /><Relationship Type="http://schemas.openxmlformats.org/officeDocument/2006/relationships/image" Target="/ppt/media/image4.jpeg" Id="R1a142904913f49a9" /><Relationship Type="http://schemas.openxmlformats.org/officeDocument/2006/relationships/notesSlide" Target="/ppt/notesSlides/notesSlide18.xml" Id="R39f2e6cb351f4b8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1e92ed0be4cef" /><Relationship Type="http://schemas.openxmlformats.org/officeDocument/2006/relationships/notesSlide" Target="/ppt/notesSlides/notesSlide19.xml" Id="R351bc1c74340461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e27fb71a74bac" /><Relationship Type="http://schemas.openxmlformats.org/officeDocument/2006/relationships/notesSlide" Target="/ppt/notesSlides/notesSlide20.xml" Id="Rc1d494316c5242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1149CB-9232-499B-9EE6-E4A1E98E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5250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2F8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AE9AA-59FD-4A80-A900-F04DD95C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243A"/>
                </a:solidFill>
              </a:defRPr>
            </a:pPr>
            <a:r>
              <a:rPr sz="4200" b="1">
                <a:solidFill>
                  <a:srgbClr val="17243A"/>
                </a:solidFill>
              </a:rPr>
              <a:t>Dual-Line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CBE26-7026-49B5-9B15-9C029534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923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선택적 재관측 기반 이미지 분류 시스템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791A2-AC57-4D22-8819-44371D6F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35064"/>
                </a:solidFill>
              </a:defRPr>
            </a:pPr>
            <a:r>
              <a:rPr sz="1650" b="0">
                <a:solidFill>
                  <a:srgbClr val="435064"/>
                </a:solidFill>
              </a:rPr>
              <a:t>독립적인 Parent/Fine 판단 상태를 공동 해석해 오류 위험을 찾고,</a:t>
            </a:r>
          </a:p>
          <a:p xmlns:a="http://schemas.openxmlformats.org/drawingml/2006/main">
            <a:pPr algn="l">
              <a:defRPr sz="1650" b="0">
                <a:solidFill>
                  <a:srgbClr val="435064"/>
                </a:solidFill>
              </a:defRPr>
            </a:pPr>
            <a:r>
              <a:rPr sz="1650" b="0">
                <a:solidFill>
                  <a:srgbClr val="435064"/>
                </a:solidFill>
              </a:rPr>
              <a:t>필요한 입력만 다시 관측한 뒤 안전하게 전환하는 추론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7147C-E539-4C3A-9F28-6D674726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2F80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57616-472F-4BA1-B47A-45E15E77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공간 표현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21AA6-EDF0-485F-98F6-C4317DE7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C8950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1EFBA-A240-4188-9D94-EC8C10BD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위험 탐지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C987A-4D33-43D0-A279-EB95B51B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8A4DB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ADCCC-088B-41F1-A1EB-B6F2367B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91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전환 승인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53749-3D41-40A8-B2D9-FA6782AD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596"/>
                </a:solidFill>
              </a:defRPr>
            </a:pPr>
            <a:r>
              <a:rPr sz="1050" b="0">
                <a:solidFill>
                  <a:srgbClr val="7A8596"/>
                </a:solidFill>
              </a:rPr>
              <a:t>Computer Vision · PyTorch · ResNet18 / DINOv2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537C4-2CED-40B0-B574-CB772DD9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596"/>
                </a:solidFill>
              </a:defRPr>
            </a:pPr>
            <a:r>
              <a:rPr sz="1050" b="0">
                <a:solidFill>
                  <a:srgbClr val="7A8596"/>
                </a:solidFill>
              </a:rPr>
              <a:t>이준우 · AI / Computer Vision Engineer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042C3-C41B-4811-9A22-69A33C83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19125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F80D0"/>
                </a:solidFill>
              </a:defRPr>
            </a:pPr>
            <a:r>
              <a:rPr sz="975" b="0">
                <a:solidFill>
                  <a:srgbClr val="2F80D0"/>
                </a:solidFill>
              </a:rPr>
              <a:t>github.com/winder34/dual-line-perception-judgment</a:t>
            </a:r>
          </a:p>
        </p:txBody>
      </p:sp>
    </p:spTree>
    <p:extLst>
      <p:ext uri="{BB962C8B-B14F-4D97-AF65-F5344CB8AC3E}">
        <p14:creationId xmlns:p14="http://schemas.microsoft.com/office/powerpoint/2010/main" val="20868224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6F365C-48D6-44E2-8C8E-588BD0F5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기술 포트폴리오 구성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12C1B-0AC2-4E77-BB59-A3173186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CONTENTS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5FDB6-2370-4746-B4B5-19680305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B65DB-3462-42FC-9F79-8A3E78D9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F8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0C6F8-1FAD-4B47-9836-7E770F3E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5DDCB-7BBB-46F6-9A19-283CF20B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056CC-4493-4835-A2FA-09E3D0A7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95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F80D0"/>
          </a:solidFill>
          <a:ln xmlns:a="http://schemas.openxmlformats.org/drawingml/2006/main" w="0">
            <a:solidFill>
              <a:srgbClr val="2F80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28A04-C0EB-41A2-A53B-6205A0F3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641DD-1B23-4A73-B749-3BA8FAD7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19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문제와 가설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73DCC-0AF5-492B-9ABF-E320F7EF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064"/>
                </a:solidFill>
              </a:defRPr>
            </a:pPr>
            <a:r>
              <a:rPr sz="1275" b="0">
                <a:solidFill>
                  <a:srgbClr val="435064"/>
                </a:solidFill>
              </a:rPr>
              <a:t>Parent/Fine 독립 표현이 필요한 이유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63B49-B055-4BFA-8C30-72096058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61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03–04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9F151-996F-4662-9A0B-1E4D5632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24075"/>
            <a:ext cx="100774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4C4D0-A362-49EE-B7AA-623638C4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95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09552"/>
          </a:solidFill>
          <a:ln xmlns:a="http://schemas.openxmlformats.org/drawingml/2006/main" w="0">
            <a:solidFill>
              <a:srgbClr val="4095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34C5C-E4FF-4F3B-ADED-6FBC4061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8DA4D-383C-4914-84C4-EB358314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시스템 설계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2E6A1-6EDB-4EAF-8915-DA01BE54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574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064"/>
                </a:solidFill>
              </a:defRPr>
            </a:pPr>
            <a:r>
              <a:rPr sz="1275" b="0">
                <a:solidFill>
                  <a:srgbClr val="435064"/>
                </a:solidFill>
              </a:rPr>
              <a:t>학습 경계와 모듈별 계산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A51D1-A97B-459B-B2EB-DAA9994E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574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05–11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D5AEF-D919-4B01-BC18-14C59F41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62275"/>
            <a:ext cx="100774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17829B-5619-44C2-9005-281085C2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495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8A4DB0"/>
          </a:solidFill>
          <a:ln xmlns:a="http://schemas.openxmlformats.org/drawingml/2006/main" w="0">
            <a:solidFill>
              <a:srgbClr val="8A4D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BBB33-4329-4E28-9689-75F1A8E0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0E799-4823-45A7-BC63-CD58738D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실행과 판단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94CCC9-782D-47B1-927E-B76375A5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956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064"/>
                </a:solidFill>
              </a:defRPr>
            </a:pPr>
            <a:r>
              <a:rPr sz="1275" b="0">
                <a:solidFill>
                  <a:srgbClr val="435064"/>
                </a:solidFill>
              </a:rPr>
              <a:t>라벨 없는 추론과 전환 감사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D26048-7505-4960-A127-02B612D7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956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12–13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B1A6D4-F87E-49E7-9E33-ACA35AE8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100774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CBC0E7-E30B-4201-82AC-AFA07FDF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95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C8950D"/>
          </a:solidFill>
          <a:ln xmlns:a="http://schemas.openxmlformats.org/drawingml/2006/main" w="0">
            <a:solidFill>
              <a:srgbClr val="C8950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767A9F-BD59-4163-8776-3A68C22C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FF43AF-3F3C-428F-86B0-CF4550A5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검증과 해석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08467B-0B7A-42F6-965E-DE666ACB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338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064"/>
                </a:solidFill>
              </a:defRPr>
            </a:pPr>
            <a:r>
              <a:rPr sz="1275" b="0">
                <a:solidFill>
                  <a:srgbClr val="435064"/>
                </a:solidFill>
              </a:rPr>
              <a:t>대조군·외부셋·시드·사례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0105FC-A76C-4237-9E0C-799A9533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338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14–19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0189C0-E22C-47F1-8C99-36045736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38675"/>
            <a:ext cx="100774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9A1F51-063F-4998-81BF-2E963D21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95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8B95A5"/>
          </a:solidFill>
          <a:ln xmlns:a="http://schemas.openxmlformats.org/drawingml/2006/main" w="0">
            <a:solidFill>
              <a:srgbClr val="8B95A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A2474F-6D18-47F2-977D-9197A15A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732102-DDB8-45DA-9EA3-61D0F021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한계와 확장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898812-380B-40E7-A0E4-C81F23A2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720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064"/>
                </a:solidFill>
              </a:defRPr>
            </a:pPr>
            <a:r>
              <a:rPr sz="1275" b="0">
                <a:solidFill>
                  <a:srgbClr val="435064"/>
                </a:solidFill>
              </a:rPr>
              <a:t>확인된 범위와 다음 실험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F3A939-D8AF-466C-95B4-E55BCA9F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720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8596"/>
                </a:solidFill>
              </a:defRPr>
            </a:pPr>
            <a:r>
              <a:rPr sz="1125" b="1">
                <a:solidFill>
                  <a:srgbClr val="7A8596"/>
                </a:solidFill>
              </a:rPr>
              <a:t>20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4F6789-FB2F-4984-A4EA-F2B5280C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100774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646E14-735D-4A91-AC2A-076BAA0B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596"/>
                </a:solidFill>
              </a:defRPr>
            </a:pPr>
            <a:r>
              <a:rPr sz="975" b="0">
                <a:solidFill>
                  <a:srgbClr val="7A8596"/>
                </a:solidFill>
              </a:rPr>
              <a:t>색은 모듈 역할만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14667218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20FE05-91B2-4728-862A-059F0569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하위 정답이 상위 정답을 보장하지 않았다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17E76-E76C-4823-96DD-CEFB2AD5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01 · PROBLEM &amp; HYPOTHESIS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750FD-2C29-46E1-BC07-5C26EB57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621E1-F529-4C2C-9FEB-1C070A21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F8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99DEF-652B-44AA-87ED-4CA1723C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3165E-C741-4C95-B1FF-E8D270A2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BA5BD-2DD0-43E0-9FC6-7A12E31C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</a:defRPr>
            </a:pPr>
            <a:r>
              <a:rPr sz="1650" b="1">
                <a:solidFill>
                  <a:srgbClr val="17243A"/>
                </a:solidFill>
              </a:rPr>
              <a:t>상위와 하위는 의미상 계층이지만, 분류 손실은 각 과업의 차이를 학습한다.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5D52E-CEE1-42A0-AAB3-611A33E0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2F80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EB3BC-EF98-44C2-B928-94B5A43C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Parent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ED2BD-0AEC-4FE9-849E-A7886428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공통 정체성에 유리한 분포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07443-B5EF-4EA2-B284-73D90F34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80D0"/>
                </a:solidFill>
              </a:defRPr>
            </a:pPr>
            <a:r>
              <a:rPr sz="2850" b="1">
                <a:solidFill>
                  <a:srgbClr val="2F80D0"/>
                </a:solidFill>
              </a:rPr>
              <a:t>95.9%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AE9D4-FAF2-4371-9DA9-29656565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52650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4095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783C7-3755-478C-A4A3-4A833E3D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62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Fine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56B47-6AB3-4EC8-9E3D-7197BAE2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14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세부 구분에 유리한 분포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251DB-B191-4EEA-860C-076B0455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38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09552"/>
                </a:solidFill>
              </a:defRPr>
            </a:pPr>
            <a:r>
              <a:rPr sz="2850" b="1">
                <a:solidFill>
                  <a:srgbClr val="409552"/>
                </a:solidFill>
              </a:rPr>
              <a:t>93.8%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F68DE-D6C2-4FB4-AAFE-B112A53C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52650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8A4DB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0F531-123C-41B1-BFD7-C5BAC834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62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공동 정답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3E7C2-6E63-4073-95F2-976797F9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14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두 판단이 동시에 맞는 비율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8A4143-3757-4A8C-979E-200D5AD2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38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A4DB0"/>
                </a:solidFill>
              </a:defRPr>
            </a:pPr>
            <a:r>
              <a:rPr sz="2850" b="1">
                <a:solidFill>
                  <a:srgbClr val="8A4DB0"/>
                </a:solidFill>
              </a:rPr>
              <a:t>92.2%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300275-6C3C-4C52-AC87-ED304BBB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BA0CCF-F708-41DC-A384-CECA3E91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D0"/>
                </a:solidFill>
              </a:defRPr>
            </a:pPr>
            <a:r>
              <a:rPr sz="1350" b="1">
                <a:solidFill>
                  <a:srgbClr val="2F80D0"/>
                </a:solidFill>
              </a:rPr>
              <a:t>가설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BFE6F8-83E5-4533-908F-F9A5C031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3387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두 분류기를 계층적으로 종속시키지 않고 독립 상태로 유지한 뒤, 중앙 판단기가 두 상태의 관계를 해석하면</a:t>
            </a:r>
          </a:p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각 과업에서 약화된 증거를 재관측과 후보 선택에 활용할 수 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728F4D-25C6-4A00-BDA9-DEF6D0A7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596"/>
                </a:solidFill>
              </a:defRPr>
            </a:pPr>
            <a:r>
              <a:rPr sz="1050" b="0">
                <a:solidFill>
                  <a:srgbClr val="7A8596"/>
                </a:solidFill>
              </a:rPr>
              <a:t>관찰된 상태: Parent-only 29 · Fine-only 12 · Both wrong 17 (독립 재관측 후)</a:t>
            </a:r>
          </a:p>
        </p:txBody>
      </p:sp>
    </p:spTree>
    <p:extLst>
      <p:ext uri="{BB962C8B-B14F-4D97-AF65-F5344CB8AC3E}">
        <p14:creationId xmlns:p14="http://schemas.microsoft.com/office/powerpoint/2010/main" val="18065514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5BEE99-2C2D-4334-9BE9-2CCE9EE7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두 분류기의 상태를 통합 판단 신호로 사용했다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2B9EA-DCF1-4681-A0EC-3BBDD8F6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01 · SYSTEM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36F02-441A-4FCD-828F-0C032DA3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162E7-682A-4FA8-8B74-8EEA4535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F8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D9326-C96A-4323-9807-A7B830E5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A9A9C-80E3-4FA0-836F-6A150D1A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E4E21-FE19-4EE1-8D30-0755907F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064"/>
                </a:solidFill>
              </a:defRPr>
            </a:pPr>
            <a:r>
              <a:rPr sz="1425" b="0">
                <a:solidFill>
                  <a:srgbClr val="435064"/>
                </a:solidFill>
              </a:rPr>
              <a:t>Dual-Line의 이득은 두 모델을 보유하는 데서가 아니라, 서로 다른 판단 상태를 함께 해석하는 데서 발생한다.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9A7D2-F838-4112-867C-05E736EE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71750"/>
            <a:ext cx="1428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E762C-8011-4A38-B5A6-A3059BB8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24300"/>
            <a:ext cx="1428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47356-E6B6-48BC-864A-583DDA02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48025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8BA59-F11D-4BF7-A72F-6527FD10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1714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BD43A-04D4-4BAA-BB88-5D28D9D4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2192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18B29-DFAD-4D68-9E19-4CE13D26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21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Image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0EC8F-8E77-4D9A-99E8-306ABDE6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43125"/>
            <a:ext cx="2333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2F80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EDB52-A621-49A4-AC87-0DBE06D7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43125"/>
            <a:ext cx="2333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Parent branch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공통 정체성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4F1EE-1C53-42A1-9449-8400AC6A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95675"/>
            <a:ext cx="2333625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4095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ABF7A-05B7-40F1-A444-1E8C1FC7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95675"/>
            <a:ext cx="2333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Fine branch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세부 구분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3B76AD-6100-4FE2-AFFC-C91FC2F2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2047875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C8950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A4071-4D1E-435A-B9FA-F58C9590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2047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Joint state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Risk ranking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9BB049-D2C3-4F28-BD32-B31BFB42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05125"/>
            <a:ext cx="9334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EAFB"/>
          </a:solidFill>
          <a:ln xmlns:a="http://schemas.openxmlformats.org/drawingml/2006/main" w="9525">
            <a:solidFill>
              <a:srgbClr val="8A4DB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D41C5-60E1-431B-BC9F-DB6D4850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05125"/>
            <a:ext cx="933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KEEP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B4F882-6B7F-4C63-B989-43B6D28C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Agreement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C77842-4952-4AD6-8A65-E7FF8367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둘 다 같은 결론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F0295B-A7BF-4A11-96EE-AA6D2E65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53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Parent-only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4890C5-A6ED-43A2-9B33-F02015CF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482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상위만 유효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8C5CB9-CCFA-4132-80A1-981F08D7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53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43A"/>
                </a:solidFill>
              </a:defRPr>
            </a:pPr>
            <a:r>
              <a:rPr sz="1200" b="1">
                <a:solidFill>
                  <a:srgbClr val="17243A"/>
                </a:solidFill>
              </a:rPr>
              <a:t>Fine-only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8E0437-D7DB-4E1D-93E6-DB7FCD58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482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하위만 유효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9F9E66-2090-40DE-A42B-CA688D61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53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4949"/>
                </a:solidFill>
              </a:defRPr>
            </a:pPr>
            <a:r>
              <a:rPr sz="1200" b="1">
                <a:solidFill>
                  <a:srgbClr val="C44949"/>
                </a:solidFill>
              </a:rPr>
              <a:t>Conflict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5D4653-26A2-4CFC-AE08-1A95191F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482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둘 다 위험/불일치</a:t>
            </a:r>
          </a:p>
        </p:txBody>
      </p:sp>
    </p:spTree>
    <p:extLst>
      <p:ext uri="{BB962C8B-B14F-4D97-AF65-F5344CB8AC3E}">
        <p14:creationId xmlns:p14="http://schemas.microsoft.com/office/powerpoint/2010/main" val="10829757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E296B8-7EE0-4D8F-B4B2-FBB802A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OOF 증거로 학습과 평가 경계를 분리했다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D9C75-A6A2-4B2B-9036-F29F9BCA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02 · TRAIN / OOF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2C16C-93AD-4BFC-A1CD-BA5A0C65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3C3FB-BB93-4399-888E-CD31031A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4095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440E1-530D-4A17-A71B-B301D849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016C5-0CED-4CC0-B012-C681E53E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424F4-1FFC-48E7-81CF-4A30AB0E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35064"/>
                </a:solidFill>
              </a:defRPr>
            </a:pPr>
            <a:r>
              <a:rPr sz="1425" b="0">
                <a:solidFill>
                  <a:srgbClr val="435064"/>
                </a:solidFill>
              </a:rPr>
              <a:t>학습 라벨은 아티팩트 생성에만 사용하며, TEST는 모델·임계값·정책 선택에 관여하지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1EB76-E692-4A40-94D5-097141A3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7241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95A5"/>
                </a:solidFill>
              </a:defRPr>
            </a:pPr>
            <a:r>
              <a:rPr sz="1875" b="1">
                <a:solidFill>
                  <a:srgbClr val="8B95A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08726-1A16-4A4E-8E8B-F99CBE22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333625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39941-BBCC-492C-ACC6-0337FFB6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400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F80D0"/>
          </a:solidFill>
          <a:ln xmlns:a="http://schemas.openxmlformats.org/drawingml/2006/main" w="0">
            <a:solidFill>
              <a:srgbClr val="2F8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571ED-A0AB-4904-9213-71D9A0C6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2C27E-3B73-48E3-B84B-050F4C78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TRAIN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48370-D5B2-49D8-881E-451F3819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이미지 + 라벨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94809-BCF8-47C8-82F8-372BFC7B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241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95A5"/>
                </a:solidFill>
              </a:defRPr>
            </a:pPr>
            <a:r>
              <a:rPr sz="1875" b="1">
                <a:solidFill>
                  <a:srgbClr val="8B95A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31161-D35F-40E6-838B-AA4F9DDF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2333625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FD07E4-404B-4C9B-A923-C2893CD3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05050"/>
            <a:ext cx="400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09552"/>
          </a:solidFill>
          <a:ln xmlns:a="http://schemas.openxmlformats.org/drawingml/2006/main" w="0">
            <a:solidFill>
              <a:srgbClr val="4095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A30DA-B61E-4D70-AC0E-519BDEB7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05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C0CEE1-C60A-4DB6-A05F-2D874E66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5-Fold 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F9358-8B40-4CA1-AEB1-F28AF514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670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미관측 TRAIN 예측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745B3-D78E-48D5-B4DE-B1262AF1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7241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95A5"/>
                </a:solidFill>
              </a:defRPr>
            </a:pPr>
            <a:r>
              <a:rPr sz="1875" b="1">
                <a:solidFill>
                  <a:srgbClr val="8B95A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285ECC-837C-426B-9A93-63036F68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43125"/>
            <a:ext cx="2333625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A20D24-C5D0-4962-A173-937BC767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400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C8950D"/>
          </a:solidFill>
          <a:ln xmlns:a="http://schemas.openxmlformats.org/drawingml/2006/main" w="0">
            <a:solidFill>
              <a:srgbClr val="C8950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FD8E45-200C-4A00-B397-3BD4E371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34B1BE-E0D0-485A-9AB5-0ACF8D4C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860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Artifacts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EDA110-7C60-46DC-8C2F-05423ACC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670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profile · risk · correction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6B5541-7B21-4BA4-B563-EAF6F907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43125"/>
            <a:ext cx="2333625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51BC5F-82A8-4440-84DC-C3D05EA7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05050"/>
            <a:ext cx="400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8A4DB0"/>
          </a:solidFill>
          <a:ln xmlns:a="http://schemas.openxmlformats.org/drawingml/2006/main" w="0">
            <a:solidFill>
              <a:srgbClr val="8A4DB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BC5205-0FDC-4380-A94D-14CBAA1E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05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571E21-B643-48E7-82D9-22A0E191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860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Frozen runtime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B1190A-42C5-40E3-87E1-ED7F384F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670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라벨 없는 추론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D161B2-316F-4F77-B6F7-6BEF7E2A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820400" cy="147637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21B558-F320-47B4-A96B-D80CFFC4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9552"/>
                </a:solidFill>
              </a:defRPr>
            </a:pPr>
            <a:r>
              <a:rPr sz="1350" b="1">
                <a:solidFill>
                  <a:srgbClr val="409552"/>
                </a:solidFill>
              </a:rPr>
              <a:t>검증 계약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330564-54B9-4DB4-9831-729BFDA2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7096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• TEST 라벨은 모든 런타임 결정이 끝난 뒤 감사 단계에서만 결합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• TRAIN-OOF에서 REVIEW threshold와 correction 정책을 고정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• 동일 백본·후보 풀·예산 비교와 독립 서비스형 대조군을 분리 수행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21F168-95EF-4115-A1E8-793D4006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338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10A016-DE66-453F-AD5E-C1DF146D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481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반복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0E4E74-D66B-4ABF-910D-98AC5C11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09552"/>
                </a:solidFill>
              </a:defRPr>
            </a:pPr>
            <a:r>
              <a:rPr sz="2100" b="1">
                <a:solidFill>
                  <a:srgbClr val="409552"/>
                </a:solidFill>
              </a:rPr>
              <a:t>3 seeds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589FA1-E4AE-4CDA-B621-462F51D8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14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064"/>
                </a:solidFill>
              </a:defRPr>
            </a:pPr>
            <a:r>
              <a:rPr sz="900" b="0">
                <a:solidFill>
                  <a:srgbClr val="435064"/>
                </a:solidFill>
              </a:rPr>
              <a:t>310 / 311 / 312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BCD5E1-EF07-4A58-93C7-5729D16B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33875"/>
            <a:ext cx="1381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08AFF6-7D8B-4630-9B0D-1091A88E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481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최종 holdout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A1B308-B9BE-4196-841E-F0A21013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8630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A4DB0"/>
                </a:solidFill>
              </a:defRPr>
            </a:pPr>
            <a:r>
              <a:rPr sz="2100" b="1">
                <a:solidFill>
                  <a:srgbClr val="8A4DB0"/>
                </a:solidFill>
              </a:rPr>
              <a:t>300장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A6BD6D-EB2E-4699-80B7-A3916AF9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14925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064"/>
                </a:solidFill>
              </a:defRPr>
            </a:pPr>
            <a:r>
              <a:rPr sz="900" b="0">
                <a:solidFill>
                  <a:srgbClr val="435064"/>
                </a:solidFill>
              </a:rPr>
              <a:t>10 classes × 30</a:t>
            </a:r>
          </a:p>
        </p:txBody>
      </p:sp>
    </p:spTree>
    <p:extLst>
      <p:ext uri="{BB962C8B-B14F-4D97-AF65-F5344CB8AC3E}">
        <p14:creationId xmlns:p14="http://schemas.microsoft.com/office/powerpoint/2010/main" val="7009871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F76C9E-7E62-421F-A1DB-2740B38E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Backbone 출력을 하나의 공간 계약으로 통일했다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DCF1D-F54E-497D-AD1D-34C7C6A8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02 · MODULE 01 · BACKBONE ADAPTER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0F234-AB58-49F6-BFA3-281C39CB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B4BB5-D542-4302-A77A-D636FCC6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F8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2DFEA-7665-4C46-8861-805A510A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57B1B-E0C1-4FCC-9E06-A01DA1C6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A5E1D-709E-4A1C-95CE-01E22923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62300"/>
            <a:ext cx="90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0B1D5-C3C0-45B1-93F8-CB7F698F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62300"/>
            <a:ext cx="1047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05F49-7647-4C0B-85EF-772B172C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0CF0E-34DB-4D10-B029-029C11D0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1717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2F8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A86C4-EE7A-4E07-9252-2667DB5F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ResNet18 / 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FE909-2065-4314-B2CE-1B0977A2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Final conv map F</a:t>
            </a:r>
          </a:p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Adaptive pooling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B3168-5397-4B06-B6C0-4ADA7376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1717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2F80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4176B-28E5-451E-97A2-13C19BFF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DINOv2 ViT-S / 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1F37A-60E5-4386-89AF-C683513B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957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CLS + patch tokens P</a:t>
            </a:r>
          </a:p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14×14 patch grid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C6903B-C4B2-415F-B007-5A402EDC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86000"/>
            <a:ext cx="1905000" cy="1762125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AD6DC-64E4-4FC4-B87B-F5EFD408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574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Spatial Adapter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02430-2F7A-4B1D-B543-F0369445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43225"/>
            <a:ext cx="147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z_cls = GAP(F) or CLS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Z_tile = AAP₄×₄(F or P)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979D53-9EB2-4AC8-98D7-7CF80A65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86000"/>
            <a:ext cx="2238375" cy="1762125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84715-8D85-4090-A106-C9D5DFA3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공통 출력 계약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80D963-74F3-4440-9E15-A67111C3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4322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cls_token  [B, D]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tile_tokens [B, 16, D]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observer_grid 4×4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51EB4E-8D10-4909-8D97-7690DDC1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19375"/>
            <a:ext cx="1409700" cy="1085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4095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598CFE-FE1F-4C5B-8E47-38503796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19375"/>
            <a:ext cx="14097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Candidate / Gate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코드 변경 없음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AF7D0E-C196-4D33-9A85-79107FA8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설정에서 Backbone 하나를 선택하며 두 모델을 동시에 사용하는 구조가 아니다.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ED0CB2-F03B-414B-AABE-ACF66A70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596"/>
                </a:solidFill>
              </a:defRPr>
            </a:pPr>
            <a:r>
              <a:rPr sz="1050" b="0">
                <a:solidFill>
                  <a:srgbClr val="7A8596"/>
                </a:solidFill>
              </a:rPr>
              <a:t>manifest: backbone_id · preprocessing_id · feature_schema · sample_order</a:t>
            </a:r>
          </a:p>
        </p:txBody>
      </p:sp>
    </p:spTree>
    <p:extLst>
      <p:ext uri="{BB962C8B-B14F-4D97-AF65-F5344CB8AC3E}">
        <p14:creationId xmlns:p14="http://schemas.microsoft.com/office/powerpoint/2010/main" val="21335201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80B0EA-9079-4C17-8039-86833B56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Parent/Fine은 같은 입력에서 다른 증거를 만든다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98E98-0214-41D3-B8B7-EE8D0E66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02 · MODULE 02 · EVIDENCE PROJECTOR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B0E6F-8289-4B15-A569-0C8EA4E5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391FB-60F4-49B6-9A48-4241B6D4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4095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89CBF-CD21-4405-BBA1-F9F8D590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53CDF-FF0D-4090-A733-422C0C26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CA496-47C3-4374-AB2A-754FF560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337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5253F-5DDB-415E-8942-5CB05806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676400"/>
            <a:ext cx="1619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09552"/>
          </a:solidFill>
          <a:ln xmlns:a="http://schemas.openxmlformats.org/drawingml/2006/main" w="0">
            <a:solidFill>
              <a:srgbClr val="4095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AF69D-DDED-4776-BD92-92C2FE75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6764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독립 표현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1FE02-1796-42B7-A8B6-7FD6AFBC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ℓ_clsᵇ = h_clsᵇ(z_cls)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ℓ_tile,tᵇ = W_tileᵇ z_t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017F2-1B32-452C-98DB-F1301517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공통 Backbone 출력에서 branch별 전역·타일 표현을 생성한다.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23A8D-57F0-4E58-8351-76561231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4191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DF9FC-655A-4940-875A-781C864C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676400"/>
            <a:ext cx="1619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09552"/>
          </a:solidFill>
          <a:ln xmlns:a="http://schemas.openxmlformats.org/drawingml/2006/main" w="0">
            <a:solidFill>
              <a:srgbClr val="4095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ACC97-00B2-4BAF-B8C9-C35BDEA9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6764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공간 집계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9024A-5A28-463D-9BA9-7868EB39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0250"/>
            <a:ext cx="373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a_t,cᵇ = softmax_t(ℓ_tile,t,cᵇ / τ)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ℓ_pool,cᵇ = Σ_t a_t,cᵇ · ℓ_tile,t,cᵇ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3B9B12-7CCB-4D79-9FB8-794A7A6E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09900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클래스 조건부 attention으로 16개 타일 증거를 통합한다.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2C9FF-26E4-40A2-851C-586765FA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2A6851-918F-4EBA-88D2-A9F38DAC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81400"/>
            <a:ext cx="1619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09552"/>
          </a:solidFill>
          <a:ln xmlns:a="http://schemas.openxmlformats.org/drawingml/2006/main" w="0">
            <a:solidFill>
              <a:srgbClr val="4095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DB63C-D0E2-4C9A-9691-F5B93809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814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학습형 결합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CE100E-93A9-4EDF-8144-8C6D493D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ℓᵇ = α_b·ℓ_clsᵇ + (1−α_b)·ℓ_poolᵇ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6524EA-32AF-4704-B370-06A1D4BA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전역 정체성과 공간 증거의 비율을 branch별로 학습한다.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AC295-B715-44D3-8A38-8523FE94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53149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4095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9B6565-75D9-462A-9617-C0CAC6CB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62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9552"/>
                </a:solidFill>
              </a:defRPr>
            </a:pPr>
            <a:r>
              <a:rPr sz="1350" b="1">
                <a:solidFill>
                  <a:srgbClr val="409552"/>
                </a:solidFill>
              </a:rPr>
              <a:t>설계 의미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CD0D2D-8DBE-4ADD-A34E-EC4138EC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2432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Parent  공통 정체성에 필요한 증거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Fine      형제 클래스를 구분하는 세부 증거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출력       확률 + 4×4 class-conditioned attention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B7A7B4-657E-4133-ADDE-F2395DC4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596"/>
                </a:solidFill>
              </a:defRPr>
            </a:pPr>
            <a:r>
              <a:rPr sz="1050" b="0">
                <a:solidFill>
                  <a:srgbClr val="7A8596"/>
                </a:solidFill>
              </a:rPr>
              <a:t>b: Parent/Fine branch   ·   t: 4×4 타일 번호   ·   c: 클래스 번호   ·   τ: attention 온도   ·   α: 결합 비율</a:t>
            </a:r>
          </a:p>
        </p:txBody>
      </p:sp>
    </p:spTree>
    <p:extLst>
      <p:ext uri="{BB962C8B-B14F-4D97-AF65-F5344CB8AC3E}">
        <p14:creationId xmlns:p14="http://schemas.microsoft.com/office/powerpoint/2010/main" val="8515729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923C60-7A24-4FDA-846B-79CC8152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오답 확률이 아니라 판단 상태의 위험 순위를 학습했다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B65FF-7820-4936-B334-994F3C15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02 · MODULE 03 · ERROR-RISK DETECTOR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9333D-027B-4430-91D2-8387CA5B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37D59-1D23-420D-80D9-E6DD9B35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C8950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1A250-7A53-45AC-8225-3B01CC6B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4D385-C9AE-463B-998F-D596F16A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6011F-4CF5-4BA9-961E-BA3DB45D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42차원 evidence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2D059-D905-46BA-B772-152C6922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064"/>
                </a:solidFill>
              </a:defRPr>
            </a:pPr>
            <a:r>
              <a:rPr sz="1125" b="0">
                <a:solidFill>
                  <a:srgbClr val="435064"/>
                </a:solidFill>
              </a:rPr>
              <a:t>profile nodes · Parent/Fine distance · confidence · kNN support · normality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97BAE-E419-469A-9F72-A5D2E572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6858000" cy="1600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562FC-2A4E-406C-AA29-5F9296C6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95525"/>
            <a:ext cx="1619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C8950D"/>
          </a:solidFill>
          <a:ln xmlns:a="http://schemas.openxmlformats.org/drawingml/2006/main" w="0">
            <a:solidFill>
              <a:srgbClr val="C8950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EC2EF-5B7E-41BC-A337-DB5076F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95525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다중 위험 신호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1CA8A-C52E-4B0E-A658-B4150DB3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6400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r_branch = max(rank(q_parent), rank(q_fine))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r_sup = ω_d·rank(q_any) + (1−ω_d)·r_branch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 = (1−ω_n)·r_sup + ω_n·rank(normality)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829CF-BE87-49DB-BA96-643ADCF7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rank는 TRAIN-OOF score reference를 기준으로 계산한다.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610E1-A124-4807-B83E-EC4C5287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409950" cy="2238375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C8950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9649F-F5A2-44A4-B3E8-E837EC94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860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950D"/>
                </a:solidFill>
              </a:defRPr>
            </a:pPr>
            <a:r>
              <a:rPr sz="1425" b="1">
                <a:solidFill>
                  <a:srgbClr val="C8950D"/>
                </a:solidFill>
              </a:rPr>
              <a:t>선택된 ResNet18 정책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1D8401-094B-4164-B647-7B5ACF81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HGB depth 2 / leaf 20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ω_d = 0.75 · ω_n = 0.00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TRAIN 10% threshold = 0.9043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TEST: REVIEW 103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오답 78장 중 64장 탐지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43FC0-D9CC-4EA9-B121-3E9C9D6E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A7F81A-4423-47CE-B3FD-9FAF9FE0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950D"/>
                </a:solidFill>
              </a:defRPr>
            </a:pPr>
            <a:r>
              <a:rPr sz="1275" b="1">
                <a:solidFill>
                  <a:srgbClr val="C8950D"/>
                </a:solidFill>
              </a:rPr>
              <a:t>모듈 경계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C851B9-5B6C-4488-8B0E-3CF2572A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Risk Detector는 REVIEW만 요청한다. 후보 선택과 SWITCH 승인은 뒤 모듈에서 별도로 수행한다.</a:t>
            </a:r>
          </a:p>
        </p:txBody>
      </p:sp>
    </p:spTree>
    <p:extLst>
      <p:ext uri="{BB962C8B-B14F-4D97-AF65-F5344CB8AC3E}">
        <p14:creationId xmlns:p14="http://schemas.microsoft.com/office/powerpoint/2010/main" val="482210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2669AD-EF63-43E5-909A-D937428B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Attention 연결 영역을 8개 재관측 후보로 변환했다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A88E1-E97E-4D76-B104-6A9224F4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02 · MODULE 04 · VIEW 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BE208-A9C0-4D6D-9854-45129569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E4797-7F75-4FCF-AAB5-804706D6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F8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9F84E-922F-4858-8397-E56C4703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E9DC1-70C9-4F97-942E-45E38993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18CF3-0101-4312-8C6D-3133A5B0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482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139B3-CF3E-45F9-83A5-3BB3BBCB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628775"/>
            <a:ext cx="1619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F80D0"/>
          </a:solidFill>
          <a:ln xmlns:a="http://schemas.openxmlformats.org/drawingml/2006/main" w="0">
            <a:solidFill>
              <a:srgbClr val="2F80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12C45-E700-497C-9383-F5FDF395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28775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연결 타일 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296A2-160D-429D-94C1-6C52F0F3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S₀ = {argmax_t a_t}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Sₘ₊₁ = Sₘ ∪ {argmax_{j∈N(Sₘ)\Sₘ} a_j}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78E3B-4DD4-4A94-AFE4-2197AB0B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현재 집합의 인접 frontier 중 attention이 가장 높은 타일로 확장한다.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08B5A-A77D-4DEE-8357-F8291662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3149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9A6F9-2B24-4C9F-B1AE-398E0901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28775"/>
            <a:ext cx="1619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F80D0"/>
          </a:solidFill>
          <a:ln xmlns:a="http://schemas.openxmlformats.org/drawingml/2006/main" w="0">
            <a:solidFill>
              <a:srgbClr val="2F80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C437A-9BFF-4E80-883D-E1C58625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28775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관측 영역 변환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5EE89-049C-4A21-82F5-B0A6174E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bbox(S, ε) = clip(envelope(S) ± ε/4)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0706A-AC3B-4A3B-845A-0D014285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62275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선택 타일의 최소 영역을 문맥 비율 ε만큼 확장한다.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B7D81-7B97-4C6F-85D2-8B7FF7D2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8개 관측 정책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44F74E-55DB-454C-88F1-2ECDB8B6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01  Parent tight · k=3, ε=.10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2D7711-F90B-48C1-8BF2-9D7B5324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02  Parent context · k=6, ε=.50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D7185-60B6-4AAE-804C-885B9C63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03  Fine tight · k=3, ε=.10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AE6B8-BBFB-4E53-A87E-8356B2EA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04  Fine context · k=6, ε=.50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659012-5E7E-4D7C-94BE-8D8AB115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05  Joint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E037FC-4391-47F5-BA02-BD7FBA67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06  Parent/Fine disagreement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05A704-4D0F-44D5-8F94-B67F6CF3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07  Secondary joint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CDEB4E-5813-448C-80CA-F39E20B9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08  Wide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F5595F-1E88-42DD-A965-F528981E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80D0"/>
                </a:solidFill>
              </a:defRPr>
            </a:pPr>
            <a:r>
              <a:rPr sz="1200" b="1">
                <a:solidFill>
                  <a:srgbClr val="2F80D0"/>
                </a:solidFill>
              </a:rPr>
              <a:t>중복 bbox 제거 → 동일 Backbone stack 재사용 → 후보별 Parent/Fine 증거 생성</a:t>
            </a:r>
          </a:p>
        </p:txBody>
      </p:sp>
    </p:spTree>
    <p:extLst>
      <p:ext uri="{BB962C8B-B14F-4D97-AF65-F5344CB8AC3E}">
        <p14:creationId xmlns:p14="http://schemas.microsoft.com/office/powerpoint/2010/main" val="3120796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0DAFF2-199A-445F-91FF-CA439EB8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후보를 절대 점수가 아니라 기존 판단과의 변화로 비교했다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C9C3B-E79F-4465-AA9F-FFE96FD8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02 · MODULE 05 · CANDIDATE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FA36F-6128-4A43-B5FA-FB54F9C7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E7E10-1855-471A-A05F-7AD3C1AF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4095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22DB6-31F3-4900-B98C-A3DF996E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F9E1B-6759-4068-AC52-9417D243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FD802-42D5-470E-9416-E8150FF5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66750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C7DA3-59FC-4C4F-989C-458BA958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76400"/>
            <a:ext cx="1619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09552"/>
          </a:solidFill>
          <a:ln xmlns:a="http://schemas.openxmlformats.org/drawingml/2006/main" w="0">
            <a:solidFill>
              <a:srgbClr val="4095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3E279-357E-4A22-ADC1-2F89E022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764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상대 증거 벡터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5942B-2B5B-4715-BD84-53797B1F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62103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x_candidate = [x_conventional, z_base, z_crop, Δz,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 risk_base, risk_crop, Δrisk,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 kNN_base, kNN_crop, group_consensus]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596B3-C73A-4470-BC61-1759502F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643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재관측 후보가 기존 관측보다 실제로 나아졌는지를 직접 표현한다.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453DC-A984-4567-88C1-D7A0438B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4095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4594A-50BF-4F3C-8BBC-C3855C3A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9552"/>
                </a:solidFill>
              </a:defRPr>
            </a:pPr>
            <a:r>
              <a:rPr sz="1425" b="1">
                <a:solidFill>
                  <a:srgbClr val="409552"/>
                </a:solidFill>
              </a:rPr>
              <a:t>Cross-view 집계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F3F98-B6F8-44F5-BF78-1F81275A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193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Parent/Fine 예측 일치율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후보 클래스 평균 지지도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예측 확률 엔트로피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고유 예측 비율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999B5-553A-47C4-94DC-4195F366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09552"/>
                </a:solidFill>
              </a:defRPr>
            </a:pPr>
            <a:r>
              <a:rPr sz="1275" b="1">
                <a:solidFill>
                  <a:srgbClr val="409552"/>
                </a:solidFill>
              </a:rPr>
              <a:t>재사용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FCCFC-9253-4FB6-B51D-7981B46F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3862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064"/>
                </a:solidFill>
              </a:defRPr>
            </a:pPr>
            <a:r>
              <a:rPr sz="1200" b="0">
                <a:solidFill>
                  <a:srgbClr val="435064"/>
                </a:solidFill>
              </a:rPr>
              <a:t>모든 crop이 같은 Backbone → branch → profile → kNN 경로 사용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E37BBF-30F9-46B4-8046-6EC8CBE8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19625"/>
            <a:ext cx="885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39FC7-BDC2-49A3-AEF7-BFF113E2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09552"/>
                </a:solidFill>
              </a:defRPr>
            </a:pPr>
            <a:r>
              <a:rPr sz="1275" b="1">
                <a:solidFill>
                  <a:srgbClr val="409552"/>
                </a:solidFill>
              </a:rPr>
              <a:t>후보 상한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424DF9-A47D-452F-AD8C-72690CC6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529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064"/>
                </a:solidFill>
              </a:defRPr>
            </a:pPr>
            <a:r>
              <a:rPr sz="1200" b="0">
                <a:solidFill>
                  <a:srgbClr val="435064"/>
                </a:solidFill>
              </a:rPr>
              <a:t>탐지한 오답 64장 중 58장은 정답 후보를 포함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45C48-C742-4910-A86B-BE128970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33975"/>
            <a:ext cx="885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EA0BAD-8011-417A-BE61-6799308B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09552"/>
                </a:solidFill>
              </a:defRPr>
            </a:pPr>
            <a:r>
              <a:rPr sz="1275" b="1">
                <a:solidFill>
                  <a:srgbClr val="409552"/>
                </a:solidFill>
              </a:rPr>
              <a:t>Selector 과제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88AFA-BCEB-4753-8EBB-90E47A60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6732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064"/>
                </a:solidFill>
              </a:defRPr>
            </a:pPr>
            <a:r>
              <a:rPr sz="1200" b="0">
                <a:solidFill>
                  <a:srgbClr val="435064"/>
                </a:solidFill>
              </a:rPr>
              <a:t>정답 base를 보호하면서 유효 후보를 우선순위화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F01269-F14D-42D8-BF0C-6C8D63FC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48325"/>
            <a:ext cx="885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579916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9AAEBB-678C-44AF-A34C-052F4860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여러 관측의 합의와 효용으로 전환을 승인했다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0B3B5-4CD0-4DCB-96AE-6CA7A613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02 · MODULE 06 · JOINT CORRECTION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D30A6-F0C9-409C-A550-2342C0F5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88AE5-C922-496F-8D28-0842DE8E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8A4DB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DC415-ACCF-4021-9013-970D9758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FFA18-E416-47AA-BD20-E72E43F5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EF5D6-8DC7-4D99-9AA1-1F3D67A6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85800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DC1A9-8047-4A47-9644-6186DDE0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581150"/>
            <a:ext cx="1619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8A4DB0"/>
          </a:solidFill>
          <a:ln xmlns:a="http://schemas.openxmlformats.org/drawingml/2006/main" w="0">
            <a:solidFill>
              <a:srgbClr val="8A4DB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07062-CCCF-4BC0-B449-EDDD6AAB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5811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관측별 증거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72CD2-0E38-4729-8536-A982AAF1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640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S_v = λ·p_joint(v) + (1−λ)·√(p_parent(v)·p_fine(v))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CBB0F-D4AC-41C1-A318-ABA5476B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각 view에서 Parent/Fine 후보 쌍의 유효성을 계산한다.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E1F5E-2A5D-493F-AA3C-B425C9D5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85800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AD3FC-2660-47E8-BB55-ED7FCC68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09900"/>
            <a:ext cx="1619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8A4DB0"/>
          </a:solidFill>
          <a:ln xmlns:a="http://schemas.openxmlformats.org/drawingml/2006/main" w="0">
            <a:solidFill>
              <a:srgbClr val="8A4DB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9BC39-DADE-440C-AA65-6D3314C4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099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후보 쌍 합의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3828D-9679-4F7E-BD6F-64C23166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640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A(p) = η·max_{v∈Vₚ}S_v + (1−η)·mean_{v∈Vₚ}S_v + β·|Vₚ|/|V|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EB8E7-ED41-45BE-8890-84DD320B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같은 후보 쌍을 지지한 view의 최고·평균·반복 지지를 집계한다.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9D17E-3969-438A-BC08-9631A029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68580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979E46-1D12-41A7-8D32-A6342055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38650"/>
            <a:ext cx="16192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8A4DB0"/>
          </a:solidFill>
          <a:ln xmlns:a="http://schemas.openxmlformats.org/drawingml/2006/main" w="0">
            <a:solidFill>
              <a:srgbClr val="8A4DB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52757-9CFF-40CF-95F6-91DD7FD0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386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전환 승인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45774-D871-4E8B-A3D9-DCAB182E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640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p* = argmax_p A(p)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ΔU = A(p*) − S_base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SWITCH ⇔ p* ≠ p_base ∧ ΔU ≥ 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B07E3C-BC58-4FDB-8DD7-CDCCE36A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후보가 기존 예측과 다르고 효용 증가가 임계값 이상일 때만 전환한다.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988CC6-5848-4E93-8711-9DBEF567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409950" cy="3429000"/>
          </a:xfrm>
          <a:prstGeom xmlns:a="http://schemas.openxmlformats.org/drawingml/2006/main" prst="roundRect">
            <a:avLst>
              <a:gd name="adj" fmla="val 1676"/>
            </a:avLst>
          </a:prstGeom>
          <a:solidFill xmlns:a="http://schemas.openxmlformats.org/drawingml/2006/main">
            <a:srgbClr val="F5EAFB"/>
          </a:solidFill>
          <a:ln xmlns:a="http://schemas.openxmlformats.org/drawingml/2006/main" w="9525">
            <a:solidFill>
              <a:srgbClr val="8A4DB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4C3A97-3A6D-4563-81D8-B5ED5344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A4DB0"/>
                </a:solidFill>
              </a:defRPr>
            </a:pPr>
            <a:r>
              <a:rPr sz="1500" b="1">
                <a:solidFill>
                  <a:srgbClr val="8A4DB0"/>
                </a:solidFill>
              </a:rPr>
              <a:t>ResNet18 고정 정책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2385C2-CC34-470C-9EE0-1302BE38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285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λ  Joint 반영        1.00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η  최고 view 반영    0.50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β  반복 지지 보너스  0.00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τ  SWITCH 임계값      0.05747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TRAIN-OOF   34 / 2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TEST        40 / 2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             Fixed / Broken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8FFE76-273E-4FFB-A89A-B1B8C2F3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29250"/>
            <a:ext cx="3409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A4DB0"/>
                </a:solidFill>
              </a:defRPr>
            </a:pPr>
            <a:r>
              <a:rPr sz="1275" b="1">
                <a:solidFill>
                  <a:srgbClr val="8A4DB0"/>
                </a:solidFill>
              </a:rPr>
              <a:t>Candidate 생성과 Transition 승인을 분리해 기존 정답을 보호한다.</a:t>
            </a:r>
          </a:p>
        </p:txBody>
      </p:sp>
    </p:spTree>
    <p:extLst>
      <p:ext uri="{BB962C8B-B14F-4D97-AF65-F5344CB8AC3E}">
        <p14:creationId xmlns:p14="http://schemas.microsoft.com/office/powerpoint/2010/main" val="1501250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0B0B0-B26F-4C1A-9671-267157D6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실제 입력에서 Parent 판단만 안전하게 교정했다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9733E-35F5-4A17-A44F-BB8E4916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03 · LABEL-FREE DECISION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F61A8-17DB-4DEC-BADB-A0C6C2A1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C0313-3F4C-486F-8B58-6681A744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8A4DB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9CBB6-EFE4-44C7-AC77-491BD2DB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5D630-D8B2-406F-BA46-3E00B544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12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8ebb76de44d70"/>
          <a:srcRect xmlns:a="http://schemas.openxmlformats.org/drawingml/2006/main" l="0" t="18605" r="0" b="186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66875"/>
            <a:ext cx="4095750" cy="3429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4868C-0CA8-4C57-AC91-3D174233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66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A8596"/>
                </a:solidFill>
              </a:defRPr>
            </a:pPr>
            <a:r>
              <a:rPr sz="1350" b="1">
                <a:solidFill>
                  <a:srgbClr val="7A8596"/>
                </a:solidFill>
              </a:rPr>
              <a:t>초기 판단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CE559-ACB1-4ACA-9521-BE29F7B9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dog_like / tiger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C7342-BA36-4645-9521-B8112AB6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44949"/>
                </a:solidFill>
              </a:defRPr>
            </a:pPr>
            <a:r>
              <a:rPr sz="1200" b="0">
                <a:solidFill>
                  <a:srgbClr val="C44949"/>
                </a:solidFill>
              </a:rPr>
              <a:t>Risk 0.9800  &gt;  threshold 0.9043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D09EE-3D25-4DB3-AC08-4FB9A654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0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A4DB0"/>
                </a:solidFill>
              </a:defRPr>
            </a:pPr>
            <a:r>
              <a:rPr sz="1875" b="1">
                <a:solidFill>
                  <a:srgbClr val="8A4DB0"/>
                </a:solidFill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B9DB9-4424-437E-AF52-FD186209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29000"/>
            <a:ext cx="5524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2F80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CC385-7E52-4643-8D37-D80CC0CA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433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80D0"/>
                </a:solidFill>
              </a:defRPr>
            </a:pPr>
            <a:r>
              <a:rPr sz="1500" b="1">
                <a:solidFill>
                  <a:srgbClr val="2F80D0"/>
                </a:solidFill>
              </a:rPr>
              <a:t>fine_context 재관측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34F44-7695-4902-85B0-9D86C86B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243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Base validity 0.0257  →  Candidate validity 0.8396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91E8C-A9E3-4ED8-B403-A6D92FE2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A4DB0"/>
                </a:solidFill>
              </a:defRPr>
            </a:pPr>
            <a:r>
              <a:rPr sz="1875" b="1">
                <a:solidFill>
                  <a:srgbClr val="8A4DB0"/>
                </a:solidFill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81949-B576-43E2-AF18-104B395A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53000"/>
            <a:ext cx="55245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4095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3A9A4-5DBE-4E15-9E88-F6A37CF7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953000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09552"/>
                </a:solidFill>
              </a:defRPr>
            </a:pPr>
            <a:r>
              <a:rPr sz="1800" b="1">
                <a:solidFill>
                  <a:srgbClr val="409552"/>
                </a:solidFill>
              </a:rPr>
              <a:t>최종 판단  big_cat / tiger  ·  SWITCH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02CEE-E30D-41A2-96F6-D8FCED90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07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8596"/>
                </a:solidFill>
              </a:defRPr>
            </a:pPr>
            <a:r>
              <a:rPr sz="1050" b="0">
                <a:solidFill>
                  <a:srgbClr val="7A8596"/>
                </a:solidFill>
              </a:rPr>
              <a:t>파일명·폴더명·정답 라벨은 런타임 판단에 사용되지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1331354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7B7A95-A75B-49F7-BA25-D66A21EB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1,000장 중 103장만 다시 보고 40장을 복구했다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2392E-6A06-4E73-8755-5AC38C7D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03 · TEST1000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50004-90F9-4515-9EF7-AACCBD87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DEBF6-E534-4D2F-AE5C-20BE0F25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8A4DB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6F91D-4651-4CBF-AC58-182350C2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A7EB5-C5A6-4E95-B824-B4A34913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05502-E102-40E6-AACB-0D595C21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762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0AC68-0A32-462E-A5D9-71607A1B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2DE33-A12F-4878-A9B1-FB7BDA44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95A5"/>
                </a:solidFill>
              </a:defRPr>
            </a:pPr>
            <a:r>
              <a:rPr sz="2100" b="1">
                <a:solidFill>
                  <a:srgbClr val="8B95A5"/>
                </a:solidFill>
              </a:rPr>
              <a:t>1,000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3C686-EDD6-4615-80DF-B960C82C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064"/>
                </a:solidFill>
              </a:defRPr>
            </a:pPr>
            <a:r>
              <a:rPr sz="900" b="0">
                <a:solidFill>
                  <a:srgbClr val="435064"/>
                </a:solidFill>
              </a:rPr>
              <a:t>10-class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B6AE1-2857-4D91-BD1E-AAE0844C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71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95A5"/>
                </a:solidFill>
              </a:defRPr>
            </a:pPr>
            <a:r>
              <a:rPr sz="1875" b="1">
                <a:solidFill>
                  <a:srgbClr val="8B95A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31DA2-4622-4AE4-94B4-52B281CC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66875"/>
            <a:ext cx="1762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EAC67-4BEC-4A48-B793-F4A568FD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811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794B9-829A-47DA-A418-99D46476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193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950D"/>
                </a:solidFill>
              </a:defRPr>
            </a:pPr>
            <a:r>
              <a:rPr sz="2100" b="1">
                <a:solidFill>
                  <a:srgbClr val="C8950D"/>
                </a:solidFill>
              </a:rPr>
              <a:t>103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56C72-40A7-4AD8-A6F9-2D4A7591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4792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981DA7-B9AC-4978-9025-45C054D6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95A5"/>
                </a:solidFill>
              </a:defRPr>
            </a:pPr>
            <a:r>
              <a:rPr sz="1875" b="1">
                <a:solidFill>
                  <a:srgbClr val="8B95A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69E35D-7B7D-491E-8F7E-0C2A1E50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66875"/>
            <a:ext cx="1762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D15C1B-D57A-4670-98D1-AED3418D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811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탐지 오답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8360C-BAC5-42AA-92AA-A41805C5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193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949"/>
                </a:solidFill>
              </a:defRPr>
            </a:pPr>
            <a:r>
              <a:rPr sz="2100" b="1">
                <a:solidFill>
                  <a:srgbClr val="C44949"/>
                </a:solidFill>
              </a:rPr>
              <a:t>64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B2DEBB-1DAF-4879-882C-1A1A11EA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4792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183797-9A08-478D-9BCD-E30434DA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95A5"/>
                </a:solidFill>
              </a:defRPr>
            </a:pPr>
            <a:r>
              <a:rPr sz="1875" b="1">
                <a:solidFill>
                  <a:srgbClr val="8B95A5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359684-749D-4C67-A294-CE881E60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66875"/>
            <a:ext cx="1762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91F5A3-28EC-4EDA-A7A7-0FFEED43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7811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정답 후보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0B7192-BA07-4931-951B-3D9113D7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80D0"/>
                </a:solidFill>
              </a:defRPr>
            </a:pPr>
            <a:r>
              <a:rPr sz="2100" b="1">
                <a:solidFill>
                  <a:srgbClr val="2F80D0"/>
                </a:solidFill>
              </a:rPr>
              <a:t>58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4B4C1B-5D83-4B9B-8ED6-BFC5F1A7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4792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5DD764-A8FD-4426-9909-12421C7A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71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95A5"/>
                </a:solidFill>
              </a:defRPr>
            </a:pPr>
            <a:r>
              <a:rPr sz="1875" b="1">
                <a:solidFill>
                  <a:srgbClr val="8B95A5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5E0CDF-CBB2-4E6F-BC9B-48FFC73E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66875"/>
            <a:ext cx="1762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A7011B-73B7-4A1D-9B7B-171EF1A2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811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Fixed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029B2E-FCF8-4549-BD0C-F729485A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193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09552"/>
                </a:solidFill>
              </a:defRPr>
            </a:pPr>
            <a:r>
              <a:rPr sz="2100" b="1">
                <a:solidFill>
                  <a:srgbClr val="409552"/>
                </a:solidFill>
              </a:rPr>
              <a:t>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F522BE-14FC-43B7-8254-FC2DC161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4792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45A984-F943-41D8-8826-7A36CBEE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정확도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535F45-9D96-434C-8110-8C7F576D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8794BB-53EA-4926-8699-5C274FAB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FDFDCD-3F45-4900-A4D0-01AAFBAA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57625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B8F111-9FAD-4EBF-AE30-CFCE4EC1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57625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Base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3E5388-8477-4655-AA9F-9DDC4FB1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57625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D6AA1D-1E38-453D-8FC9-461A32B0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57625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Final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8F7DB9-A0C0-4F22-A129-C0DABF53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3D1026-41FA-4A3C-B37E-5A72D609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Parent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C3691F-9500-40C5-B0EF-89434927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76725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E658F5-9407-40DD-BB03-AF4DE1ED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76725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95.9%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95D9F6-6275-4EBB-A763-E9C0D134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76725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61CF8F-9D18-4F79-874A-30A632F5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76725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98.0%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BA830A-A664-448B-82C6-14EFE16B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4D14CF-DD31-4C4B-A025-DC8DC3CA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Fine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7ADD66-055D-446B-8924-1AAE4198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14875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E965E9-AFAB-4AF2-9A97-30ABFCA5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714875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93.8%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387BD6-E146-4222-AB6D-D8180EDA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14875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956DC9-37C5-4478-AAC7-E08AC3DC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14875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96.0%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0E5532-EC92-4EF3-B291-7A323A4B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662CAB-F450-4770-BF75-B799FA17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Parent + Fine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78F6893-257E-41CB-BD1C-8C487B5A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53025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831E581-CE7E-4D1D-A437-4645E9B3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53025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92.2%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AD0010-7FC3-445B-B70A-F6B3ACA1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53025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80C70D-EDBC-430C-8048-0B785476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53025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96.0%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81C92E-38C5-4F00-9C0B-24A89915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47434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4462EA-6826-4E05-B607-EC93D203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052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전환 감사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20A445-99A2-4C6F-B112-4E1FE5F8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SWITCH 50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Fixed 40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Broken 2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Wrong → Wrong 8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순증가 +38장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17EAB7-4309-4513-BE41-23A147CC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8596"/>
                </a:solidFill>
              </a:defRPr>
            </a:pPr>
            <a:r>
              <a:rPr sz="1125" b="0">
                <a:solidFill>
                  <a:srgbClr val="7A8596"/>
                </a:solidFill>
              </a:rPr>
              <a:t>최종 결과는 정확도뿐 아니라 Fixed / Broken / Wrong→Wrong으로 분해해 기록했다.</a:t>
            </a:r>
          </a:p>
        </p:txBody>
      </p:sp>
    </p:spTree>
    <p:extLst>
      <p:ext uri="{BB962C8B-B14F-4D97-AF65-F5344CB8AC3E}">
        <p14:creationId xmlns:p14="http://schemas.microsoft.com/office/powerpoint/2010/main" val="18256648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F7016E-F220-4E1A-8316-C6381F02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동일 Review 10%에서 오답의 80.77%를 찾았다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3456A-C0F0-4560-B86C-71605714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04 · VALIDATION · RISK BASELINES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6F5C6-5A81-4A75-B9D7-C8B9F766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93216-9E43-492C-96EA-1A82473D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C8950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FE0DF-2922-4378-9D1C-00470B0E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C8CD8-7B20-4372-9453-A6E99F08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734E1-170A-4241-9B70-10753CEF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35064"/>
                </a:solidFill>
              </a:defRPr>
            </a:pPr>
            <a:r>
              <a:rPr sz="1350" b="0">
                <a:solidFill>
                  <a:srgbClr val="435064"/>
                </a:solidFill>
              </a:rPr>
              <a:t>Confidence 계열 대조군과 동일한 검토 예산으로 비교했다.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00192-B141-4229-8C42-33BB4054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Confidence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3EF94-4936-40EA-A21B-58077816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81225"/>
            <a:ext cx="2857500" cy="1524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0">
            <a:solidFill>
              <a:srgbClr val="E9E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460A3-36BA-4D95-AFA9-DD4E7681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81225"/>
            <a:ext cx="2124837" cy="1524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8B95A5"/>
          </a:solidFill>
          <a:ln xmlns:a="http://schemas.openxmlformats.org/drawingml/2006/main" w="0">
            <a:solidFill>
              <a:srgbClr val="8B95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F1020-8C0C-48AD-8404-FD5411C4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1240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74.36%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E281F-D139-44C2-B764-A64677C9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Margin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BB78E1-FBDD-4B67-8BC8-C18140F4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52725"/>
            <a:ext cx="2857500" cy="1524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0">
            <a:solidFill>
              <a:srgbClr val="E9E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A1D4F-1636-4E2B-858B-225E70F0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52725"/>
            <a:ext cx="2051399" cy="1524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8B95A5"/>
          </a:solidFill>
          <a:ln xmlns:a="http://schemas.openxmlformats.org/drawingml/2006/main" w="0">
            <a:solidFill>
              <a:srgbClr val="8B95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4AB64D-24BC-4CEF-9E18-25D0258A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6955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71.79%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1EBC4-2A1B-4492-8E13-076014D1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Entropy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1794F-903E-4AE0-8CA5-B25A2B15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24225"/>
            <a:ext cx="2857500" cy="1524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0">
            <a:solidFill>
              <a:srgbClr val="E9E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190745-3556-4FEB-BADD-B9CC78EF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24225"/>
            <a:ext cx="1941671" cy="1524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8B95A5"/>
          </a:solidFill>
          <a:ln xmlns:a="http://schemas.openxmlformats.org/drawingml/2006/main" w="0">
            <a:solidFill>
              <a:srgbClr val="8B95A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06082-642B-4E47-A74A-36053E2A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670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67.95%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8E226-1228-4C9C-96B8-01C118C4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Dual-Line v233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AFB82E-7186-4BF6-8A9F-A36B79DC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95725"/>
            <a:ext cx="2857500" cy="1524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0">
            <a:solidFill>
              <a:srgbClr val="E9ED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021EED-E741-43F9-9C99-FCB7EFB9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95725"/>
            <a:ext cx="2308003" cy="1524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8950D"/>
          </a:solidFill>
          <a:ln xmlns:a="http://schemas.openxmlformats.org/drawingml/2006/main" w="0">
            <a:solidFill>
              <a:srgbClr val="C8950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99540E-8FED-4A45-991F-A45B8C66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838575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80.77%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883767-61E7-4400-9D64-928FEF5A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4267200" cy="2667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C8950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A86A71-8A93-4291-8E03-ABE99219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717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950D"/>
                </a:solidFill>
              </a:defRPr>
            </a:pPr>
            <a:r>
              <a:rPr sz="1650" b="1">
                <a:solidFill>
                  <a:srgbClr val="C8950D"/>
                </a:solidFill>
              </a:rPr>
              <a:t>Dual-Line v233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EB58AB-6F64-4647-82DE-48A65768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14625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AUROC   0.9584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AUPR      0.6780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Review 10% 탐지율   80.77%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86C0BA-1E0F-4DBF-9394-154D0B95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243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최고 대조군 대비 +6.41%p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1E0FF6-AD51-4350-8924-5858EA40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43A"/>
                </a:solidFill>
              </a:defRPr>
            </a:pPr>
            <a:r>
              <a:rPr sz="1350" b="1">
                <a:solidFill>
                  <a:srgbClr val="17243A"/>
                </a:solidFill>
              </a:rPr>
              <a:t>Parent/Fine 상태와 TRAIN-OOF 정상 분포 이탈을 함께 사용해 검토 대상의 오답 밀도를 높였다.</a:t>
            </a:r>
          </a:p>
        </p:txBody>
      </p:sp>
    </p:spTree>
    <p:extLst>
      <p:ext uri="{BB962C8B-B14F-4D97-AF65-F5344CB8AC3E}">
        <p14:creationId xmlns:p14="http://schemas.microsoft.com/office/powerpoint/2010/main" val="13589847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C45F0E1-6577-4800-9EF6-9AC8C9AB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Risk는 적게 보게 하고, Joint Selector는 더 잘 고쳤다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123C8-0D22-4BD8-87C1-256D7C92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04 · VALIDATION · 2×2 FACTORIAL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A79C4-D3D1-4797-8805-5EACE224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30BDF-189C-4EFC-8955-F55F2A30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4095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BE4DE-65E9-4262-A347-F28B6E21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2C97B-273B-41C5-953A-2237C023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153D8-579B-4CFD-8D2B-4E5C3EB8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064"/>
                </a:solidFill>
              </a:defRPr>
            </a:pPr>
            <a:r>
              <a:rPr sz="1275" b="0">
                <a:solidFill>
                  <a:srgbClr val="435064"/>
                </a:solidFill>
              </a:rPr>
              <a:t>동일 ResNet18 · 동일 base prediction · 동일 후보 풀에서 Risk와 Selector만 교차했다.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4B0D8-7C70-4D30-BC9D-8841DFF7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929D1-A845-43D3-A5E9-292C8A5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73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027C4-D5C8-41FB-8766-8D12432A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52625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F2AEF-86D0-4ACC-BEF0-54D44B4D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52625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Selector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6D910-B4C0-460E-A6DF-342ADC2C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52625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8A291-1DE3-4FBD-86EE-20361F02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52625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A88BE-B892-40D2-8C30-90FFC4CA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52625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ECACF-051F-4E01-9D47-ED587DD0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52625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오답 밀도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081EC-C588-4415-9316-D1CD92C1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5262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631DDE-CEDC-4310-964C-2B2E728C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52625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Final Joint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6CCB9-E2FB-4424-9C32-7F29D9BF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5262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873F89-3F98-4CFB-8949-696F383A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E71AA-3306-4901-BF50-EC1F6DAE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5262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7F993D-4BE3-4194-A887-10362A20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52625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Broken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1C429E-7E06-41FF-8144-0BD1243C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F03700-B064-46AF-98A0-7B9A27B4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71725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Independent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F91634-6853-49D9-BF82-964CB6F0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7172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DA0973-8176-40B1-A488-9FD692FC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7172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Independent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F2336B-E388-4390-9037-78AD1026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717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8FE6E6-C069-4FBE-ABE2-5DFB4565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71725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191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10323E-EF3E-4805-B3F7-F598A375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717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FEFBAF-DD61-44C9-9533-6C1D073A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71725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36.1%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F42BE5-4B48-45B6-B19F-BDE545FC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7172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F80BE7-649C-4900-A2CB-DE3ECE7C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71725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93.1%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AD515B-8274-4581-B63D-63DA5E92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7172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D3C289-40E2-4C4E-A249-D91311D5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71725"/>
            <a:ext cx="93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12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6436B6-CC10-4CFA-AD35-7DF10426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7172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A7CD7D-4536-4A85-B7D8-D5AC07B0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71725"/>
            <a:ext cx="93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F01494-3A56-4AB2-9CAB-77AF821B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581BBB-3792-4973-81FC-08FB2C48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Independent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86BF69-DF29-4921-8515-70F1A8F3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098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56F319-4E40-4BAB-BEC0-82B9D5AD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098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Joint pair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C7278D-CA0C-4021-858E-A7229A1A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987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D36E94-1883-455E-90DD-036DE71F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09875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191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25B574-7CF9-43FE-A1DF-B2DAC21F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0987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1C0624-B702-4A63-B38D-6A2D4CF8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09875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36.1%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5F7C06-16CB-4258-8B58-426DE287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0987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717AD2-F124-417B-BDC4-1BEB9E61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09875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95.8%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A487C2-10BA-43B2-8717-2152BBED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0987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493F1B-E728-4155-8765-F72D0133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9875"/>
            <a:ext cx="93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39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A6B490-F776-4A3D-BA93-B98BC0A3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0987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AB0CAF-9538-48B7-A4FA-28641E3D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09875"/>
            <a:ext cx="93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AC9ADF-8AB8-4C63-92E1-88789446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85886C-9F85-4CEE-BBEA-D0CE84A1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Dual v233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E8DAC3-5E14-4C6B-9BCB-E1F13E8F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4802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815F84-56C9-4C3F-BE18-1988C92D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4802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Independent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56844F-32F8-49A3-9A42-044FFDEA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480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6134E7-3726-42E2-A270-A2621186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48025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103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196B9F-8632-4FDE-A995-3F1CE222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4802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BAF529-0472-479A-ADEE-D79E3BC0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48025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62.1%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E9194D-79BF-4C6A-A8FE-BC6011CB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4802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1F03877-9093-4895-82C6-7C026375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48025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93.3%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C1DE599-0470-4FD7-ACC9-4A505EC5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4802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E0199C-BA39-4D1A-B670-97F37C30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48025"/>
            <a:ext cx="93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13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0EAF69B-816B-46B2-A50B-548A3D6E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4802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A0E2626-4500-4EBA-B1A1-5CF2DF49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48025"/>
            <a:ext cx="93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FDA68FA-692F-470E-86D0-FAA616A8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4913F1E-9E9C-478B-948C-7C8ABC5F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Dual v233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6180C8F-2B19-469E-A33C-ACB5583A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861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869C80A-4390-40E4-ABA4-04AB5A2D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861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Joint v234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B11489-AE32-47E4-8EA1-1C5B758D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8617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33953EA-4C96-4280-98AF-0C63A823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86175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103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004C7B3-27C4-4FD8-8DA7-28259DDC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0321CC5-4F5E-4CEF-BB7A-969C1B29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62.1%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BA21479-9A35-45A5-B84C-3524B57E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8617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78C7452-4753-4294-A13C-38C6B063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86175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96.0%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A314887-B2EB-4FFF-A268-9E4D6AA5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8617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9741F9B-9BEA-4322-B9DD-0662800A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86175"/>
            <a:ext cx="93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40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DC8925-3A89-4C6A-AE7C-E3A83EA2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86175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12D480C-C590-4590-BA8D-68BE2082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86175"/>
            <a:ext cx="93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9552"/>
                </a:solidFill>
              </a:defRPr>
            </a:pPr>
            <a:r>
              <a:rPr sz="975" b="1">
                <a:solidFill>
                  <a:srgbClr val="409552"/>
                </a:solidFill>
              </a:rP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28E0421-F646-42CA-9F97-DE89018B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E5C1018-3901-4844-AE19-D258E4E2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Dual Risk 기여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8A99039-2A81-43A2-86CF-2D75A6E4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950D"/>
                </a:solidFill>
              </a:defRPr>
            </a:pPr>
            <a:r>
              <a:rPr sz="2100" b="1">
                <a:solidFill>
                  <a:srgbClr val="C8950D"/>
                </a:solidFill>
              </a:rPr>
              <a:t>191 → 103 REVIEW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802FEB8-9301-4CFD-AA8D-C8CDB8B5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064"/>
                </a:solidFill>
              </a:defRPr>
            </a:pPr>
            <a:r>
              <a:rPr sz="900" b="0">
                <a:solidFill>
                  <a:srgbClr val="435064"/>
                </a:solidFill>
              </a:rPr>
              <a:t>오답 밀도 36.1% → 62.1%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04C5795-9509-4701-B6D6-9BAB0860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14875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02CB86A-41E2-41D5-B2D6-961CB642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29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Joint Selector 기여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83C154C-41A8-4377-AF2C-1A62B132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67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09552"/>
                </a:solidFill>
              </a:defRPr>
            </a:pPr>
            <a:r>
              <a:rPr sz="2100" b="1">
                <a:solidFill>
                  <a:srgbClr val="409552"/>
                </a:solidFill>
              </a:rPr>
              <a:t>+2.7%p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F537AA0-6137-466D-B80A-27BDDC1F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959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064"/>
                </a:solidFill>
              </a:defRPr>
            </a:pPr>
            <a:r>
              <a:rPr sz="900" b="0">
                <a:solidFill>
                  <a:srgbClr val="435064"/>
                </a:solidFill>
              </a:rPr>
              <a:t>Risk 고정 시 Final Joint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7F2ADCD-ACCC-4B8F-96C1-6E91EBBD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619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1987FA0-6BF6-4F43-9B26-441C5F71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91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Full Dual-Line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DC4749C-4B5E-4B0E-B0DB-0B2A4EA1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673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A4DB0"/>
                </a:solidFill>
              </a:defRPr>
            </a:pPr>
            <a:r>
              <a:rPr sz="2100" b="1">
                <a:solidFill>
                  <a:srgbClr val="8A4DB0"/>
                </a:solidFill>
              </a:rPr>
              <a:t>96.0% · 40 / 2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E118F8F-090E-4E23-B3D8-D221C036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95925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064"/>
                </a:solidFill>
              </a:defRPr>
            </a:pPr>
            <a:r>
              <a:rPr sz="900" b="0">
                <a:solidFill>
                  <a:srgbClr val="435064"/>
                </a:solidFill>
              </a:rPr>
              <a:t>정확도와 보호를 동시에 확보</a:t>
            </a:r>
          </a:p>
        </p:txBody>
      </p:sp>
    </p:spTree>
    <p:extLst>
      <p:ext uri="{BB962C8B-B14F-4D97-AF65-F5344CB8AC3E}">
        <p14:creationId xmlns:p14="http://schemas.microsoft.com/office/powerpoint/2010/main" val="6531008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FF46BE-1E8C-432C-876B-BC34314B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독립 실행보다 적게 보고 더 많이 맞혔다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E470B-A6CA-4DC8-818D-FAB97675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04 · VALIDATION · INTERACTION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13C8A-1F11-4395-80D1-5471774A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8FC5D-C7BA-4066-B109-66AC0A29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8A4DB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68AB7-A7FA-42DB-BDD4-D1578E51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922C3-F84D-4ED9-BBDE-9B3677A7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6E29F-13BA-4694-9641-3FA582FA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TEST1000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EA9F2-0EB6-40A8-9CE8-11164A96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52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596"/>
                </a:solidFill>
              </a:defRPr>
            </a:pPr>
            <a:r>
              <a:rPr sz="975" b="0">
                <a:solidFill>
                  <a:srgbClr val="7A8596"/>
                </a:solidFill>
              </a:rPr>
              <a:t>Independent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E5A2A-9D8E-4663-9AFA-8E965BA6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90725"/>
            <a:ext cx="3589020" cy="161925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B95A5"/>
          </a:solidFill>
          <a:ln xmlns:a="http://schemas.openxmlformats.org/drawingml/2006/main" w="0">
            <a:solidFill>
              <a:srgbClr val="8B95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E2EBC-A42D-442D-A19D-C0B8B15E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2405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94.2%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A14C0-0E9A-48DB-9B9E-BDCC3A45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526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4DB0"/>
                </a:solidFill>
              </a:defRPr>
            </a:pPr>
            <a:r>
              <a:rPr sz="975" b="0">
                <a:solidFill>
                  <a:srgbClr val="8A4DB0"/>
                </a:solidFill>
              </a:rPr>
              <a:t>Full Dual-Line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0D109-1011-4625-9643-0F172038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90775"/>
            <a:ext cx="3657600" cy="161925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A4DB0"/>
          </a:solidFill>
          <a:ln xmlns:a="http://schemas.openxmlformats.org/drawingml/2006/main" w="0">
            <a:solidFill>
              <a:srgbClr val="8A4DB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F884B-BA65-48ED-B531-61885E4F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2410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A4DB0"/>
                </a:solidFill>
              </a:defRPr>
            </a:pPr>
            <a:r>
              <a:rPr sz="1125" b="1">
                <a:solidFill>
                  <a:srgbClr val="8A4DB0"/>
                </a:solidFill>
              </a:rPr>
              <a:t>96%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2F42F-F085-4E5C-A564-AE54DAE7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9552"/>
                </a:solidFill>
              </a:defRPr>
            </a:pPr>
            <a:r>
              <a:rPr sz="1350" b="1">
                <a:solidFill>
                  <a:srgbClr val="409552"/>
                </a:solidFill>
              </a:rPr>
              <a:t>REVIEW 191 → 103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24EBC3-8423-4C62-A0F6-5CA4D624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HF90 mixed 600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55090-CB32-4B3E-951A-614A389C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95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596"/>
                </a:solidFill>
              </a:defRPr>
            </a:pPr>
            <a:r>
              <a:rPr sz="975" b="0">
                <a:solidFill>
                  <a:srgbClr val="7A8596"/>
                </a:solidFill>
              </a:rPr>
              <a:t>Independent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29ADA6-F3B2-4461-AF86-81BA5628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33725"/>
            <a:ext cx="3645027" cy="161925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B95A5"/>
          </a:solidFill>
          <a:ln xmlns:a="http://schemas.openxmlformats.org/drawingml/2006/main" w="0">
            <a:solidFill>
              <a:srgbClr val="8B95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5A2F8A-97DF-4DDB-BEDA-A4FAE58E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6705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95.67%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E77E9-74D6-429A-8752-AF070D0C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956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4DB0"/>
                </a:solidFill>
              </a:defRPr>
            </a:pPr>
            <a:r>
              <a:rPr sz="975" b="0">
                <a:solidFill>
                  <a:srgbClr val="8A4DB0"/>
                </a:solidFill>
              </a:rPr>
              <a:t>Full Dual-Line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9D1701-386A-4D05-9685-FD62E148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33775"/>
            <a:ext cx="3695700" cy="161925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A4DB0"/>
          </a:solidFill>
          <a:ln xmlns:a="http://schemas.openxmlformats.org/drawingml/2006/main" w="0">
            <a:solidFill>
              <a:srgbClr val="8A4DB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6A4312-13E9-4EBF-9AFF-88F5A49E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6710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A4DB0"/>
                </a:solidFill>
              </a:defRPr>
            </a:pPr>
            <a:r>
              <a:rPr sz="1125" b="1">
                <a:solidFill>
                  <a:srgbClr val="8A4DB0"/>
                </a:solidFill>
              </a:rPr>
              <a:t>97%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322259-312C-45E7-9A9A-E664BE02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9552"/>
                </a:solidFill>
              </a:defRPr>
            </a:pPr>
            <a:r>
              <a:rPr sz="1350" b="1">
                <a:solidFill>
                  <a:srgbClr val="409552"/>
                </a:solidFill>
              </a:rPr>
              <a:t>REVIEW 98 → 57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3AA3EE-8DDF-4354-B9FE-C6CF9D97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AWA holdout 800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F4C254-744F-4760-8A6E-3A61C6C0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38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596"/>
                </a:solidFill>
              </a:defRPr>
            </a:pPr>
            <a:r>
              <a:rPr sz="975" b="0">
                <a:solidFill>
                  <a:srgbClr val="7A8596"/>
                </a:solidFill>
              </a:rPr>
              <a:t>Independent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76453C-5B00-445F-8E5A-96D2159F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3719703" cy="161925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B95A5"/>
          </a:solidFill>
          <a:ln xmlns:a="http://schemas.openxmlformats.org/drawingml/2006/main" w="0">
            <a:solidFill>
              <a:srgbClr val="8B95A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82A5BF-0DD1-4F4D-AA53-C3E156AF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1005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97.63%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D6E08B-12E1-450C-BC5A-9CB8271A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386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4DB0"/>
                </a:solidFill>
              </a:defRPr>
            </a:pPr>
            <a:r>
              <a:rPr sz="975" b="0">
                <a:solidFill>
                  <a:srgbClr val="8A4DB0"/>
                </a:solidFill>
              </a:rPr>
              <a:t>Full Dual-Line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BC9F5D-9448-4CE9-8D6C-532D7700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76775"/>
            <a:ext cx="3743325" cy="161925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A4DB0"/>
          </a:solidFill>
          <a:ln xmlns:a="http://schemas.openxmlformats.org/drawingml/2006/main" w="0">
            <a:solidFill>
              <a:srgbClr val="8A4DB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E6EDCA-03C6-4167-B75B-FC112C72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1010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A4DB0"/>
                </a:solidFill>
              </a:defRPr>
            </a:pPr>
            <a:r>
              <a:rPr sz="1125" b="1">
                <a:solidFill>
                  <a:srgbClr val="8A4DB0"/>
                </a:solidFill>
              </a:rPr>
              <a:t>98.25%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3E4F8B-7B59-4829-899E-737E6D73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9552"/>
                </a:solidFill>
              </a:defRPr>
            </a:pPr>
            <a:r>
              <a:rPr sz="1350" b="1">
                <a:solidFill>
                  <a:srgbClr val="409552"/>
                </a:solidFill>
              </a:rPr>
              <a:t>REVIEW 79 → 38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230B0A-3DB1-4C6D-A716-5B91BF3B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EAFB"/>
          </a:solidFill>
          <a:ln xmlns:a="http://schemas.openxmlformats.org/drawingml/2006/main" w="9525">
            <a:solidFill>
              <a:srgbClr val="8A4DB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716407-63D0-4FCF-A1F6-1E16F4AB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A4DB0"/>
                </a:solidFill>
              </a:defRPr>
            </a:pPr>
            <a:r>
              <a:rPr sz="1350" b="1">
                <a:solidFill>
                  <a:srgbClr val="8A4DB0"/>
                </a:solidFill>
              </a:rPr>
              <a:t>두 분류기의 서로 다른 상태를 공동 해석할 때 재관측 대상과 전환 후보를 더 효율적으로 선택했다.</a:t>
            </a:r>
          </a:p>
        </p:txBody>
      </p:sp>
    </p:spTree>
    <p:extLst>
      <p:ext uri="{BB962C8B-B14F-4D97-AF65-F5344CB8AC3E}">
        <p14:creationId xmlns:p14="http://schemas.microsoft.com/office/powerpoint/2010/main" val="2078377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EF338C8-BBDA-4DF0-9FA2-C6333C80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시드 반복과 신규 Holdout에서 같은 방향을 재현했다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5B59A-E91D-4A7C-9513-6031FD7C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04 · VALIDATION · ROBUSTNESS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84F44-3F74-4A61-B4BF-3C80C77E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EC75F-EE22-48B0-9150-B16C5860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4095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36904-4EF6-4C8A-906B-D5C9B3E2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938A8-B0DC-4A81-A9FF-AB6149AC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3D2E3-B63D-4338-A5AD-A9FDEEFD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3-seed TEST1000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B1C1E-D7FF-4AC7-AD27-17FACFA1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86BEE-00B5-49F5-A464-39A1129C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9552"/>
                </a:solidFill>
              </a:defRPr>
            </a:pPr>
            <a:r>
              <a:rPr sz="1050" b="1">
                <a:solidFill>
                  <a:srgbClr val="409552"/>
                </a:solidFill>
              </a:rPr>
              <a:t>SEED 310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3C4F5-658B-4E2C-BF28-D9894364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91.7 → 96.6%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0B642-8182-47F6-BABC-B64D845C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Fixed / Broken  50 /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8AC66-0BB4-43BE-91FA-7D4A0A68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52625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4624C-CD59-4FE5-9AE1-08BC2E6B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9552"/>
                </a:solidFill>
              </a:defRPr>
            </a:pPr>
            <a:r>
              <a:rPr sz="1050" b="1">
                <a:solidFill>
                  <a:srgbClr val="409552"/>
                </a:solidFill>
              </a:rPr>
              <a:t>SEED 311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7C69E-5A56-4305-9DD0-EBBE5865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93.2 → 96.0%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388F5-079F-4D14-8D9F-F887DC0E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57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Fixed / Broken  31 /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C622B0-F2D7-43CB-A5E9-BE0542AE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52625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B779F-C4D6-42D7-8878-5B4D973A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9552"/>
                </a:solidFill>
              </a:defRPr>
            </a:pPr>
            <a:r>
              <a:rPr sz="1050" b="1">
                <a:solidFill>
                  <a:srgbClr val="409552"/>
                </a:solidFill>
              </a:rPr>
              <a:t>SEED 312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A8C38-D533-427C-A138-0958EE34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19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92.1 → 95.4%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156B9-5F56-4ACC-B8AE-08B2B377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064"/>
                </a:solidFill>
              </a:defRPr>
            </a:pPr>
            <a:r>
              <a:rPr sz="975" b="0">
                <a:solidFill>
                  <a:srgbClr val="435064"/>
                </a:solidFill>
              </a:rPr>
              <a:t>Fixed / Broken  34 /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A4C746-7159-452A-93DE-0185EDD9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Wikimedia 신규 Holdout 300장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BAC71B-82C8-45DA-A710-66A5C642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27F997-770C-44FF-9F99-5E11C74A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Seed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C0685-3F1A-4CA8-ACA9-C17881A9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43375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26C27E-6C69-4F70-8914-70C2F662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43375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Base Joint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7E9D3D-04F6-4502-9FE6-DD3F13C8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43375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AB3D69-6FE7-444A-AA83-FA9BCA7C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43375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Final Joint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B432A0-10DB-4D1F-8222-52371B3B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43375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633611-10CF-4FC2-B092-A65DDF4E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43375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개선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41FB8E-2BFE-42B7-B571-01912E8A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43375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solidFill>
              <a:srgbClr val="1724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B95EFD-2D0B-449C-ABEC-D7DF92C1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43375"/>
            <a:ext cx="182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Fixed / Broken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53C517-D12D-4D4C-A6C8-9786061E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741B85-47E1-48FD-8BFC-C67D6A34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62475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310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32AE00-63FD-458C-B174-7F9BFACF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624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570BE4-5A89-47F8-9B12-11181218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624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75.67%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D945D3-506A-416B-9099-28A7A17E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624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CC3FB3-CC6B-4798-AA18-0F4DE7A2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624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86.67%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1D34BF-4C3F-4B41-9B01-72332173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624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00DAA3-32EF-4540-B25B-79994D97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624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+11.00%p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F18C2B-9A95-4903-82BA-580822AD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62475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EB1408-C401-480B-8F32-211E4A42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6247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36 / 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029816-8D31-4242-A3B5-C7545ED1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1A347C-137A-4CD6-9039-EA7127BD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311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5AD262-B59D-4EDA-B4CE-441C7E20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0062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A8BA3C-8789-4293-8C4E-0C4E8B77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0062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76.67%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F7851C-CFFE-4BB8-B0DD-652C171A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0062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6FAADB-6226-4BE8-B8FD-DD626154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0062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84.33%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A30B4A-1A01-4C90-95AD-402E041A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00062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FCA1D0-5C43-4956-9959-D398460F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00062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+7.67%p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EAE498-ADB2-4E33-8EFC-53F62E03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00625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7D5D96-D669-4466-9F0B-CD24E669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0062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25 / 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88AEAA-FFD7-4437-BF8E-105AFB50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8BEA13-CD19-4EB6-B759-0FA70ECB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38775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312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A691CF-91D8-418B-B1D3-00EDC286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4387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0D5A28-AA00-4997-8EA1-4059FFCC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4387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77.00%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02C1964-937E-4822-9367-2AE13441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4387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4DDBA7-E082-4E5B-988C-C6179EF1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4387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84.67%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A86244-A4CF-431D-895B-D869A477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438775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FEED8D5-B1A8-4FE1-8971-05D6D64C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4387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+7.67%p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273D6E2-BF96-47DF-A77E-B5B34DA2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38775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4B0770E-F06F-4502-908B-516083E4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3877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24 / 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A6E88B2-3362-4B1D-A25D-50E8AFD9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981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85988AE-A60C-4C92-99D5-716B4DCF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5767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평균 개선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52F962-98E9-47ED-88A6-0559B32E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958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A4DB0"/>
                </a:solidFill>
              </a:defRPr>
            </a:pPr>
            <a:r>
              <a:rPr sz="2100" b="1">
                <a:solidFill>
                  <a:srgbClr val="8A4DB0"/>
                </a:solidFill>
              </a:rPr>
              <a:t>+8.78%p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30ED987-E41D-457C-BECE-E84800E1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24425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064"/>
                </a:solidFill>
              </a:defRPr>
            </a:pPr>
            <a:r>
              <a:rPr sz="900" b="0">
                <a:solidFill>
                  <a:srgbClr val="435064"/>
                </a:solidFill>
              </a:rPr>
              <a:t>Final 85.22%</a:t>
            </a:r>
          </a:p>
        </p:txBody>
      </p:sp>
    </p:spTree>
    <p:extLst>
      <p:ext uri="{BB962C8B-B14F-4D97-AF65-F5344CB8AC3E}">
        <p14:creationId xmlns:p14="http://schemas.microsoft.com/office/powerpoint/2010/main" val="8482154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03E590-5D52-452D-B034-49557E1D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두 branch가 함께 틀린 사례도 새로운 관측으로 복구했다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FAB2A-0650-4E44-897F-34244AA2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04 · VALIDATION · JOINT-ERROR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0162D-0A52-40E1-A812-B57A4EC3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15999-EA08-4B88-B897-1502A71B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8A4DB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10439-B83C-4EA5-8B03-09DE05E4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86C17-5317-4746-AC06-468843B2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18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c28167f9f444c"/>
          <a:srcRect xmlns:a="http://schemas.openxmlformats.org/drawingml/2006/main" l="0" t="1167" r="0" b="11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66875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DE35A-4216-48E0-B5F3-8A58550F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44949"/>
                </a:solidFill>
              </a:defRPr>
            </a:pPr>
            <a:r>
              <a:rPr sz="1050" b="0">
                <a:solidFill>
                  <a:srgbClr val="C44949"/>
                </a:solidFill>
              </a:rPr>
              <a:t>기존  dog / german shepherd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C7C28-123E-4E53-B3E4-DD6D3E63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9552"/>
                </a:solidFill>
              </a:defRPr>
            </a:pPr>
            <a:r>
              <a:rPr sz="1350" b="1">
                <a:solidFill>
                  <a:srgbClr val="409552"/>
                </a:solidFill>
              </a:rPr>
              <a:t>최종  horse/horse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E6B1E-4F93-48F5-9460-0B72719A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596"/>
                </a:solidFill>
              </a:defRPr>
            </a:pPr>
            <a:r>
              <a:rPr sz="975" b="0">
                <a:solidFill>
                  <a:srgbClr val="7A8596"/>
                </a:solidFill>
              </a:rPr>
              <a:t>joint_tight · support 6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a0bcb1fac4048"/>
          <a:srcRect xmlns:a="http://schemas.openxmlformats.org/drawingml/2006/main" l="0" t="813" r="0" b="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1666875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9E975-14F2-47DB-82CF-A953C660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44949"/>
                </a:solidFill>
              </a:defRPr>
            </a:pPr>
            <a:r>
              <a:rPr sz="1050" b="0">
                <a:solidFill>
                  <a:srgbClr val="C44949"/>
                </a:solidFill>
              </a:rPr>
              <a:t>기존  dog / german shepherd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3241B-F4D0-4784-A6EA-FA04F537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9552"/>
                </a:solidFill>
              </a:defRPr>
            </a:pPr>
            <a:r>
              <a:rPr sz="1350" b="1">
                <a:solidFill>
                  <a:srgbClr val="409552"/>
                </a:solidFill>
              </a:rPr>
              <a:t>최종  dog_like/fox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92562-ECCB-4B06-97A4-1C2EE449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596"/>
                </a:solidFill>
              </a:defRPr>
            </a:pPr>
            <a:r>
              <a:rPr sz="975" b="0">
                <a:solidFill>
                  <a:srgbClr val="7A8596"/>
                </a:solidFill>
              </a:rPr>
              <a:t>fine_disagreement · support 6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42904913f49a9"/>
          <a:srcRect xmlns:a="http://schemas.openxmlformats.org/drawingml/2006/main" l="4452" t="0" r="44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1666875"/>
            <a:ext cx="3333750" cy="219075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43847-4A9D-46BA-93FD-72817596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44949"/>
                </a:solidFill>
              </a:defRPr>
            </a:pPr>
            <a:r>
              <a:rPr sz="1050" b="0">
                <a:solidFill>
                  <a:srgbClr val="C44949"/>
                </a:solidFill>
              </a:rPr>
              <a:t>기존  dog / fox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36CDF-7C25-4F44-9176-B07217CA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862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9552"/>
                </a:solidFill>
              </a:defRPr>
            </a:pPr>
            <a:r>
              <a:rPr sz="1350" b="1">
                <a:solidFill>
                  <a:srgbClr val="409552"/>
                </a:solidFill>
              </a:rPr>
              <a:t>최종  deer/deer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01F793-24F6-462D-993C-5211B116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482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596"/>
                </a:solidFill>
              </a:defRPr>
            </a:pPr>
            <a:r>
              <a:rPr sz="975" b="0">
                <a:solidFill>
                  <a:srgbClr val="7A8596"/>
                </a:solidFill>
              </a:rPr>
              <a:t>parent_disagreement · support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B324A6-4A90-4005-99BE-18E988CD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EAFB"/>
          </a:solidFill>
          <a:ln xmlns:a="http://schemas.openxmlformats.org/drawingml/2006/main" w="9525">
            <a:solidFill>
              <a:srgbClr val="8A4D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8D66B-1CA4-415C-BE93-5BC23042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A4DB0"/>
                </a:solidFill>
              </a:defRPr>
            </a:pPr>
            <a:r>
              <a:rPr sz="1425" b="1">
                <a:solidFill>
                  <a:srgbClr val="8A4DB0"/>
                </a:solidFill>
              </a:rPr>
              <a:t>Parent-only 14장  ·  Fine-only 16장  ·  Parent/Fine 공동 오답 10장  ·  전체 Fixed 40장</a:t>
            </a:r>
          </a:p>
        </p:txBody>
      </p:sp>
    </p:spTree>
    <p:extLst>
      <p:ext uri="{BB962C8B-B14F-4D97-AF65-F5344CB8AC3E}">
        <p14:creationId xmlns:p14="http://schemas.microsoft.com/office/powerpoint/2010/main" val="18907365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218AFC-09EF-46CA-BD23-13A7FF5A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라벨 없는 실행 경로와 감사 경로를 물리적으로 분리했다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6195B-5EDB-4594-8C6B-6A244E6D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04 · DEPLOYMENT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40A1D-9349-4502-92A8-E2D0E319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E870F-599E-48E9-85FD-CADC2CF6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F8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192B6-14D6-410A-8E85-21591393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0563D-55CD-4C23-AE33-419C2417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A2D99-47D1-4470-AF7E-386B038A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574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95A5"/>
                </a:solidFill>
              </a:defRPr>
            </a:pPr>
            <a:r>
              <a:rPr sz="1875" b="1">
                <a:solidFill>
                  <a:srgbClr val="8B95A5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812F6-7550-4C86-87A9-3CAC75FA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2333625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071EE-6BD0-4897-AAAD-A0AD693D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400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F80D0"/>
          </a:solidFill>
          <a:ln xmlns:a="http://schemas.openxmlformats.org/drawingml/2006/main" w="0">
            <a:solidFill>
              <a:srgbClr val="2F8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005FF-08F9-496B-8EEC-951CC487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EBFFA-5AD7-4B4A-B06E-8AEC75B3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AE740-DCDC-4B23-95E6-7D7020EC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label/truth keys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701DF-1B1B-4FD2-AF5B-5531BA1A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4574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95A5"/>
                </a:solidFill>
              </a:defRPr>
            </a:pPr>
            <a:r>
              <a:rPr sz="1875" b="1">
                <a:solidFill>
                  <a:srgbClr val="8B95A5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60DF7-33F1-4627-81AD-AF2273C9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57375"/>
            <a:ext cx="2333625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9C338-FBE8-49A8-9C8D-3B307BAD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19300"/>
            <a:ext cx="400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C8950D"/>
          </a:solidFill>
          <a:ln xmlns:a="http://schemas.openxmlformats.org/drawingml/2006/main" w="0">
            <a:solidFill>
              <a:srgbClr val="C8950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4A866D-B470-4491-AE47-038BF246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19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A17B9-1E45-4A61-982E-D4DD19C8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Runtime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83992-4AC7-47C6-9452-08DBFDB7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62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REVIEW 103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19D6A-0E9E-400E-90FA-7128D033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574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95A5"/>
                </a:solidFill>
              </a:defRPr>
            </a:pPr>
            <a:r>
              <a:rPr sz="1875" b="1">
                <a:solidFill>
                  <a:srgbClr val="8B95A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10DD1-834F-4AA8-B40C-4A702730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57375"/>
            <a:ext cx="2333625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168D5D-9EB6-496F-8AA6-CA7A9AE5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19300"/>
            <a:ext cx="400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8A4DB0"/>
          </a:solidFill>
          <a:ln xmlns:a="http://schemas.openxmlformats.org/drawingml/2006/main" w="0">
            <a:solidFill>
              <a:srgbClr val="8A4DB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0F380E-17F3-478B-970A-715413D2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55E225-566E-4587-BD37-3199665E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0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Correction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747962-34A7-4168-AC25-FA00841A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62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SWITCH 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781140-5D00-4CCB-81DC-4E02A8EF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57375"/>
            <a:ext cx="2333625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0BB7DE-6463-4E85-B6F8-65815B06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19300"/>
            <a:ext cx="4000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409552"/>
          </a:solidFill>
          <a:ln xmlns:a="http://schemas.openxmlformats.org/drawingml/2006/main" w="0">
            <a:solidFill>
              <a:srgbClr val="40955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589862-EC43-40DB-B83C-909032BB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19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BEC122-1C41-4307-8FFE-4627A9B4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Truth audit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45B8F7-47B3-42E5-B761-D93AF78D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62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064"/>
                </a:solidFill>
              </a:defRPr>
            </a:pPr>
            <a:r>
              <a:rPr sz="1050" b="0">
                <a:solidFill>
                  <a:srgbClr val="435064"/>
                </a:solidFill>
              </a:rPr>
              <a:t>decision 완전 일치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137616-57B0-4677-8474-2AAE1F64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Backbone별 개선 범위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C3F032-89DE-4477-B6B1-5EC75977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4476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199C41-757C-4903-9ED8-CA766A52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ResNet18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02E0F4-28D5-45C8-A4A0-2E551E74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80D0"/>
                </a:solidFill>
              </a:defRPr>
            </a:pPr>
            <a:r>
              <a:rPr sz="2100" b="1">
                <a:solidFill>
                  <a:srgbClr val="2F80D0"/>
                </a:solidFill>
              </a:rPr>
              <a:t>92.2% → 96.0%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45C705-0FFB-4410-BC66-BBF8EC13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064"/>
                </a:solidFill>
              </a:defRPr>
            </a:pPr>
            <a:r>
              <a:rPr sz="900" b="0">
                <a:solidFill>
                  <a:srgbClr val="435064"/>
                </a:solidFill>
              </a:rPr>
              <a:t>40 fixed / 2 broken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1ACC53-4E6D-471C-B544-766D7859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38625"/>
            <a:ext cx="4476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578290-7E76-4B3F-ABC9-47E9B2D4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529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8596"/>
                </a:solidFill>
              </a:defRPr>
            </a:pPr>
            <a:r>
              <a:rPr sz="975" b="1">
                <a:solidFill>
                  <a:srgbClr val="7A8596"/>
                </a:solidFill>
              </a:rPr>
              <a:t>DINOv2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D09505-06D1-4707-B5AD-6B4C2E94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A4DB0"/>
                </a:solidFill>
              </a:defRPr>
            </a:pPr>
            <a:r>
              <a:rPr sz="2100" b="1">
                <a:solidFill>
                  <a:srgbClr val="8A4DB0"/>
                </a:solidFill>
              </a:rPr>
              <a:t>98.4% → 98.7%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916ECF-D247-4331-BA15-8A476900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196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064"/>
                </a:solidFill>
              </a:defRPr>
            </a:pPr>
            <a:r>
              <a:rPr sz="900" b="0">
                <a:solidFill>
                  <a:srgbClr val="435064"/>
                </a:solidFill>
              </a:rPr>
              <a:t>3 fixed / 0 broken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20CBAC-036A-4BB6-8FA4-A73C356D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43A"/>
                </a:solidFill>
              </a:defRPr>
            </a:pPr>
            <a:r>
              <a:rPr sz="1275" b="1">
                <a:solidFill>
                  <a:srgbClr val="17243A"/>
                </a:solidFill>
              </a:rPr>
              <a:t>판단 계층은 약한 Backbone에서는 큰 복구 폭을, 강한 Backbone에서는 기존 정답을 지키는 제한적 추가 개선을 보였다.</a:t>
            </a:r>
          </a:p>
        </p:txBody>
      </p:sp>
    </p:spTree>
    <p:extLst>
      <p:ext uri="{BB962C8B-B14F-4D97-AF65-F5344CB8AC3E}">
        <p14:creationId xmlns:p14="http://schemas.microsoft.com/office/powerpoint/2010/main" val="4944992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2F0457-2D42-41BF-8134-3412E2A9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검증된 범위와 다음 확장 과제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0DE92-7E6E-4B50-81E2-E760402E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8596"/>
                </a:solidFill>
              </a:defRPr>
            </a:pPr>
            <a:r>
              <a:rPr sz="900" b="1">
                <a:solidFill>
                  <a:srgbClr val="7A8596"/>
                </a:solidFill>
              </a:rPr>
              <a:t>05 · LIMITS &amp;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32EFE-5D53-4143-B158-A3597DF1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5DAC4-ACF2-48DE-94DC-DEF6F72C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8B95A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3EF13-A285-4161-906D-56F326DC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Dual-Line Perception and Judgment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58141-0F44-4935-ADE1-E8784D92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865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8596"/>
                </a:solidFill>
              </a:defRPr>
            </a:pPr>
            <a:r>
              <a:rPr sz="675" b="0">
                <a:solidFill>
                  <a:srgbClr val="7A8596"/>
                </a:solidFill>
              </a:rPr>
              <a:t>PAGE 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084DB-DB90-42BB-B3AF-8B388736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4095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67AE8-1F5B-4B65-B523-85CC2BD3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09552"/>
                </a:solidFill>
              </a:defRPr>
            </a:pPr>
            <a:r>
              <a:rPr sz="1650" b="1">
                <a:solidFill>
                  <a:srgbClr val="409552"/>
                </a:solidFill>
              </a:rPr>
              <a:t>검증된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CF1F7-CA62-447D-B435-02B8F592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Dual risk로 REVIEW 191 → 103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Joint selector 고정 시 +2.7%p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독립 실행 대비 Full +1.8%p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공동 오답 10장 복구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43684-70F5-4027-BCB0-D7FB3B2C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C8950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E637D-DFA4-4F0C-82D0-6E852F4F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478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950D"/>
                </a:solidFill>
              </a:defRPr>
            </a:pPr>
            <a:r>
              <a:rPr sz="1650" b="1">
                <a:solidFill>
                  <a:srgbClr val="C8950D"/>
                </a:solidFill>
              </a:rPr>
              <a:t>현재 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6EFD9-DF77-4AF1-B1F2-3AF79AAF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7175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작은 객체·심한 가림에서 후보 품질 저하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후보가 있어도 selector가 모두 복구하지 못함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REVIEW 경로는 추가 지연 발생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10-class 중심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64BFE-8314-427D-91AE-6272D0E0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8A4DB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8C47C-6FB3-45D3-B509-21343ED8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A4DB0"/>
                </a:solidFill>
              </a:defRPr>
            </a:pPr>
            <a:r>
              <a:rPr sz="1650" b="1">
                <a:solidFill>
                  <a:srgbClr val="8A4DB0"/>
                </a:solidFill>
              </a:rPr>
              <a:t>다음 확장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AA05A4-3C98-4CC5-AE7F-00A29C0C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객체 크기 기반 축소·분할 view planner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동적 REVIEW budget과 early exit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외부/OOD calibration 및 class 확장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• Activation steering은 별도 검증 모듈로 유지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1FB113-0C2E-45B4-9D54-FC350F62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50940-8E2A-4D0B-83D0-17654175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핵심 과제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875E9-36F2-43ED-8430-92996A74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102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A"/>
                </a:solidFill>
              </a:defRPr>
            </a:pPr>
            <a:r>
              <a:rPr sz="1350" b="1">
                <a:solidFill>
                  <a:srgbClr val="17243A"/>
                </a:solidFill>
              </a:rPr>
              <a:t>후보를 무작정 늘리기보다, 제한된 연산 예산에서 언제 다시 보고 언제 기존 판단을 바꿀지를 안정적으로 결정하는 것</a:t>
            </a:r>
          </a:p>
        </p:txBody>
      </p:sp>
    </p:spTree>
    <p:extLst>
      <p:ext uri="{BB962C8B-B14F-4D97-AF65-F5344CB8AC3E}">
        <p14:creationId xmlns:p14="http://schemas.microsoft.com/office/powerpoint/2010/main" val="759551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2026-08-06T07:10:08.8650000Z</dcterms:created>
  <dcterms:modified xsi:type="dcterms:W3CDTF">2026-08-06T07:10:08.8650000Z</dcterms:modified>
</coreProperties>
</file>