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151aa147824b6e" /><Relationship Type="http://schemas.openxmlformats.org/officeDocument/2006/relationships/extended-properties" Target="/docProps/app.xml" Id="R577ffc46f104436b" /><Relationship Type="http://schemas.openxmlformats.org/officeDocument/2006/relationships/officeDocument" Target="/ppt/presentation.xml" Id="Rb4f1a8e5a9854a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ae36a1013461f"/>
  </p:sldMasterIdLst>
  <p:notesMasterIdLst>
    <p:notesMasterId xmlns:r="http://schemas.openxmlformats.org/officeDocument/2006/relationships" r:id="R15cd0ed1401846fc"/>
  </p:notesMasterIdLst>
  <p:sldIdLst>
    <p:sldId xmlns:r="http://schemas.openxmlformats.org/officeDocument/2006/relationships" id="256" r:id="Ref7bbfbf6fc648b6"/>
    <p:sldId xmlns:r="http://schemas.openxmlformats.org/officeDocument/2006/relationships" id="257" r:id="R8539017c3c984c1c"/>
    <p:sldId xmlns:r="http://schemas.openxmlformats.org/officeDocument/2006/relationships" id="258" r:id="R717c131afcd541e8"/>
    <p:sldId xmlns:r="http://schemas.openxmlformats.org/officeDocument/2006/relationships" id="259" r:id="R10595276bbac4a82"/>
    <p:sldId xmlns:r="http://schemas.openxmlformats.org/officeDocument/2006/relationships" id="260" r:id="Rccb5ee0be9ef4b98"/>
    <p:sldId xmlns:r="http://schemas.openxmlformats.org/officeDocument/2006/relationships" id="261" r:id="Rc54ac7005d1a4fd5"/>
    <p:sldId xmlns:r="http://schemas.openxmlformats.org/officeDocument/2006/relationships" id="262" r:id="Rfcb1458b904a4406"/>
    <p:sldId xmlns:r="http://schemas.openxmlformats.org/officeDocument/2006/relationships" id="263" r:id="R1f9bd4df606f41f3"/>
    <p:sldId xmlns:r="http://schemas.openxmlformats.org/officeDocument/2006/relationships" id="264" r:id="Ra6d1515077934262"/>
    <p:sldId xmlns:r="http://schemas.openxmlformats.org/officeDocument/2006/relationships" id="265" r:id="R8de9f7fa01e14746"/>
    <p:sldId xmlns:r="http://schemas.openxmlformats.org/officeDocument/2006/relationships" id="266" r:id="R4c8172b9cd1141f4"/>
    <p:sldId xmlns:r="http://schemas.openxmlformats.org/officeDocument/2006/relationships" id="267" r:id="R49abb005af7348a0"/>
    <p:sldId xmlns:r="http://schemas.openxmlformats.org/officeDocument/2006/relationships" id="268" r:id="R34f709b690594353"/>
    <p:sldId xmlns:r="http://schemas.openxmlformats.org/officeDocument/2006/relationships" id="269" r:id="R957816bec504424c"/>
    <p:sldId xmlns:r="http://schemas.openxmlformats.org/officeDocument/2006/relationships" id="270" r:id="R280a585a20db440a"/>
    <p:sldId xmlns:r="http://schemas.openxmlformats.org/officeDocument/2006/relationships" id="271" r:id="Refb38c3dd7314a8a"/>
    <p:sldId xmlns:r="http://schemas.openxmlformats.org/officeDocument/2006/relationships" id="272" r:id="R872b55128ecc4e12"/>
    <p:sldId xmlns:r="http://schemas.openxmlformats.org/officeDocument/2006/relationships" id="273" r:id="R0c92d08ee2784ed3"/>
    <p:sldId xmlns:r="http://schemas.openxmlformats.org/officeDocument/2006/relationships" id="274" r:id="Reabaa781c90d45a5"/>
    <p:sldId xmlns:r="http://schemas.openxmlformats.org/officeDocument/2006/relationships" id="275" r:id="R1067e61f4fe64f2a"/>
    <p:sldId xmlns:r="http://schemas.openxmlformats.org/officeDocument/2006/relationships" id="276" r:id="R306417736d424e31"/>
    <p:sldId xmlns:r="http://schemas.openxmlformats.org/officeDocument/2006/relationships" id="277" r:id="R5193fc0aee3e4966"/>
    <p:sldId xmlns:r="http://schemas.openxmlformats.org/officeDocument/2006/relationships" id="278" r:id="Rf135c066c7104a57"/>
    <p:sldId xmlns:r="http://schemas.openxmlformats.org/officeDocument/2006/relationships" id="279" r:id="Rad1821e13536493d"/>
    <p:sldId xmlns:r="http://schemas.openxmlformats.org/officeDocument/2006/relationships" id="280" r:id="Rbc840fd0d7aa487f"/>
    <p:sldId xmlns:r="http://schemas.openxmlformats.org/officeDocument/2006/relationships" id="281" r:id="R599fece8f42543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b4ccbb99cc4f6a" /><Relationship Type="http://schemas.openxmlformats.org/officeDocument/2006/relationships/slideMaster" Target="/ppt/slideMasters/slideMaster1.xml" Id="Rc90ae36a1013461f" /><Relationship Type="http://schemas.openxmlformats.org/officeDocument/2006/relationships/notesMaster" Target="/ppt/notesMasters/notesMaster1.xml" Id="R15cd0ed1401846fc" /><Relationship Type="http://schemas.openxmlformats.org/officeDocument/2006/relationships/presProps" Target="/ppt/presProps.xml" Id="R1f87977c396344d5" /><Relationship Type="http://schemas.openxmlformats.org/officeDocument/2006/relationships/tableStyles" Target="/ppt/tableStyles.xml" Id="R1a35e239e8bc4f43" /><Relationship Type="http://schemas.openxmlformats.org/officeDocument/2006/relationships/slide" Target="/ppt/slides/slide1.xml" Id="Ref7bbfbf6fc648b6" /><Relationship Type="http://schemas.openxmlformats.org/officeDocument/2006/relationships/slide" Target="/ppt/slides/slide2.xml" Id="R8539017c3c984c1c" /><Relationship Type="http://schemas.openxmlformats.org/officeDocument/2006/relationships/slide" Target="/ppt/slides/slide3.xml" Id="R717c131afcd541e8" /><Relationship Type="http://schemas.openxmlformats.org/officeDocument/2006/relationships/slide" Target="/ppt/slides/slide4.xml" Id="R10595276bbac4a82" /><Relationship Type="http://schemas.openxmlformats.org/officeDocument/2006/relationships/slide" Target="/ppt/slides/slide5.xml" Id="Rccb5ee0be9ef4b98" /><Relationship Type="http://schemas.openxmlformats.org/officeDocument/2006/relationships/slide" Target="/ppt/slides/slide6.xml" Id="Rc54ac7005d1a4fd5" /><Relationship Type="http://schemas.openxmlformats.org/officeDocument/2006/relationships/slide" Target="/ppt/slides/slide7.xml" Id="Rfcb1458b904a4406" /><Relationship Type="http://schemas.openxmlformats.org/officeDocument/2006/relationships/slide" Target="/ppt/slides/slide8.xml" Id="R1f9bd4df606f41f3" /><Relationship Type="http://schemas.openxmlformats.org/officeDocument/2006/relationships/slide" Target="/ppt/slides/slide9.xml" Id="Ra6d1515077934262" /><Relationship Type="http://schemas.openxmlformats.org/officeDocument/2006/relationships/slide" Target="/ppt/slides/slide10.xml" Id="R8de9f7fa01e14746" /><Relationship Type="http://schemas.openxmlformats.org/officeDocument/2006/relationships/slide" Target="/ppt/slides/slide11.xml" Id="R4c8172b9cd1141f4" /><Relationship Type="http://schemas.openxmlformats.org/officeDocument/2006/relationships/slide" Target="/ppt/slides/slide12.xml" Id="R49abb005af7348a0" /><Relationship Type="http://schemas.openxmlformats.org/officeDocument/2006/relationships/slide" Target="/ppt/slides/slide13.xml" Id="R34f709b690594353" /><Relationship Type="http://schemas.openxmlformats.org/officeDocument/2006/relationships/slide" Target="/ppt/slides/slide14.xml" Id="R957816bec504424c" /><Relationship Type="http://schemas.openxmlformats.org/officeDocument/2006/relationships/slide" Target="/ppt/slides/slide15.xml" Id="R280a585a20db440a" /><Relationship Type="http://schemas.openxmlformats.org/officeDocument/2006/relationships/slide" Target="/ppt/slides/slide16.xml" Id="Refb38c3dd7314a8a" /><Relationship Type="http://schemas.openxmlformats.org/officeDocument/2006/relationships/slide" Target="/ppt/slides/slide17.xml" Id="R872b55128ecc4e12" /><Relationship Type="http://schemas.openxmlformats.org/officeDocument/2006/relationships/slide" Target="/ppt/slides/slide18.xml" Id="R0c92d08ee2784ed3" /><Relationship Type="http://schemas.openxmlformats.org/officeDocument/2006/relationships/slide" Target="/ppt/slides/slide19.xml" Id="Reabaa781c90d45a5" /><Relationship Type="http://schemas.openxmlformats.org/officeDocument/2006/relationships/slide" Target="/ppt/slides/slide20.xml" Id="R1067e61f4fe64f2a" /><Relationship Type="http://schemas.openxmlformats.org/officeDocument/2006/relationships/slide" Target="/ppt/slides/slide21.xml" Id="R306417736d424e31" /><Relationship Type="http://schemas.openxmlformats.org/officeDocument/2006/relationships/slide" Target="/ppt/slides/slide22.xml" Id="R5193fc0aee3e4966" /><Relationship Type="http://schemas.openxmlformats.org/officeDocument/2006/relationships/slide" Target="/ppt/slides/slide23.xml" Id="Rf135c066c7104a57" /><Relationship Type="http://schemas.openxmlformats.org/officeDocument/2006/relationships/slide" Target="/ppt/slides/slide24.xml" Id="Rad1821e13536493d" /><Relationship Type="http://schemas.openxmlformats.org/officeDocument/2006/relationships/slide" Target="/ppt/slides/slide25.xml" Id="Rbc840fd0d7aa487f" /><Relationship Type="http://schemas.openxmlformats.org/officeDocument/2006/relationships/slide" Target="/ppt/slides/slide26.xml" Id="R599fece8f42543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668deec2eb47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16efce6e2b4a90" /><Relationship Type="http://schemas.openxmlformats.org/officeDocument/2006/relationships/notesMaster" Target="/ppt/notesMasters/notesMaster1.xml" Id="R05c42750e6cc43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af42a719d4abd" /><Relationship Type="http://schemas.openxmlformats.org/officeDocument/2006/relationships/notesMaster" Target="/ppt/notesMasters/notesMaster1.xml" Id="R60c593fef91c4e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88879480464eb2" /><Relationship Type="http://schemas.openxmlformats.org/officeDocument/2006/relationships/notesMaster" Target="/ppt/notesMasters/notesMaster1.xml" Id="Re1bc5bb9c1d94b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0261f9d2fd4094" /><Relationship Type="http://schemas.openxmlformats.org/officeDocument/2006/relationships/notesMaster" Target="/ppt/notesMasters/notesMaster1.xml" Id="R7298fc4f7ee440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1f7a6742e349db" /><Relationship Type="http://schemas.openxmlformats.org/officeDocument/2006/relationships/notesMaster" Target="/ppt/notesMasters/notesMaster1.xml" Id="Re4a51a2b583f48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d0e1c24c24473f" /><Relationship Type="http://schemas.openxmlformats.org/officeDocument/2006/relationships/notesMaster" Target="/ppt/notesMasters/notesMaster1.xml" Id="Rbd64682c521447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f703be14fd447b" /><Relationship Type="http://schemas.openxmlformats.org/officeDocument/2006/relationships/notesMaster" Target="/ppt/notesMasters/notesMaster1.xml" Id="R62bb44ca23d94d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4c93bdc6cd43f4" /><Relationship Type="http://schemas.openxmlformats.org/officeDocument/2006/relationships/notesMaster" Target="/ppt/notesMasters/notesMaster1.xml" Id="Rc94527a6b01545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941ea3a6dc40a9" /><Relationship Type="http://schemas.openxmlformats.org/officeDocument/2006/relationships/notesMaster" Target="/ppt/notesMasters/notesMaster1.xml" Id="R140e02e1395e4c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a8187b1fd540c5" /><Relationship Type="http://schemas.openxmlformats.org/officeDocument/2006/relationships/notesMaster" Target="/ppt/notesMasters/notesMaster1.xml" Id="R75c98c21993b40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5862c635df4a88" /><Relationship Type="http://schemas.openxmlformats.org/officeDocument/2006/relationships/notesMaster" Target="/ppt/notesMasters/notesMaster1.xml" Id="Rdb329803651e4a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33f7b39a324b6c" /><Relationship Type="http://schemas.openxmlformats.org/officeDocument/2006/relationships/notesMaster" Target="/ppt/notesMasters/notesMaster1.xml" Id="Rabf29c824ebf44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8c207e70ac450d" /><Relationship Type="http://schemas.openxmlformats.org/officeDocument/2006/relationships/notesMaster" Target="/ppt/notesMasters/notesMaster1.xml" Id="R2244cab68afb4d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ea8a72d11544c4" /><Relationship Type="http://schemas.openxmlformats.org/officeDocument/2006/relationships/notesMaster" Target="/ppt/notesMasters/notesMaster1.xml" Id="Rf5c9c45cdeab44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40b4caae5247a5" /><Relationship Type="http://schemas.openxmlformats.org/officeDocument/2006/relationships/notesMaster" Target="/ppt/notesMasters/notesMaster1.xml" Id="R2c790ebc7a894e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15a9537de14e02" /><Relationship Type="http://schemas.openxmlformats.org/officeDocument/2006/relationships/notesMaster" Target="/ppt/notesMasters/notesMaster1.xml" Id="R5d3e6df4e9424f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5ef2930cbf4f65" /><Relationship Type="http://schemas.openxmlformats.org/officeDocument/2006/relationships/notesMaster" Target="/ppt/notesMasters/notesMaster1.xml" Id="Rcb683d8a8a3e43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646bc575514204" /><Relationship Type="http://schemas.openxmlformats.org/officeDocument/2006/relationships/notesMaster" Target="/ppt/notesMasters/notesMaster1.xml" Id="Ra86d2fd74b2e44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2a37c1e4cf4e97" /><Relationship Type="http://schemas.openxmlformats.org/officeDocument/2006/relationships/notesMaster" Target="/ppt/notesMasters/notesMaster1.xml" Id="R6129f7c185024e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3b3214d9dad4c41" /><Relationship Type="http://schemas.openxmlformats.org/officeDocument/2006/relationships/notesMaster" Target="/ppt/notesMasters/notesMaster1.xml" Id="R31811b74eafe40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87c87e3ec64846" /><Relationship Type="http://schemas.openxmlformats.org/officeDocument/2006/relationships/notesMaster" Target="/ppt/notesMasters/notesMaster1.xml" Id="R667871bc74c549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367fbbc92d43b0" /><Relationship Type="http://schemas.openxmlformats.org/officeDocument/2006/relationships/notesMaster" Target="/ppt/notesMasters/notesMaster1.xml" Id="Rb8a2f353846a4f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fca282522934e71" /><Relationship Type="http://schemas.openxmlformats.org/officeDocument/2006/relationships/notesMaster" Target="/ppt/notesMasters/notesMaster1.xml" Id="R650292fe3baf4b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7d5272186d482d" /><Relationship Type="http://schemas.openxmlformats.org/officeDocument/2006/relationships/notesMaster" Target="/ppt/notesMasters/notesMaster1.xml" Id="R311faf25f0f14f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21d943acd3e48b8" /><Relationship Type="http://schemas.openxmlformats.org/officeDocument/2006/relationships/notesMaster" Target="/ppt/notesMasters/notesMaster1.xml" Id="R8ed66393ec7442a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b76b24ca4845ee" /><Relationship Type="http://schemas.openxmlformats.org/officeDocument/2006/relationships/notesMaster" Target="/ppt/notesMasters/notesMaster1.xml" Id="R052c48eef1e44d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5a71a569d47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da01199de04503" /><Relationship Type="http://schemas.openxmlformats.org/officeDocument/2006/relationships/slideLayout" Target="/ppt/slideLayouts/slideLayout1.xml" Id="Rabdb60257bc44e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db60257bc44e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50384e0b74152" /><Relationship Type="http://schemas.openxmlformats.org/officeDocument/2006/relationships/notesSlide" Target="/ppt/notesSlides/notesSlide1.xml" Id="R29e88e224b5340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0455b782145d2" /><Relationship Type="http://schemas.openxmlformats.org/officeDocument/2006/relationships/notesSlide" Target="/ppt/notesSlides/notesSlide2.xml" Id="R2f2741b1384445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b8683584544ac" /><Relationship Type="http://schemas.openxmlformats.org/officeDocument/2006/relationships/notesSlide" Target="/ppt/notesSlides/notesSlide3.xml" Id="R422af21001f04c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73dff30474e65" /><Relationship Type="http://schemas.openxmlformats.org/officeDocument/2006/relationships/notesSlide" Target="/ppt/notesSlides/notesSlide4.xml" Id="Rf23cbaee381843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0b2c01c3d4ea0" /><Relationship Type="http://schemas.openxmlformats.org/officeDocument/2006/relationships/notesSlide" Target="/ppt/notesSlides/notesSlide5.xml" Id="R25bc5a169c6240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30ab950f24906" /><Relationship Type="http://schemas.openxmlformats.org/officeDocument/2006/relationships/notesSlide" Target="/ppt/notesSlides/notesSlide6.xml" Id="R7ba0830c1ff145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4471da7454388" /><Relationship Type="http://schemas.openxmlformats.org/officeDocument/2006/relationships/notesSlide" Target="/ppt/notesSlides/notesSlide7.xml" Id="R1d47470449ce45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98b6838b94d83" /><Relationship Type="http://schemas.openxmlformats.org/officeDocument/2006/relationships/notesSlide" Target="/ppt/notesSlides/notesSlide8.xml" Id="R9272c533a1904c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411c0975044cc" /><Relationship Type="http://schemas.openxmlformats.org/officeDocument/2006/relationships/notesSlide" Target="/ppt/notesSlides/notesSlide9.xml" Id="Rb214cc814d4a41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7c3c09fa84872" /><Relationship Type="http://schemas.openxmlformats.org/officeDocument/2006/relationships/notesSlide" Target="/ppt/notesSlides/notesSlide10.xml" Id="Rb43c426d24994a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0622934c94998" /><Relationship Type="http://schemas.openxmlformats.org/officeDocument/2006/relationships/notesSlide" Target="/ppt/notesSlides/notesSlide11.xml" Id="Rb39c820b37ec40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d1b91683b46dd" /><Relationship Type="http://schemas.openxmlformats.org/officeDocument/2006/relationships/notesSlide" Target="/ppt/notesSlides/notesSlide12.xml" Id="R013538cc4e1943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34bec79ae40bd" /><Relationship Type="http://schemas.openxmlformats.org/officeDocument/2006/relationships/notesSlide" Target="/ppt/notesSlides/notesSlide13.xml" Id="R6809e892f0234e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c90b70bfc406d" /><Relationship Type="http://schemas.openxmlformats.org/officeDocument/2006/relationships/notesSlide" Target="/ppt/notesSlides/notesSlide14.xml" Id="R4132edd2a1944a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ca731d1f34d12" /><Relationship Type="http://schemas.openxmlformats.org/officeDocument/2006/relationships/notesSlide" Target="/ppt/notesSlides/notesSlide15.xml" Id="R44a82ea2ae4242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2691772a84dad" /><Relationship Type="http://schemas.openxmlformats.org/officeDocument/2006/relationships/notesSlide" Target="/ppt/notesSlides/notesSlide16.xml" Id="Rfba102b5fcc148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772a66e944c8f" /><Relationship Type="http://schemas.openxmlformats.org/officeDocument/2006/relationships/notesSlide" Target="/ppt/notesSlides/notesSlide17.xml" Id="Rd5194e44c70845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00400214d4b71" /><Relationship Type="http://schemas.openxmlformats.org/officeDocument/2006/relationships/image" Target="/ppt/media/image.jpeg" Id="R133d29679bd44658" /><Relationship Type="http://schemas.openxmlformats.org/officeDocument/2006/relationships/notesSlide" Target="/ppt/notesSlides/notesSlide18.xml" Id="R37767c0042084de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9d37b8cf14a1d" /><Relationship Type="http://schemas.openxmlformats.org/officeDocument/2006/relationships/image" Target="/ppt/media/image2.jpeg" Id="R499cc1e24e0c4c87" /><Relationship Type="http://schemas.openxmlformats.org/officeDocument/2006/relationships/image" Target="/ppt/media/image3.jpeg" Id="Rae993ed760df4818" /><Relationship Type="http://schemas.openxmlformats.org/officeDocument/2006/relationships/image" Target="/ppt/media/image4.jpeg" Id="Rfb55b4310b904448" /><Relationship Type="http://schemas.openxmlformats.org/officeDocument/2006/relationships/notesSlide" Target="/ppt/notesSlides/notesSlide19.xml" Id="Rc5fa57c3a70045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26a9dcc074f33" /><Relationship Type="http://schemas.openxmlformats.org/officeDocument/2006/relationships/notesSlide" Target="/ppt/notesSlides/notesSlide20.xml" Id="R654f47dce7ff4a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1513240034eb5" /><Relationship Type="http://schemas.openxmlformats.org/officeDocument/2006/relationships/notesSlide" Target="/ppt/notesSlides/notesSlide21.xml" Id="R5eab8ac6006d48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53f07506c4a98" /><Relationship Type="http://schemas.openxmlformats.org/officeDocument/2006/relationships/notesSlide" Target="/ppt/notesSlides/notesSlide22.xml" Id="Rc0cca527b7e94f6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d1e7e07084d98" /><Relationship Type="http://schemas.openxmlformats.org/officeDocument/2006/relationships/notesSlide" Target="/ppt/notesSlides/notesSlide23.xml" Id="Rbf2a1788a63c4d4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c6991be3a422f" /><Relationship Type="http://schemas.openxmlformats.org/officeDocument/2006/relationships/notesSlide" Target="/ppt/notesSlides/notesSlide24.xml" Id="Rca8188f55a18415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4865df8e04274" /><Relationship Type="http://schemas.openxmlformats.org/officeDocument/2006/relationships/notesSlide" Target="/ppt/notesSlides/notesSlide25.xml" Id="R451531f587fd46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78e6441f94ea1" /><Relationship Type="http://schemas.openxmlformats.org/officeDocument/2006/relationships/notesSlide" Target="/ppt/notesSlides/notesSlide26.xml" Id="R207efecaaeaa4a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B2262-91B7-4E66-B811-79D6A19B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2F8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0376C-ACD9-478F-BAEC-81D4FBF5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243A"/>
                </a:solidFill>
              </a:defRPr>
            </a:pPr>
            <a:r>
              <a:rPr sz="4200" b="1">
                <a:solidFill>
                  <a:srgbClr val="17243A"/>
                </a:solidFill>
              </a:rPr>
              <a:t>Dual-Line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7EB74-FCC0-4127-A4B4-F2EFE8A2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선택적 재관측 기반 이미지 분류 시스템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82684-2555-4072-943D-76E132DB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35064"/>
                </a:solidFill>
              </a:defRPr>
            </a:pPr>
            <a:r>
              <a:rPr sz="1650" b="0">
                <a:solidFill>
                  <a:srgbClr val="435064"/>
                </a:solidFill>
              </a:rPr>
              <a:t>독립적인 Parent/Fine 판단 상태를 공동 해석해 오류 위험을 찾고,</a:t>
            </a:r>
          </a:p>
          <a:p xmlns:a="http://schemas.openxmlformats.org/drawingml/2006/main">
            <a:pPr algn="l">
              <a:defRPr sz="1650" b="0">
                <a:solidFill>
                  <a:srgbClr val="435064"/>
                </a:solidFill>
              </a:defRPr>
            </a:pPr>
            <a:r>
              <a:rPr sz="1650" b="0">
                <a:solidFill>
                  <a:srgbClr val="435064"/>
                </a:solidFill>
              </a:rPr>
              <a:t>필요한 입력만 다시 관측한 뒤 안전하게 전환하는 추론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E3307-E89C-4657-82ED-67D468B2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2F80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C44C0-8ACC-47DC-9C63-5148A7B5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공간 표현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D7145-0A4C-4A2F-B226-97973F72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C895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C4943-2CCA-4E21-A05D-A5A132C7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위험 탐지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736EC-9804-4386-99F4-E725FBA9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8A4D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0C79B-E578-4412-A6EE-8C4761AA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91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전환 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53B12-AF14-4431-8C32-DB0C441B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Computer Vision · PyTorch · ResNet18 / DINOv2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6C122-0C76-4973-8DAC-9C416D7D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이준우 · AI / Computer Vision Engineer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383E6-E1EA-4F68-AF79-202DBAA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912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F80D0"/>
                </a:solidFill>
              </a:defRPr>
            </a:pPr>
            <a:r>
              <a:rPr sz="975" b="0">
                <a:solidFill>
                  <a:srgbClr val="2F80D0"/>
                </a:solidFill>
              </a:rPr>
              <a:t>github.com/winder34/dual-line-perception-judgment</a:t>
            </a:r>
          </a:p>
        </p:txBody>
      </p:sp>
    </p:spTree>
    <p:extLst>
      <p:ext uri="{BB962C8B-B14F-4D97-AF65-F5344CB8AC3E}">
        <p14:creationId xmlns:p14="http://schemas.microsoft.com/office/powerpoint/2010/main" val="1080231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5848EF-FA8A-4E38-B73D-A8012C50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기술 포트폴리오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2B22E-4735-4342-83F5-82A868A0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4B8D5-49AC-4E10-9921-8DBE0E9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473D5-71D8-4A3E-9FD9-077AA110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2FAA5-8229-452D-873B-DA20DCE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48E5D-524A-4F83-8A4A-AFAF8760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36502-5789-495A-9BF8-50BAB60A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D0"/>
          </a:solidFill>
          <a:ln xmlns:a="http://schemas.openxmlformats.org/drawingml/2006/main" w="0">
            <a:solidFill>
              <a:srgbClr val="2F8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069AD-2C3D-4FC3-94AE-58781C9C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673F2-DFCB-4858-9DCC-D73D3B86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연구 질문과 시스템 구조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2DD57-D63E-4428-81D0-A571B279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독립 Parent/Fine 표현을 공동 판단 상태로 사용하는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0BD48-8E99-4C0B-9EFE-82D08D2D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1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03–05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12455-223C-4B08-AFF5-BFB300C6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10077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86B31-8B20-4A0D-BB41-3D08EF4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5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44B6D-E9E7-4025-A68A-7A37DD19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B5BAA-03CD-4BE8-9FC1-898F7231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모듈 설계와 수식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4C702-E3C2-4457-B27A-9E4F0329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Backbone 계약부터 Risk, View, Candidate, Correction까지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8C29E-2F43-45D9-8A8D-14BC2971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574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06–17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9F8D7-877B-4539-A240-411A09BA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62275"/>
            <a:ext cx="10077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0E2C8-84F9-43F7-97ED-E25306D3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95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D9451-DF20-49A8-818D-8E7C0599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7A4CF-F092-4DFE-A540-5F76D9D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판단 추적과 복구 사례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B36BA-2C6E-478D-8827-3936E2CF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라벨 없는 런타임의 단일 사례와 공동 오답 복구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23012B-3BD0-4096-837C-D2575F66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956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18–20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9BC05-26BC-4464-A5BB-54D9B870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77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55AE5-8D2F-41ED-A3BF-19BA53FE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5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8950D"/>
          </a:solidFill>
          <a:ln xmlns:a="http://schemas.openxmlformats.org/drawingml/2006/main" w="0">
            <a:solidFill>
              <a:srgbClr val="C8950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AD8D07-6DB9-46F9-8722-BC0C27E7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2C232-55C1-4999-8663-4A273D1E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검증과 기여 분해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A07A9D-7B59-4B16-A372-FE751771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38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위험 탐지, 2×2 교차 실험, 독립 실행 대비 효과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14A94C-7DB5-4330-A486-BC70D6F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338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21–24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535A4-5781-44B6-A147-7701B85B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38675"/>
            <a:ext cx="10077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598FA0-F3B1-411C-9BBA-DFF23364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95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192E0A-B839-4918-BD23-32B3E615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5B8D7C-EF40-47EE-B2DF-14B710A4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배포 계약과 한계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168A62-9162-467F-A5FD-E321E6C8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서비스형 입력 경계, 확인된 범위와 확장 과제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6A59AF-16F6-4BA2-9951-70CE7BC1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720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25–26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B854D3-624E-4202-929B-5D733AE7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10077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728236-A1BF-41A6-9D8C-EC3CE325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수식 페이지와 변수 정의 페이지를 분리해 구현 논리와 tensor contract를 함께 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924538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232DDE-DB7B-4165-94E6-9802907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하위 정답이 상위 정답을 보장하지 않았다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71D6E-E03B-420A-8A11-FDAAC05A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01 · PROBLEM &amp;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C280D-DCD5-4593-B67E-0288E181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ED84C-137C-4802-A075-0F804878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82BD0-4C11-4F25-814F-8F2356F8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CA61B-C1BD-48E4-A8DF-AE4EAECD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20D34-BEC6-40DA-85B7-B7920247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</a:defRPr>
            </a:pPr>
            <a:r>
              <a:rPr sz="1650" b="1">
                <a:solidFill>
                  <a:srgbClr val="17243A"/>
                </a:solidFill>
              </a:rPr>
              <a:t>상위와 하위는 의미상 계층이지만, 분류 손실은 각 과업의 차이를 학습한다.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4275E-CF3A-40F7-9D74-254F52C2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2F8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01FC7-A8F8-4E92-8441-EEED3696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Parent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5F1CD-B0AF-43DB-AEBB-09C8369E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공통 정체성에 유리한 분포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142F0-C974-4461-9B06-1ECC2FE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80D0"/>
                </a:solidFill>
              </a:defRPr>
            </a:pPr>
            <a:r>
              <a:rPr sz="2850" b="1">
                <a:solidFill>
                  <a:srgbClr val="2F80D0"/>
                </a:solidFill>
              </a:rPr>
              <a:t>95.9%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A92F5-4E40-4BF3-8CAF-3CAE2D9E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4095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90B3D-4B8D-42EB-B9F5-9B6F2E24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D9CDC-6206-491E-A525-28A25C22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14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세부 구분에 유리한 분포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03BC5-47B5-44C9-8746-5B9106BD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38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09552"/>
                </a:solidFill>
              </a:defRPr>
            </a:pPr>
            <a:r>
              <a:rPr sz="2850" b="1">
                <a:solidFill>
                  <a:srgbClr val="409552"/>
                </a:solidFill>
              </a:rPr>
              <a:t>93.8%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FE98F-3773-4630-921C-FE28FA48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8A4D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013E2-1D4F-4386-BFC0-F9161A9A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62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공동 정답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2A577-14A6-4E02-B4C0-4C5E9564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14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두 판단이 동시에 맞는 비율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C4D24-83C0-461D-A80F-D1153C85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A4DB0"/>
                </a:solidFill>
              </a:defRPr>
            </a:pPr>
            <a:r>
              <a:rPr sz="2850" b="1">
                <a:solidFill>
                  <a:srgbClr val="8A4DB0"/>
                </a:solidFill>
              </a:rPr>
              <a:t>92.2%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489E9-33FC-4BA2-A56E-30054F28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B3C13-E4A9-47DD-8D86-CCA354A6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D0"/>
                </a:solidFill>
              </a:defRPr>
            </a:pPr>
            <a:r>
              <a:rPr sz="1350" b="1">
                <a:solidFill>
                  <a:srgbClr val="2F80D0"/>
                </a:solidFill>
              </a:rPr>
              <a:t>가설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F5250-FE0B-4BEE-8F7E-FC18709E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두 분류기를 계층적으로 종속시키지 않고 독립 상태로 유지한 뒤, 중앙 판단기가 두 상태의 관계를 해석하면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각 과업에서 약화된 증거를 재관측과 후보 선택에 활용할 수 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25BE7-1682-4FF8-928B-DF868E01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관찰된 상태: Parent-only 29 · Fine-only 12 · Both wrong 17 (독립 재관측 후)</a:t>
            </a:r>
          </a:p>
        </p:txBody>
      </p:sp>
    </p:spTree>
    <p:extLst>
      <p:ext uri="{BB962C8B-B14F-4D97-AF65-F5344CB8AC3E}">
        <p14:creationId xmlns:p14="http://schemas.microsoft.com/office/powerpoint/2010/main" val="181473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D2AD0A-FB28-457C-9315-1F68A9A1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두 분류기의 상태를 통합 판단 신호로 사용했다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2086D-73BE-40B7-BDBC-77A78C75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01 · SYSTEM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C545-6A96-40FE-BDFE-D930C498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760DD-B617-4254-A8F1-FF032045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7458B-AC63-4B93-9814-FF6B864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47AEA-BBEA-47D3-A935-3D5C6251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3113E-BFCE-462C-B10F-A8C7F8C4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064"/>
                </a:solidFill>
              </a:defRPr>
            </a:pPr>
            <a:r>
              <a:rPr sz="1425" b="0">
                <a:solidFill>
                  <a:srgbClr val="435064"/>
                </a:solidFill>
              </a:rPr>
              <a:t>Dual-Line의 이득은 두 모델을 보유하는 데서가 아니라, 서로 다른 판단 상태를 함께 해석하는 데서 발생한다.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D5406-1A8E-4BFF-9812-36E1ECE6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7175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72591-DE7B-442E-B3B2-14D25352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2430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B06B8-95E7-4170-9686-D186C02B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48025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7E463-9567-4B1B-A759-FE61FAC1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D53A6-7BA3-4D6C-BA31-22AD5560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2192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CFD62-D771-4D20-BE52-F176B363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21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2257A-AFF7-4F39-A0FD-243A136E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333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9DAA5-2F50-4B53-8EF8-819A22B3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Parent branch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공통 정체성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8D984-B3E9-42C6-A40F-866E9176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95675"/>
            <a:ext cx="2333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4CC74-AA71-49B4-A9FD-73099145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9567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Fine branch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세부 구분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FAEFA-6313-4AEC-A377-B1D6660F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20478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C8950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61910-41B6-41EC-9816-C4774D1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2047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Joint state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Risk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151A0-D426-4A16-A30B-3C97616C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05125"/>
            <a:ext cx="9334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EAFB"/>
          </a:solidFill>
          <a:ln xmlns:a="http://schemas.openxmlformats.org/drawingml/2006/main" w="9525">
            <a:solidFill>
              <a:srgbClr val="8A4DB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393A1-4AF2-405E-A867-62B27367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05125"/>
            <a:ext cx="93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KEEP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D81CA-354C-4943-986B-6E4553E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Agreement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0743E-0CF2-493F-945A-03375566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둘 다 같은 결론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75AD3-5B2F-4C7E-A449-5ECCE105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Parent-only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FDDC8-A7A5-4077-987C-4BEF1119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4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상위만 유효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8ACAFF-064D-498A-9533-C60661AE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Fine-only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E8DB6-8EE4-4D3B-9CB9-93AC961A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4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하위만 유효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98A4E-4914-4B33-82B3-88D25205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949"/>
                </a:solidFill>
              </a:defRPr>
            </a:pPr>
            <a:r>
              <a:rPr sz="1200" b="1">
                <a:solidFill>
                  <a:srgbClr val="C44949"/>
                </a:solidFill>
              </a:rPr>
              <a:t>Conflict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F3CBC-0106-4496-835E-DAA1A9F7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4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둘 다 위험/불일치</a:t>
            </a:r>
          </a:p>
        </p:txBody>
      </p:sp>
    </p:spTree>
    <p:extLst>
      <p:ext uri="{BB962C8B-B14F-4D97-AF65-F5344CB8AC3E}">
        <p14:creationId xmlns:p14="http://schemas.microsoft.com/office/powerpoint/2010/main" val="15134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F29871-5286-4BAF-B23F-07E31972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OOF 증거로 학습과 평가 경계를 분리했다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4430D-A247-4B1C-8FA0-EBABB8D3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TRAIN / OOF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24447-DA19-4C5D-AE85-51358399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F8B40-F0F0-4D6B-ADFD-2D12D9C7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AD41D-2963-4D72-B372-28116DBB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857D7-C467-460A-8DA0-C0D9C86C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DA8F0-8DD3-42DC-BB4A-5E51016E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064"/>
                </a:solidFill>
              </a:defRPr>
            </a:pPr>
            <a:r>
              <a:rPr sz="1425" b="0">
                <a:solidFill>
                  <a:srgbClr val="435064"/>
                </a:solidFill>
              </a:rPr>
              <a:t>학습 라벨은 아티팩트 생성에만 사용하며, TEST는 모델·임계값·정책 선택에 관여하지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5E4C0-9329-411D-8F27-5E3232AA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241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902B6-00DE-4618-9491-E79DACEE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333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E14FE-CC4D-482B-8018-88267339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D0"/>
          </a:solidFill>
          <a:ln xmlns:a="http://schemas.openxmlformats.org/drawingml/2006/main" w="0">
            <a:solidFill>
              <a:srgbClr val="2F8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4ED8B-01F3-4A72-94D7-9CD4A32C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16C1A-E55D-42AB-8C6F-71CAC1B3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81B79-DD28-4355-8727-D0C5261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이미지 + 라벨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EB56B-26E1-4665-AD8D-334A899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241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FBCED-0AA4-4B98-BFA9-63708E41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2333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DE564-3696-4373-9F6D-344C89D3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5526B-EF41-4CD1-A6A5-1D6CDBCA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50194-A8DA-4AEA-9A34-48124570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5-Fold 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FD1E5-1573-4ED3-9D97-C1FD994E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670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미관측 TRAIN 예측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19B02-585C-4A6C-800A-7C482472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241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663CD-9F0E-4E7D-8617-3760CE14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43125"/>
            <a:ext cx="2333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F3EE5-5E1B-4274-83E3-900633E8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8950D"/>
          </a:solidFill>
          <a:ln xmlns:a="http://schemas.openxmlformats.org/drawingml/2006/main" w="0">
            <a:solidFill>
              <a:srgbClr val="C8950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FE9A1-C287-47A3-AF9F-D3ADE142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FDC49-4F8F-4234-B9DD-8390CE8C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Artifacts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9EFBE-E264-45CE-AB51-D987D717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670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profile · risk · correction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5C3AB-3FDB-42E5-8F4D-E62C68B6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43125"/>
            <a:ext cx="2333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4A17E-B335-4D64-A55B-4BE1D69F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7036D-EE0F-4791-9AC1-4B2A95A3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46035F-375F-4224-8B48-E1AC4574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Frozen 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655455-71F5-44EE-A611-5EA49FD1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70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라벨 없는 추론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19FD88-4F52-4F7E-93CC-A8A4AEF2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F2D880-78FC-40AE-A063-CE6CBA41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검증 계약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700412-B8F6-4569-AED0-7524B94C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709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TEST 라벨은 모든 런타임 결정이 끝난 뒤 감사 단계에서만 결합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TRAIN-OOF에서 REVIEW threshold와 correction 정책을 고정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동일 백본·후보 풀·예산 비교와 독립 서비스형 대조군을 분리 수행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EFF566-C230-4C39-9A37-F713546D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338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E1B861-CA99-4EE5-AC75-C716D076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481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반복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34AC34-35F2-4A76-BFD3-F190277E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09552"/>
                </a:solidFill>
              </a:defRPr>
            </a:pPr>
            <a:r>
              <a:rPr sz="2100" b="1">
                <a:solidFill>
                  <a:srgbClr val="409552"/>
                </a:solidFill>
              </a:rPr>
              <a:t>3 seeds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CA418A-3E1C-4197-B4BD-CAFAE617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14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310 / 311 / 312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9867B0-E3C6-4E28-BAE4-A79C3EED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33875"/>
            <a:ext cx="1381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E1DF79-9A75-45D2-ABDE-EAD47FA2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481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최종 holdout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DFCF59-3BFB-4097-938C-0DD23D4B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863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4DB0"/>
                </a:solidFill>
              </a:defRPr>
            </a:pPr>
            <a:r>
              <a:rPr sz="2100" b="1">
                <a:solidFill>
                  <a:srgbClr val="8A4DB0"/>
                </a:solidFill>
              </a:rPr>
              <a:t>300장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3D395A-73A6-46A8-A14A-FCB8639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149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10 classes × 30</a:t>
            </a:r>
          </a:p>
        </p:txBody>
      </p:sp>
    </p:spTree>
    <p:extLst>
      <p:ext uri="{BB962C8B-B14F-4D97-AF65-F5344CB8AC3E}">
        <p14:creationId xmlns:p14="http://schemas.microsoft.com/office/powerpoint/2010/main" val="707572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F2B28-6C02-4FB0-A65D-25817768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Backbone 출력을 하나의 공간 계약으로 통일했다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7BFF8-09AD-4766-BC28-72C38438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01 · BACKBONE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62578-F143-4ED6-A120-01426AA9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C4B23-8A71-4313-B7AE-30C48D7E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C20F0-7345-4691-8FAB-C872BCF2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CD6F3-EED1-473E-9D72-70627FB5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2FBC4-AB47-4DCC-B362-25FB1166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90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B4593-2A12-4B61-8C8E-A9B4519C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6230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75FE8-D7C7-4799-95B2-B20A95B2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32C77-C49C-43A3-9899-1B2216F3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717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CFF93-BCA1-4745-8FFB-364E88ED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ResNet18 / 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A8C3A-A83B-4A06-8138-64218660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Final conv map F</a:t>
            </a:r>
          </a:p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Adaptive pooling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6BF06-D958-41F1-B6D2-503B8F8E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1717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54FF4-7D53-4137-9BBC-7EDF04E7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DINOv2 ViT-S /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7DDEC-ED99-4899-BE79-8CE9A3B0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CLS + patch tokens P</a:t>
            </a:r>
          </a:p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14×14 patch grid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09514-11EC-4D51-AA70-17DA486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86000"/>
            <a:ext cx="1905000" cy="176212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32FA0-0DEB-4ED3-9B25-102590A3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574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Spatial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343EB-43B5-4DA6-94AF-AB645E4A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43225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z_cls = GAP(F) or CLS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Z_tile = AAP₄×₄(F or P)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6D519-FA2C-46DD-9FA7-79A3F6B7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2238375" cy="176212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9F4D0-96C8-46AD-A82B-904F1308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공통 출력 계약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EF664-ED82-4B51-A4C9-9465E209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4322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cls_token  [B, D]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tile_tokens [B, 16, D]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observer_grid 4×4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29752-CE6F-453C-A26F-AFB87085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19375"/>
            <a:ext cx="140970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67080-DB07-45B8-90C0-B3BD094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19375"/>
            <a:ext cx="1409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Candidate / Gate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코드 변경 없음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4F822-95A0-496B-AFF2-A988A280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설정에서 Backbone 하나를 선택하며 두 모델을 동시에 사용하는 구조가 아니다.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8D2DA-0A3F-4C91-B56A-775FBDB9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manifest: backbone_id · preprocessing_id · feature_schema · sample_order</a:t>
            </a:r>
          </a:p>
        </p:txBody>
      </p:sp>
    </p:spTree>
    <p:extLst>
      <p:ext uri="{BB962C8B-B14F-4D97-AF65-F5344CB8AC3E}">
        <p14:creationId xmlns:p14="http://schemas.microsoft.com/office/powerpoint/2010/main" val="617381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BB492C-ACB0-4D17-9498-E4B050CA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Backbone별 출력을 동일한 tensor contract로 정규화한다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348D8-9DC9-4545-9B3B-D181B6D8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01 · TENSOR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D331E-DE40-4D87-AD80-1FE90BA5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66E51-6334-4DB7-9028-CB11E8C5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2D2EE-2DC6-4F1B-866B-3F439F93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17AEE-CCBB-4526-B9CB-F78C9583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A1BE6-2836-4021-861B-B4B8629A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064"/>
                </a:solidFill>
              </a:defRPr>
            </a:pPr>
            <a:r>
              <a:rPr sz="1350" b="0">
                <a:solidFill>
                  <a:srgbClr val="435064"/>
                </a:solidFill>
              </a:rPr>
              <a:t>표현 추출기만 교체하고 이후 Candidate/Gate 모듈은 동일한 shape와 sample order를 받도록 고정합니다.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41ADB-ABED-46F2-ABC3-F75570F8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기호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56CB2-CA7A-4EC3-B3AC-57BE53C3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05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194F9-3D04-44FD-AEC7-4FA7AE00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05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정의와 구현 의미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8C1C4-A01C-489E-ACFD-63351496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0E255-077B-4247-8C0B-57844D9F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38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[B, D, H, W]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BFC6A-8E6A-4B24-A3ED-A0F42AE0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383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ResNet 마지막 convolution feature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8BE65-1B7B-428C-9C18-744F49A9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D9BD8-0366-4230-A136-BCEF6B10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71675-1C9A-470B-BE4C-E7621F27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81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[B, N, D]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0D440-3806-4EE9-B121-D2B93BB0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DINOv2 native patch-token 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3C251-B694-4A5F-9C6E-A98D5D60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EBFF2-CF04-40EE-BF2F-2091DF81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z_cls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D3AD0-FEB8-439D-A9B3-54B9A69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24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[B, D]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F01B1-7CF7-49FA-BB3F-FF2B1DD4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241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전체 이미지 표현. ResNet은 GAP(F), DINOv2는 CLS token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155F2-5A64-4E43-BCF0-493539A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7C51C-D795-4498-9B26-87FB3FDB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Z_tile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9DFE5-8D0F-4CAC-87C0-B5FA054E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67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[B, 16, 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94A48-32AC-4FFD-88BD-8E886A9A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670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F 또는 P를 adaptive pooling하여 만든 4×4 공간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CF132-ED29-47C5-9780-7C4A3DCE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2B328-0894-44FD-9478-1A83A922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B / D / 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4983C-3C46-446E-B8F6-059A4209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99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scalar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56AF69-4E90-4B0D-9648-31E37D70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99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batch 크기 / embedding 차원 / native patch 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77429-7606-47DA-8A22-BE294A1C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D8FFE0-60C1-43EA-8E50-42BB2FC7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observer_grid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E2FA1E-0F5B-4E46-90CA-C12BA20C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52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4 ×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13BBE6-05B5-4BE2-A32C-8EDF870D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528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Parent/Fine attention과 재관측 좌표가 공유하는 기준 격자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0600A8-E413-4839-9793-EB4D3F35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9BB7E-0107-4BB4-953E-ECB4C7A3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E958BF-AB91-4988-90D3-1D542D02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0D0"/>
                </a:solidFill>
              </a:defRPr>
            </a:pPr>
            <a:r>
              <a:rPr sz="1200" b="1">
                <a:solidFill>
                  <a:srgbClr val="2F80D0"/>
                </a:solidFill>
              </a:rPr>
              <a:t>불변 조건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C624C1-F69D-4445-979E-2AF1EA4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86300"/>
            <a:ext cx="919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backbone_id, preprocessing_id, feature_schema, sample_order를 manifest에 함께 저장해 cache와 model의 조합 오류를 차단합니다.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016A07-F642-4C72-B8E5-958500B6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E025FA-68C9-4A18-9B71-DB556FCF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TRAIN / OOF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47ECEC-DE1E-4774-B9D2-907D2079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38800"/>
            <a:ext cx="3762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Backbone별 adapter와 projector를 학습·저장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763946-D32E-449A-87F9-5B89E148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22EE0D-B93E-4315-8B1B-08EDC1A1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57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D0"/>
                </a:solidFill>
              </a:defRPr>
            </a:pPr>
            <a:r>
              <a:rPr sz="975" b="1">
                <a:solidFill>
                  <a:srgbClr val="2F80D0"/>
                </a:solidFill>
              </a:rPr>
              <a:t>RUNTIME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50CCD4-FF0C-4400-BEF5-F19E1A68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388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z_cls와 Z_tile만 다음 모듈에 전달</a:t>
            </a:r>
          </a:p>
        </p:txBody>
      </p:sp>
    </p:spTree>
    <p:extLst>
      <p:ext uri="{BB962C8B-B14F-4D97-AF65-F5344CB8AC3E}">
        <p14:creationId xmlns:p14="http://schemas.microsoft.com/office/powerpoint/2010/main" val="917297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813E84-1A6D-4F04-A619-9E91D141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Parent/Fine은 같은 입력에서 다른 증거를 만든다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F82CD-EDE5-4618-86D2-B8BC4620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02 · EVIDENCE PROJECTOR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31E3E-10BE-4BDB-A32B-5FB121A8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49955-C1C7-46B0-B27F-5CEB71C6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69789-80A6-4180-873A-B5CA230B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8FE49-8405-4BE3-8D5E-BE6E50D0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69EB0-BB88-4E36-9A45-1DB84E21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4F8E5-C35F-4B9A-89B5-F39E0B5D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7640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D62C8-351D-40F2-9EB0-34226A6A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764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독립 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DD508-041B-4284-B5C6-4ABE1D1C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ℓ_clsᵇ = h_clsᵇ(z_cls)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ℓ_tile,tᵇ = W_tileᵇ z_t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C08A4-536A-46D8-BB98-598D648F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공통 Backbone 출력에서 branch별 전역·타일 표현을 생성한다.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7B95F-A647-4C76-B3E0-4D685033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4191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9C550-5F77-4594-B8CC-6C0190A5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7640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EDDCD-B1C8-4452-9A03-E5BB1ECC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6764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공간 집계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FDD48-46AC-460B-B06C-90DE8F90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373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a_t,cᵇ = softmax_t(ℓ_tile,t,cᵇ / τ)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ℓ_pool,cᵇ = Σ_t a_t,cᵇ · ℓ_tile,t,cᵇ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15E69-3E6F-49CD-9D47-114B1C71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0990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클래스 조건부 attention으로 16개 타일 증거를 통합한다.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488AC-2F17-41C9-88A1-75133CFE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C086C-9FD5-4350-8C65-EE03AA96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DEBD9-2857-48B6-BC12-FC0F142C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814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학습형 결합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CB56B-A58C-4C6B-9922-299749E1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ℓᵇ = α_b·ℓ_clsᵇ + (1−α_b)·ℓ_poolᵇ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C9A38-2017-4F1E-88FD-37D2AD6D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전역 정체성과 공간 증거의 비율을 branch별로 학습한다.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9CBC3-B862-4802-81F0-495DA7D6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3149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E7A2D-334A-46FA-BB2A-E6825807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설계 의미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F916C-7C70-4E98-81D6-607323D6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Parent  공통 정체성에 필요한 증거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Fine      형제 클래스를 구분하는 세부 증거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출력       확률 + 4×4 class-conditioned attention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2F016-C142-4750-8A96-D33C12E1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b: Parent/Fine branch   ·   t: 4×4 타일 번호   ·   c: 클래스 번호   ·   τ: attention 온도   ·   α: 결합 비율</a:t>
            </a:r>
          </a:p>
        </p:txBody>
      </p:sp>
    </p:spTree>
    <p:extLst>
      <p:ext uri="{BB962C8B-B14F-4D97-AF65-F5344CB8AC3E}">
        <p14:creationId xmlns:p14="http://schemas.microsoft.com/office/powerpoint/2010/main" val="733864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BB0953-154E-4880-8A77-A66D8CB7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독립 branch는 class logit과 공간 attention을 별도로 생성한다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F369D-CD44-4CAC-A92B-18720B5B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02 · SYMBOLS &amp; SHAPES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E3A07-0526-4555-89B4-874F6781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5A14B-697F-4F9F-B250-F3296DC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4158F-6951-4B39-9F40-39508205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741C8-EEA2-461B-8DFD-0D9BECC5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501F5-CA5E-46CC-96EF-21521E53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064"/>
                </a:solidFill>
              </a:defRPr>
            </a:pPr>
            <a:r>
              <a:rPr sz="1350" b="0">
                <a:solidFill>
                  <a:srgbClr val="435064"/>
                </a:solidFill>
              </a:rPr>
              <a:t>b ∈ {Parent, Fine}. 두 branch는 Backbone token만 공유하며 trainable head와 class vocabulary는 공유하지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950BE-CE27-48C2-931F-4AF3420E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기호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AD6A5-4EC4-4B3D-AD2A-1E25400E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05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25CB8-2D51-4E94-9397-EA50F20E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05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정의와 연산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39D09-206C-45F7-8F83-1A1BF991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C_b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585DB-4047-4DB7-89D3-1EC5D108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38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scalar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46EC1-A2CD-4ACA-8D02-DC54BACA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383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branch b가 분류하는 클래스 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31BC3-2C78-4D5E-A8DD-0C1A1FF1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EC093-5085-499D-9C30-8817E349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ℓ_clsᵇ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07CB9-F73D-42BB-A4A6-78DE1E7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81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[B, C_b]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1747A-9C11-41FA-9292-75C64C7E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z_cls에서 계산한 branch b의 전역 class logits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D39DE-C8CA-4B2B-85BC-ABCB9379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AC524-555F-431F-A218-50E91C3F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ℓ_tile,tᵇ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336EF-DB3A-4AB1-A67F-6493F464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24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[B, C_b]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37695-8361-42A1-A156-C1DD9C7A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241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t번째 공간 token이 각 class를 지지하는 logits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00D991-1E7D-4B3F-96A1-A728B2FA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E5BD3-FAD6-4AD0-9E9D-518486F0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a_t,cᵇ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0FD3C-9F1F-4419-A975-4ADFEF18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67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[B, 16, C_b]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D7958-3EFD-482E-BC27-51C06B3F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670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class c 기준 tile softmax weight. tile 축 합은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97050-7542-471E-ABDB-810BFEE9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14E0D-92EB-4641-9DF0-D49F8158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ℓ_pool,cᵇ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A820E-B11E-4D39-8598-0006AC7D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99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[B, C_b]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A45C95-85C9-47F1-B47B-F1AB4ADD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99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attention으로 tile logits를 가중 합산한 공간 class logits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2876BB-1C71-4850-8952-F5DB953E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46DCE5-3DB5-42BE-B68B-CB193F6F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52D165-9B58-4141-BA1D-0A4A1DE7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52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scalar &gt; 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A83EB2-BB2E-4F65-9B7A-4646E13A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528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tile attention 분포의 집중도를 조절하는 temperature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2AA1F8-96B6-4060-B613-5941D30C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F795FD-371E-4D94-B656-EA676364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α_b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1DA5EF-513E-4D3F-B492-33CB1486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339931-9001-45B3-B091-6298283E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957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branch별 전역 logits와 공간 logits의 학습형 결합 비율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614AA1-BA75-4B3D-A3AB-6E6C903F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5935C6-33E9-4FD8-8AE3-E60BCE15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ℓᵇ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AC69F5-3D22-4E67-AA5A-FF15453F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38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[B, C_b]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670CF7-0E13-43A9-B14D-2F068DD7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386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최종 branch logits. softmax 후 Parent/Fine probability 출력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ED4CB6-0684-4DE9-915E-83DC08D9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DE3551-F8AD-491C-BFDD-94052B45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F68C32-E184-4E62-8F2C-3F37EE3D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TRAIN / OOF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25FAA9-CBEC-484E-BB2D-E3E68527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38800"/>
            <a:ext cx="3762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Parent/Fine head와 α_b를 각 과업 loss로 학습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69E37B-A00D-4B29-8A4E-CB817193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44B1FE-B4F1-4C48-ACCC-1AB0081C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57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D0"/>
                </a:solidFill>
              </a:defRPr>
            </a:pPr>
            <a:r>
              <a:rPr sz="975" b="1">
                <a:solidFill>
                  <a:srgbClr val="2F80D0"/>
                </a:solidFill>
              </a:rPr>
              <a:t>RUNTIME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9DB17C-4AB1-45C3-ACB0-6FF20544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388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두 확률과 class-conditioned 4×4 attention을 출력</a:t>
            </a:r>
          </a:p>
        </p:txBody>
      </p:sp>
    </p:spTree>
    <p:extLst>
      <p:ext uri="{BB962C8B-B14F-4D97-AF65-F5344CB8AC3E}">
        <p14:creationId xmlns:p14="http://schemas.microsoft.com/office/powerpoint/2010/main" val="5674023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3B79B-13E0-4F27-B5E2-AA5ADB5C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오답 확률이 아니라 판단 상태의 위험 순위를 학습했다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3B930-615A-43B7-9E9B-B4A68046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03 · ERROR-RISK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9CB64-9AB1-4A40-9CB9-65940DC5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7B1F2-27E5-4AAC-90BA-B90E058B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C8950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9F2F3-E972-498E-8922-F947C8BD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E4E7F-3037-4E7C-B3A2-DA2036DC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E6FB1-5BEA-4D6C-AFA7-03551594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42차원 evidence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6709C-D942-4FA6-B00E-4FD8B5C2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profile nodes · Parent/Fine distance · confidence · kNN support · normality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023C5-ACAA-4D81-B865-B0304E32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68580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7D65A-6ECA-46EB-9C9E-0C41D28A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95525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8950D"/>
          </a:solidFill>
          <a:ln xmlns:a="http://schemas.openxmlformats.org/drawingml/2006/main" w="0">
            <a:solidFill>
              <a:srgbClr val="C8950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82C03-F801-44B1-BEAE-05743AFB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9552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다중 위험 신호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A1793-8221-4594-8F7A-D4E4781B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6400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r_branch = max(rank(q_parent), rank(q_fine))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r_sup = ω_d·rank(q_any) + (1−ω_d)·r_branch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 = (1−ω_n)·r_sup + ω_n·rank(normality)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CD536-C29B-40E3-9CD1-1733DD25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rank는 TRAIN-OOF score reference를 기준으로 계산한다.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7ABC6-7983-423F-A61E-ACCC6E13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409950" cy="2238375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C8950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571AF-9F20-447D-B335-3654EDA4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50D"/>
                </a:solidFill>
              </a:defRPr>
            </a:pPr>
            <a:r>
              <a:rPr sz="1425" b="1">
                <a:solidFill>
                  <a:srgbClr val="C8950D"/>
                </a:solidFill>
              </a:rPr>
              <a:t>선택된 ResNet18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A2991-EE84-4433-88F4-C13CEC9A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HGB depth 2 / leaf 20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ω_d = 0.75 · ω_n = 0.00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TRAIN 10% threshold = 0.9043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TEST: REVIEW 103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오답 78장 중 64장 탐지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F807B-4A69-489A-8D68-A43BDF98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CFA3F-E325-4765-A0BD-9E4D0410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50D"/>
                </a:solidFill>
              </a:defRPr>
            </a:pPr>
            <a:r>
              <a:rPr sz="1275" b="1">
                <a:solidFill>
                  <a:srgbClr val="C8950D"/>
                </a:solidFill>
              </a:rPr>
              <a:t>모듈 경계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567A6-8132-4E98-A666-59850FF7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Risk Detector는 REVIEW만 요청한다. 후보 선택과 SWITCH 승인은 뒤 모듈에서 별도로 수행한다.</a:t>
            </a:r>
          </a:p>
        </p:txBody>
      </p:sp>
    </p:spTree>
    <p:extLst>
      <p:ext uri="{BB962C8B-B14F-4D97-AF65-F5344CB8AC3E}">
        <p14:creationId xmlns:p14="http://schemas.microsoft.com/office/powerpoint/2010/main" val="1517857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5E3F3D-36B6-4757-A733-F8E38FE3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v233은 OOF 오류 head의 출력을 공통 백분위 위험 공간으로 결합한다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3E22B-9F20-4403-9723-E2FF92D3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03 · RISK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9051F-219A-4524-93FC-591E21D2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8E655-30D5-41EB-8074-8ABE283B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C8950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6513A-7DC9-45D5-9CC4-443EBBA8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45F28-4389-479A-896D-9A9D128E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E5801-58BD-45BB-A3FF-BE06DDE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064"/>
                </a:solidFill>
              </a:defRPr>
            </a:pPr>
            <a:r>
              <a:rPr sz="1275" b="0">
                <a:solidFill>
                  <a:srgbClr val="435064"/>
                </a:solidFill>
              </a:rPr>
              <a:t>세 오류 head는 동일 evidence vector를 입력받지만 target을 분리합니다. TEST 점수는 TRAIN-OOF score 분포에 대한 percentile로 변환됩니다.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89DA6-DFC9-402B-B21D-82B38C20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기호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3115A-DC9C-4EF6-A434-4E07454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02AA7-B98C-4872-BC55-58CC67E8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00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정의와 학습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AA050-E205-403A-BA8F-ED78D14C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q_any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70008-BAEC-431D-B4F8-343F8AD1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33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C71A2-1408-45D8-B13C-A72BDF6D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33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Parent 또는 Fine 중 하나라도 틀릴 가능성. target = parent_wrong OR fine_wrong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632B0-67C1-481A-ABD5-F97707D5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FCFB4-52BC-43AB-BAD9-E0789C40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q_parent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08A49-D13D-44D2-9905-C16C2206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765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8E877-BB43-41E6-B9BC-E03029D8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765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Parent branch가 틀릴 가능성을 예측한 OOF head 출력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5A3DE-5C75-4D2B-B06D-85AAC30C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7CC64-E82B-4D4B-8C9F-6A9C68E4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q_fine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2404D-8960-4606-8440-EF55978B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19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27889-0098-42C0-B3C1-F36625EB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194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Fine branch가 틀릴 가능성을 예측한 OOF head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5D846-548B-4F36-AED4-21A0A4E9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5F556-EB4E-4745-B2CF-FC076865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normality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4DE539-83C1-436C-BEEF-E625E5AC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62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real → rank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ECEC1-312A-44B7-A04D-0E5C380C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623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trajectory/profile가 TRAIN 정상 상태에서 이탈한 정도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5ECB9B-3757-477B-A097-B0B2E12B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E1D06-01B8-47CC-B24B-CADCE6EF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rank(q)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A51C5-35AB-47F8-ABED-51722A3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05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D2EDA-B0BD-41E7-8BF4-3A583F82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TRAIN-OOF reference에 대한 percentile. 서로 다른 head scale을 정렬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576E3-FC8D-4529-B03F-3A9B6D01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2424D7-49EC-47DE-8051-0F8DED81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ω_d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B43A56-4C63-4D9C-B1BA-651D1F0A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48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7400E2-FCC7-4059-AD7B-DF6A826D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481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direct any-error rank와 branch maximum rank의 결합 비율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7DDB48-558E-4547-9DBA-94A0830B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9DE06B-BDEF-4EC8-BC7E-4A6057C6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ω_n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823FBD-727F-4F0E-9519-72DD20ED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910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2BE594-B4B8-4F8A-87D9-58E87C7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910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supervised risk와 normality rank의 결합 비율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94C660-0E1E-4B55-B642-CCA21D37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8A4AAB-E8F5-4DBB-9AA6-40A8DEF5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D983C7-1E0F-4B33-90B9-7DBBBFF4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339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FA8499-BC96-47D5-A861-6F159076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339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최종 REVIEW priority. TRAIN-OOF budget quantile로 threshold 고정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751AAC-271C-4E52-869A-68E39F94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703759-30B7-40AC-A040-B0D6D0FC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62377F-566D-41BC-BE93-149F5EC0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TRAIN / OOF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24D2CF-1395-4DE8-81BA-ADAF9EAB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38800"/>
            <a:ext cx="3762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5-fold OOF로 head·가중치·Review budget threshold 선택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13CE0E-8424-4EE2-BC10-20FDD85D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719585-844B-49CF-B784-27474B2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57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D0"/>
                </a:solidFill>
              </a:defRPr>
            </a:pPr>
            <a:r>
              <a:rPr sz="975" b="1">
                <a:solidFill>
                  <a:srgbClr val="2F80D0"/>
                </a:solidFill>
              </a:rPr>
              <a:t>RUNTIME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8D2C44-6340-41B3-995C-F0301F1F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388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단일 샘플의 R을 고정 threshold와 비교해 KEEP/REVIEW</a:t>
            </a:r>
          </a:p>
        </p:txBody>
      </p:sp>
    </p:spTree>
    <p:extLst>
      <p:ext uri="{BB962C8B-B14F-4D97-AF65-F5344CB8AC3E}">
        <p14:creationId xmlns:p14="http://schemas.microsoft.com/office/powerpoint/2010/main" val="4098738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972FAE-86FF-49B7-8C19-CC5E7200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Attention 연결 영역을 8개 재관측 후보로 변환했다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751F0-209E-4E4E-9306-B60DD8A8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04 · VIEW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57F2C-11E7-422C-968D-3109B1EE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E06E8-0E66-44EB-9F37-F73203AE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0E96B-7228-44EC-B354-BB53DACF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B2846-5440-4774-9EA7-4345207B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2E844-6153-4D2F-9183-6130ADCA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48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7069E-0639-4BD2-A58F-E0AADF8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28775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D0"/>
          </a:solidFill>
          <a:ln xmlns:a="http://schemas.openxmlformats.org/drawingml/2006/main" w="0">
            <a:solidFill>
              <a:srgbClr val="2F8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01305-5851-4461-9C55-B9B4F295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2877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연결 타일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70AE9-16C2-462D-98BE-8E1D7A5C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S₀ = {argmax_t a_t}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Sₘ₊₁ = Sₘ ∪ {argmax_{j∈N(Sₘ)\Sₘ} a_j}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68566-5333-4DF6-9AC7-7411702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현재 집합의 인접 frontier 중 attention이 가장 높은 타일로 확장한다.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321F3-365C-422F-8B3D-F79DB1BE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3149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9E01F-B624-49A9-A05E-27930F7F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28775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D0"/>
          </a:solidFill>
          <a:ln xmlns:a="http://schemas.openxmlformats.org/drawingml/2006/main" w="0">
            <a:solidFill>
              <a:srgbClr val="2F8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95D0D-BF9C-4B98-951B-F1C0F920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2877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관측 영역 변환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F4C86-1269-469B-8CD2-2674EDE1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bbox(S, ε) = clip(envelope(S) ± ε/4)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74005-601F-4A38-B26F-2CF53EA5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62275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선택 타일의 최소 영역을 문맥 비율 ε만큼 확장한다.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C1A71-8581-47DB-AA46-3C52A323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8개 관측 정책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DCAD4-F081-4B32-B56C-D53BC695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01  Parent tight · k=3, ε=.10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5A311-53BE-40A6-AFD6-2924D103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02  Parent context · k=6, ε=.50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F056E-9E39-418B-96FB-58B12C64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03  Fine tight · k=3, ε=.10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E316B-EDCA-4B22-937B-B4C18C35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04  Fine context · k=6, ε=.50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B3977-F1C8-40E2-8E11-6EB18924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05  Joint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7BC50-B6F6-4651-B98C-8EA2C769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06  Parent/Fine disagreement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BCF17-3F3D-4806-A5EA-E2914DE3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07  Secondary joint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79DE5-B7D4-42B5-88E6-A28129DC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08  Wide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B2962B-D04E-46A5-A882-1B2310BF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80D0"/>
                </a:solidFill>
              </a:defRPr>
            </a:pPr>
            <a:r>
              <a:rPr sz="1200" b="1">
                <a:solidFill>
                  <a:srgbClr val="2F80D0"/>
                </a:solidFill>
              </a:rPr>
              <a:t>중복 bbox 제거 → 동일 Backbone stack 재사용 → 후보별 Parent/Fine 증거 생성</a:t>
            </a:r>
          </a:p>
        </p:txBody>
      </p:sp>
    </p:spTree>
    <p:extLst>
      <p:ext uri="{BB962C8B-B14F-4D97-AF65-F5344CB8AC3E}">
        <p14:creationId xmlns:p14="http://schemas.microsoft.com/office/powerpoint/2010/main" val="13883758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C1991C-3344-4F3A-90F5-DEBBA68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View Planner는 class attention의 연결 성분을 crop 좌표로 변환한다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D742-A5AD-41F7-91E1-12E4F65C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04 · ALGORITHM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95637-6CDD-4F78-B0BB-CA0E691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AE719-3285-4614-BD74-9F59F3DF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7159A-9CA8-4B63-9263-7C1321AB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EEC1C-151E-4875-8E1A-84DF60F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22DA3-8254-4CD5-8D71-81F670DA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064"/>
                </a:solidFill>
              </a:defRPr>
            </a:pPr>
            <a:r>
              <a:rPr sz="1350" b="0">
                <a:solidFill>
                  <a:srgbClr val="435064"/>
                </a:solidFill>
              </a:rPr>
              <a:t>독립 object detector가 아니라 Parent/Fine class-conditioned attention에서 시작하는 deterministic view policy입니다.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93623-27F2-4949-A28C-3051567F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기호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AF55B-E429-4C50-908A-95E28061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52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타입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D6064-9625-4652-B70D-6B6B26CA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52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정의와 알고리즘 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37FB0-0790-4827-8922-7B62C3CA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a_t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142A8-B721-48F5-B940-9D96B6BA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86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16-vector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256D0-2B77-4710-92E5-B7979961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86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선택된 Parent/Fine class에 대한 4×4 tile attention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B114F-22CB-4395-96B8-F39EE4F7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51017-0D2F-4658-930C-93AB45ED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S₀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535B9-3E64-4E79-BF0E-42288520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tile 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4B294-1E1A-479E-9B52-2E177C92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28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attention이 가장 높은 tile 하나로 초기화한 연결 집합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937E4-C90D-4496-B8BE-98613FE4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AA9F3-DA97-4D7D-B974-B3875F0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N(S_m)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E930C-C183-4A52-9870-A111E22F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71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tile 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61660-F840-4369-9667-153C4261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71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현재 집합과 상하좌우 또는 대각으로 인접한 frontier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B7FC7-4215-472D-BB72-BF317C94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45FB6-FD18-4F26-B763-CB430A5F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S_{m+1}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DF8F0-1C81-4B64-8E7A-5003D1A1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14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tile 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6CD29-9CA9-4DFB-A320-7E9CC0B8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14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frontier 중 attention이 가장 높은 tile을 한 개 추가한 집합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FDD58-04E0-4E1E-BBBF-2B822921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53214-58A6-44CF-97F2-DA289E69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8B85EB-3A8E-4F9A-8877-2CA284AD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57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integer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2C9056-2FF6-4B27-888A-9635D39B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57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tight/context 정책이 선택하는 연결 tile 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8BF8E-E616-4F3B-91A8-D87D7267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A800E8-B35C-4F6C-965A-3EA4303E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envelope(S)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5923DE-884B-4511-96D1-6E7DDDFC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00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bbox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461E40-0580-4E01-B541-EEDB261D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00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선택 tile 집합을 덮는 최소 정규화 사각형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CA9E6D-DA3B-4B6A-AFE5-29449BB9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10954B-AF4C-44AD-B7FB-9AA99B95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94A8F2-316D-499D-AB75-5D0620E6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43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7A10B8-C7E6-4FA0-A29B-DD921A68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43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bbox 주변 context를 확장하는 정책별 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674358-729E-495A-A769-829ED10D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F08E8E-69D8-47FC-B217-933CC821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bbox(S, ε)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D18807-AA7A-48D6-9B62-310E998B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86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[x1,y1,x2,y2]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D8CF0C-B006-4D32-9CAB-E2F89E24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863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0–1 범위로 clip된 재관측 crop 좌표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3BD513-534C-4CD9-A78E-C6207532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BE4C4E-5DEC-4D7E-B6B3-1A09C450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51488A-8A81-4DBB-8786-48DDE71F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TRAIN / OOF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19E3D6-0147-4F71-B2AC-0592507B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38800"/>
            <a:ext cx="3762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정책 k·ε와 8개 view family를 manifest로 고정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79586A-DBF5-41F3-A747-71C054B0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4F8EF8-635D-4DA3-BB4C-51B8B412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57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D0"/>
                </a:solidFill>
              </a:defRPr>
            </a:pPr>
            <a:r>
              <a:rPr sz="975" b="1">
                <a:solidFill>
                  <a:srgbClr val="2F80D0"/>
                </a:solidFill>
              </a:rPr>
              <a:t>RUNTIME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AD5254-179C-48EC-837A-CA7CCEF4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388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REVIEW 샘플에서 crop 좌표만 생성하고 같은 stack 재사용</a:t>
            </a:r>
          </a:p>
        </p:txBody>
      </p:sp>
    </p:spTree>
    <p:extLst>
      <p:ext uri="{BB962C8B-B14F-4D97-AF65-F5344CB8AC3E}">
        <p14:creationId xmlns:p14="http://schemas.microsoft.com/office/powerpoint/2010/main" val="5010308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F7230-2BDF-486C-802C-FC1A486D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후보를 절대 점수가 아니라 기존 판단과의 변화로 비교했다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6591D-D0AF-4D3D-AC31-2EE1EB6C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05 · CANDIDATE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33272-18E0-4186-8D08-7E2DC276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87253-AE14-4CFD-BD60-F8109914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B362B-0640-4A60-9B44-52C1BC56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CAFB7-33B9-414F-A715-9B7475DA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F9F08-AE8E-4506-9428-CF34D166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45DCC-3ED2-4BA3-8CC5-2C016F69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7640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6C554-3B6B-4FD7-9544-E9597119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764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상대 증거 벡터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0FDEA-D618-4B7E-B8F9-A4DD93F2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6210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x_candidate = [x_conventional, z_base, z_crop, Δz,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 risk_base, risk_crop, Δrisk,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 kNN_base, kNN_crop, group_consensus]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1917D-F076-44CF-9E83-64782496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재관측 후보가 기존 관측보다 실제로 나아졌는지를 직접 표현한다.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21EC7-7056-4B0B-AC6F-C7EAFB4F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66C11-CC28-442E-88ED-A0E24C7A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9552"/>
                </a:solidFill>
              </a:defRPr>
            </a:pPr>
            <a:r>
              <a:rPr sz="1425" b="1">
                <a:solidFill>
                  <a:srgbClr val="409552"/>
                </a:solidFill>
              </a:rPr>
              <a:t>Cross-view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C0F67-7FD4-4526-8776-6A55152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Parent/Fine 예측 일치율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후보 클래스 평균 지지도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예측 확률 엔트로피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고유 예측 비율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3C849-38D6-411B-B7F6-BBCEF3B8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9552"/>
                </a:solidFill>
              </a:defRPr>
            </a:pPr>
            <a:r>
              <a:rPr sz="1275" b="1">
                <a:solidFill>
                  <a:srgbClr val="409552"/>
                </a:solidFill>
              </a:rPr>
              <a:t>재사용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51D1-A5F9-4845-BD04-FB569CF4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386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모든 crop이 같은 Backbone → branch → profile → kNN 경로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35D02-ECA0-443B-ACA2-9B7C6CC9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9625"/>
            <a:ext cx="885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97F33-6CB8-4E23-B356-CBAD7384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9552"/>
                </a:solidFill>
              </a:defRPr>
            </a:pPr>
            <a:r>
              <a:rPr sz="1275" b="1">
                <a:solidFill>
                  <a:srgbClr val="409552"/>
                </a:solidFill>
              </a:rPr>
              <a:t>후보 상한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85DED-397B-430E-865A-4FD72FF4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529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탐지한 오답 64장 중 58장은 정답 후보를 포함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2CFEE-0923-4764-B7DB-A49183B6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33975"/>
            <a:ext cx="885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9EC16-6322-4EB8-8E03-BE113452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9552"/>
                </a:solidFill>
              </a:defRPr>
            </a:pPr>
            <a:r>
              <a:rPr sz="1275" b="1">
                <a:solidFill>
                  <a:srgbClr val="409552"/>
                </a:solidFill>
              </a:rPr>
              <a:t>Selector 과제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B6D96-7625-4422-9043-E21F15B5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73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정답 base를 보호하면서 유효 후보를 우선순위화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F04A1-79B8-4BA0-BD07-D1590464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48325"/>
            <a:ext cx="885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02058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5DC142-BE69-4F95-8C3C-A5B60261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Candidate vector는 base와 crop의 상대 상태 및 cross-view 합의를 보존한다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DEC29-6FEC-4EA6-8904-228D1AFA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05 · FEATURE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ED961-EB18-4523-8171-9844882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77846-D1E9-4B1F-A9D2-B794CF3C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9DF5F-FB4F-403A-9057-58A9BF8A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9DE89-0901-460B-B893-1389F092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F51F3-8FB6-404B-9406-B7F05D1F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064"/>
                </a:solidFill>
              </a:defRPr>
            </a:pPr>
            <a:r>
              <a:rPr sz="1350" b="0">
                <a:solidFill>
                  <a:srgbClr val="435064"/>
                </a:solidFill>
              </a:rPr>
              <a:t>후보마다 동일한 perception/profile/kNN stack을 실행하고, crop 단독 confidence가 아니라 base 대비 변화량을 포함합니다.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19C0D-602C-4F9E-B340-0CB3A7C2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9552"/>
                </a:solidFill>
              </a:defRPr>
            </a:pPr>
            <a:r>
              <a:rPr sz="1200" b="1">
                <a:solidFill>
                  <a:srgbClr val="409552"/>
                </a:solidFill>
              </a:rPr>
              <a:t>x_conventional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B71E5-2065-447E-A892-0BEB5D7E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base/candidate Parent·Fine 확률 통계, bbox와 view policy 등 기존 재관측 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343EB-E5DD-43F6-B66C-7DD1ED68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0F6B0-5371-4AE7-BCAB-04F7843B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9552"/>
                </a:solidFill>
              </a:defRPr>
            </a:pPr>
            <a:r>
              <a:rPr sz="1200" b="1">
                <a:solidFill>
                  <a:srgbClr val="409552"/>
                </a:solidFill>
              </a:rPr>
              <a:t>z_base, z_crop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B9BAE-CA56-40D5-901E-5D3DFED5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4317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trajectory/profile normality model이 생성한 base 및 candidate reduced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7A956-F467-475A-8C80-59DA0CFE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AEFDE-77AE-4EB1-AD01-078B0E8E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9552"/>
                </a:solidFill>
              </a:defRPr>
            </a:pPr>
            <a:r>
              <a:rPr sz="1200" b="1">
                <a:solidFill>
                  <a:srgbClr val="409552"/>
                </a:solidFill>
              </a:rPr>
              <a:t>Δz = z_crop − z_base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CC5CC-C694-4C22-B63B-66D94B2E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8610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재관측으로 판단 상태가 어느 방향으로 이동했는지 나타내는 상대 feature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4879D-E81A-4AC7-AC9F-0DC8EC1B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F0071-BB89-41A5-80F3-A9F43B84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9552"/>
                </a:solidFill>
              </a:defRPr>
            </a:pPr>
            <a:r>
              <a:rPr sz="1200" b="1">
                <a:solidFill>
                  <a:srgbClr val="409552"/>
                </a:solidFill>
              </a:rPr>
              <a:t>risk_base, risk_crop, Δrisk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DC83D-A539-4752-8FCB-22FF60A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290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normality risk의 절대값과 base 대비 감소·증가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1BEC8-29E0-444F-AA25-E5D59D13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CC70D-53A5-4F34-AE42-E1C36252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9552"/>
                </a:solidFill>
              </a:defRPr>
            </a:pPr>
            <a:r>
              <a:rPr sz="1200" b="1">
                <a:solidFill>
                  <a:srgbClr val="409552"/>
                </a:solidFill>
              </a:rPr>
              <a:t>kNN_base, kNN_crop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270F1-0B7F-47DB-B598-E6C9024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TRAIN reference에서 Parent/Fine 이웃 지지와 거리로 계산한 membership feature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58948-DFA7-44D7-BC2E-27A30B8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6C9AD5-F56C-46E6-8206-5843E5A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9552"/>
                </a:solidFill>
              </a:defRPr>
            </a:pPr>
            <a:r>
              <a:rPr sz="1200" b="1">
                <a:solidFill>
                  <a:srgbClr val="409552"/>
                </a:solidFill>
              </a:rPr>
              <a:t>group_consensus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C0B03-6635-446C-A85C-22AB35DF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1487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같은 원본의 여러 view 사이 Parent/Fine 일치율, 평균 지지, entropy, 고유 예측 비율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919C8-46E6-4953-9145-FE9A146F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D6311-408A-4F64-9640-A028AAAD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BB0BE-260A-47C7-A787-3314BD97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9552"/>
                </a:solidFill>
              </a:defRPr>
            </a:pPr>
            <a:r>
              <a:rPr sz="1125" b="1">
                <a:solidFill>
                  <a:srgbClr val="409552"/>
                </a:solidFill>
              </a:rPr>
              <a:t>출력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F3AB5-D4FA-4F0E-B98A-6815C00F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candidate feature matrix [N_candidate, D_candidate]와 source_index, view, bbox, candidate Parent/Fine pair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3955CB-943A-4953-930A-AD058BEF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EB3E79-D80F-48FB-87F4-23ED41D5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TRAIN / 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6CB8F-A721-43A1-85C2-12339277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81700"/>
            <a:ext cx="3762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OOF candidate rows로 correctness expert 학습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4E0D6-F6F1-41CF-A7F4-AF5F22FA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245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CBA92C-7D91-4D3D-8D2E-6117CEA0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0007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D0"/>
                </a:solidFill>
              </a:defRPr>
            </a:pPr>
            <a:r>
              <a:rPr sz="975" b="1">
                <a:solidFill>
                  <a:srgbClr val="2F80D0"/>
                </a:solidFill>
              </a:rPr>
              <a:t>RUNTIME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542627-4808-4CD9-906F-29CF0057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9817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REVIEW 샘플의 모든 crop 후보를 batch로 평가</a:t>
            </a:r>
          </a:p>
        </p:txBody>
      </p:sp>
    </p:spTree>
    <p:extLst>
      <p:ext uri="{BB962C8B-B14F-4D97-AF65-F5344CB8AC3E}">
        <p14:creationId xmlns:p14="http://schemas.microsoft.com/office/powerpoint/2010/main" val="19195433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066C7-E5DC-421E-BEAD-4D36593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여러 관측의 합의와 효용으로 전환을 승인했다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3FD6F-EF2E-4A2C-ABAC-3619EF4B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06 · JOINT CORRECTION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BC4E8-AB1A-4839-B373-150BA6C2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0E7C2-979E-4943-BA88-8D5B1236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87EDB-AA18-4DF6-8A97-2688EA99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C181D-A1D5-4510-8D6C-15337387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53F72-9A0B-40E2-A811-7A41448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8580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179E5-321C-4882-81F8-53BDA84E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8115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E8BE2-8A40-48ED-A669-FEBD1AC6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81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관측별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9E5E6-8B3D-4561-9E8B-ACE863E3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640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S_v = λ·p_joint(v) + (1−λ)·√(p_parent(v)·p_fine(v))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8CEA9-F6DE-4B3E-B00F-B918F765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각 view에서 Parent/Fine 후보 쌍의 유효성을 계산한다.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61F36-E48D-42F8-8BA9-10C6115F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8580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9132B-DBC1-4B64-94A1-8525C267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46019-8D2D-4637-B042-AD60912A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099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후보 쌍 합의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C683F-FC9D-4311-AD61-5FA491F6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640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A(p) = η·max_{v∈Vₚ}S_v + (1−η)·mean_{v∈Vₚ}S_v + β·|Vₚ|/|V|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034D6-DF3D-4566-9D7C-F1781C55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같은 후보 쌍을 지지한 view의 최고·평균·반복 지지를 집계한다.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82613-9797-4E42-9E62-3C7222FA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68580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AACCB-EC97-4720-B65D-EC8094F5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3865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75818-21CF-41F0-B80C-11CE12B3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386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전환 승인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D90AA-1127-4995-BFBA-EB63A65F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p* = argmax_p A(p),  v* = argmax_{v∈Vₚ*} S_v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ΔU = S_v* − S_base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SWITCH ⇔ p* ≠ p_base ∧ ΔU ≥ 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1C6DA-BF2C-4528-8535-6275424B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합의로 후보 쌍을 고른 뒤 대표 view가 base보다 충분히 유효할 때만 전환한다.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CD967-439B-4CD6-83A3-58EAA129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409950" cy="3429000"/>
          </a:xfrm>
          <a:prstGeom xmlns:a="http://schemas.openxmlformats.org/drawingml/2006/main" prst="roundRect">
            <a:avLst>
              <a:gd name="adj" fmla="val 1676"/>
            </a:avLst>
          </a:prstGeom>
          <a:solidFill xmlns:a="http://schemas.openxmlformats.org/drawingml/2006/main">
            <a:srgbClr val="F5EAFB"/>
          </a:solidFill>
          <a:ln xmlns:a="http://schemas.openxmlformats.org/drawingml/2006/main" w="9525">
            <a:solidFill>
              <a:srgbClr val="8A4DB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681F1-6450-4D51-BD43-6EA85713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A4DB0"/>
                </a:solidFill>
              </a:defRPr>
            </a:pPr>
            <a:r>
              <a:rPr sz="1500" b="1">
                <a:solidFill>
                  <a:srgbClr val="8A4DB0"/>
                </a:solidFill>
              </a:rPr>
              <a:t>ResNet18 고정 정책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D7FB0-7035-46F3-90A1-DA82869B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λ  Joint 반영        1.00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η  최고 view 반영    0.50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β  반복 지지 보너스  0.00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τ  SWITCH 임계값      0.05747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TRAIN-OOF   34 / 2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TEST        40 / 2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             Fixed / Broken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A6EFE-5AF6-4D9A-9AA1-33DD22BB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3409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4DB0"/>
                </a:solidFill>
              </a:defRPr>
            </a:pPr>
            <a:r>
              <a:rPr sz="1275" b="1">
                <a:solidFill>
                  <a:srgbClr val="8A4DB0"/>
                </a:solidFill>
              </a:rPr>
              <a:t>Candidate 생성과 Transition 승인을 분리해 기존 정답을 보호한다.</a:t>
            </a:r>
          </a:p>
        </p:txBody>
      </p:sp>
    </p:spTree>
    <p:extLst>
      <p:ext uri="{BB962C8B-B14F-4D97-AF65-F5344CB8AC3E}">
        <p14:creationId xmlns:p14="http://schemas.microsoft.com/office/powerpoint/2010/main" val="11380324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42C3DD-EFBC-4B25-B9DA-89E013AB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v234는 view별 정답 가능성을 후보 쌍 단위 효용으로 집계한다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0A34E-B24B-428C-8544-4F61C18D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06 · POLICY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226D5-8DCA-4ECB-B340-14A824FB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8EC31-D62C-4CD2-945D-A20E2FDC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E17B3-B01F-4EAC-9EE4-070D1DBA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AF2AB-1CC4-4283-B0AD-673E4419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5B2BB-6A6C-4186-9F58-F213152F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064"/>
                </a:solidFill>
              </a:defRPr>
            </a:pPr>
            <a:r>
              <a:rPr sz="1275" b="0">
                <a:solidFill>
                  <a:srgbClr val="435064"/>
                </a:solidFill>
              </a:rPr>
              <a:t>Parent, Fine, Joint correctness head는 OOF prediction으로 학습·보정되며, 후보 이름이나 TEST truth는 feature로 사용하지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3D319-9949-431C-B64B-A88018E1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기호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93F10-D366-44EF-8E26-36EB21AF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52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619A5-F45B-447E-8424-A5DB3153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52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정의와 구현 의미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6EC51-3CF2-4724-9BB4-6283B987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p_parent(v)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B21D0-3438-4826-AA19-0993AF75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86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CD81B-FC86-43FE-888B-F3A7D86E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86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view v의 Parent 후보가 정답일 보정 확률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6D8A7-9835-401A-946D-CE1F418C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5B469-657D-4B4D-BEA5-7BAA7EF4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p_fine(v)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1C9B5-ED86-41C9-AC55-F7D63317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5507C-1268-45FD-92E6-8F81B1FA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28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view v의 Fine 후보가 정답일 보정 확률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A6DC0-910D-4276-9A80-BAF1AF7D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FB4C5-7973-4F90-8E78-CD427722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p_joint(v)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29082-1342-4C4D-9DBD-A9E1B47C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71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82335-E6B3-4DA0-8244-DBDF1BCC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71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Parent와 Fine이 동시에 정답일 보정 확률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AFCB7-207E-43FD-8710-9AA8B98F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BB730-1048-404E-AB3D-B03F3B4D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S_v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1080C-E1A8-4E52-9E24-9C3C7A66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14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[0, 1]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D852D-43C2-431B-A38B-2A6AC8C5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14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joint 확률과 두 branch 확률의 기하평균을 λ로 결합한 view 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1DE85-A528-4FE8-A656-6A0F200E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A839E3-EA97-4DBD-8B5C-C22DC45B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V_p ⊆ 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D5CCF2-A16C-40D4-8A3F-134050F9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57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view 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7A6C0-ACAA-4B8E-A709-948A29C4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57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동일 Parent/Fine 후보 쌍 p를 예측한 view 집합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1BB080-92C3-4B56-9BE4-ADD14486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24EF33-0DB9-4475-888C-80FD845F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A(p)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4D620C-91C6-48ED-9040-7AE297C8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00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real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0CDE02-150D-4ED5-BA9A-096C0C14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00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V_p의 최고 score, 평균 score, 지지 비율을 η·β로 집계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CA97B1-9D10-46F6-8BB7-6BC81222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60EA31-D1D9-4535-85AA-0479127C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p* / v*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99EEB1-822C-439F-AA8B-A7E5D08C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43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pair / 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D4FBC8-7860-4C5E-AABE-7A828B7E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43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A(p)가 가장 큰 후보 쌍 / 그 쌍에서 S_v가 가장 큰 대표 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6C8E8C-06E9-4EC5-95FE-1F9D38D6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54FCB2-14EB-49E2-9C12-53C26B90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ΔU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0EFB87-088D-43CC-9C7F-C5B154B0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86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real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BCC4D3-74EE-4698-8601-F0EF52DC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863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대표 view 점수 S_v*와 기존 관측 점수 S_base의 차이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7644E2-FB89-401C-A657-97502247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834C02-5965-4CB8-8657-341B0072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14FF54-CFDE-496D-9CC5-3594B927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29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F80D0"/>
                </a:solidFill>
              </a:defRPr>
            </a:pPr>
            <a:r>
              <a:rPr sz="1050" b="0">
                <a:solidFill>
                  <a:srgbClr val="2F80D0"/>
                </a:solidFill>
              </a:rPr>
              <a:t>real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4D82B0-CA9C-4EF1-A1BD-ABD71AD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2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OOF에서 fixed − penalty×broken을 최대화해 고정한 SWITCH threshold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3ADF13-475B-4C63-AC6A-6D9A359F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0322A9-B583-482B-B4FA-89C9E38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3FE518-2DFA-4085-82FD-19AE4051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TRAIN / OOF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39D4BA-2E03-4EFA-83D7-9C3E2EA7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91200"/>
            <a:ext cx="3762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λ·η·β·τ와 expert calibrator를 TRAIN-OOF로 선택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439427-3607-436F-A8F3-0FC55827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34050"/>
            <a:ext cx="5219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D8F3AD-A243-4F7F-84F1-7CD5FC3C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D0"/>
                </a:solidFill>
              </a:defRPr>
            </a:pPr>
            <a:r>
              <a:rPr sz="975" b="1">
                <a:solidFill>
                  <a:srgbClr val="2F80D0"/>
                </a:solidFill>
              </a:rPr>
              <a:t>RUNTIME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6D71A1-44A7-4D90-AD44-BEE5EAEC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p*가 base와 다르고 ΔU ≥ τ일 때만 SWITCH</a:t>
            </a:r>
          </a:p>
        </p:txBody>
      </p:sp>
    </p:spTree>
    <p:extLst>
      <p:ext uri="{BB962C8B-B14F-4D97-AF65-F5344CB8AC3E}">
        <p14:creationId xmlns:p14="http://schemas.microsoft.com/office/powerpoint/2010/main" val="6651718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1A162-CA9F-46B3-9DD5-413AE9E5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실제 입력에서 Parent 판단만 안전하게 교정했다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26D65-B6D3-4763-B0CE-6D2770D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03 · LABEL-FREE DECISION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1BD3E-E094-4B92-87D1-70F761B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5595D-DB05-47C9-B49D-04C847EB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EA856-7AED-4B6A-A045-F09280D7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8AC9B-8795-40CB-A6B8-72D13B71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18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d29679bd44658"/>
          <a:srcRect xmlns:a="http://schemas.openxmlformats.org/drawingml/2006/main" l="0" t="18605" r="0" b="18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66875"/>
            <a:ext cx="4095750" cy="3429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20E3A-D343-4C1E-84CB-7E2FE43E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6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8596"/>
                </a:solidFill>
              </a:defRPr>
            </a:pPr>
            <a:r>
              <a:rPr sz="1350" b="1">
                <a:solidFill>
                  <a:srgbClr val="7A8596"/>
                </a:solidFill>
              </a:rPr>
              <a:t>초기 판단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89D2D-BEF1-41BF-BA16-F4178D74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dog_like / tiger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30326-D8E7-471B-80AE-277121B7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4949"/>
                </a:solidFill>
              </a:defRPr>
            </a:pPr>
            <a:r>
              <a:rPr sz="1200" b="0">
                <a:solidFill>
                  <a:srgbClr val="C44949"/>
                </a:solidFill>
              </a:rPr>
              <a:t>Risk 0.9800  &gt;  threshold 0.9043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6AF34-6831-470C-B6CC-E9D64D8C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4DB0"/>
                </a:solidFill>
              </a:defRPr>
            </a:pPr>
            <a:r>
              <a:rPr sz="1875" b="1">
                <a:solidFill>
                  <a:srgbClr val="8A4DB0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7E6B7-9C5B-4590-BAAA-E2E94257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5524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EC477-A005-4438-882A-1322F2A0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43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D0"/>
                </a:solidFill>
              </a:defRPr>
            </a:pPr>
            <a:r>
              <a:rPr sz="1500" b="1">
                <a:solidFill>
                  <a:srgbClr val="2F80D0"/>
                </a:solidFill>
              </a:rPr>
              <a:t>fine_context 재관측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E737D-2BE7-4AAD-BCB2-6F8E310D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24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Base validity 0.0257  →  Candidate validity 0.8396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C306E-D21D-495E-9DBF-E7BCA33B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4DB0"/>
                </a:solidFill>
              </a:defRPr>
            </a:pPr>
            <a:r>
              <a:rPr sz="1875" b="1">
                <a:solidFill>
                  <a:srgbClr val="8A4DB0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AA6D4-1F98-4345-9E44-E2B211D8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53000"/>
            <a:ext cx="5524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D7B83-6D21-4AEA-8466-377FC458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9530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09552"/>
                </a:solidFill>
              </a:defRPr>
            </a:pPr>
            <a:r>
              <a:rPr sz="1800" b="1">
                <a:solidFill>
                  <a:srgbClr val="409552"/>
                </a:solidFill>
              </a:rPr>
              <a:t>최종 판단  big_cat / tiger  ·  SWITCH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3BC6B-1D4D-4E46-938B-9BAC82BE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07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파일명·폴더명·정답 라벨은 런타임 판단에 사용되지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481502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F658B-2DB7-463C-80E2-7FACB8A0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두 branch가 함께 틀린 사례도 새로운 관측으로 복구했다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F7195-0768-4CE9-9E19-5C032E1A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VALIDATION · JOINT-ERROR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99E63-72B1-49F1-B566-7C6C442B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17E6B-DB28-444C-9E92-FECEF92E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F14AE-5153-4D78-B6FF-A1A5A93D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EA6F0-5792-4641-B530-A850E637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19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cc1e24e0c4c87"/>
          <a:srcRect xmlns:a="http://schemas.openxmlformats.org/drawingml/2006/main" l="0" t="1167" r="0" b="1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66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4A3DA-C1A3-4862-A39A-597AD342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4949"/>
                </a:solidFill>
              </a:defRPr>
            </a:pPr>
            <a:r>
              <a:rPr sz="1050" b="0">
                <a:solidFill>
                  <a:srgbClr val="C44949"/>
                </a:solidFill>
              </a:rPr>
              <a:t>기존  dog / german shepherd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60FAC-5A7F-434A-9D19-9142AFE4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최종  horse/horse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63C46-D1FD-455D-827F-EDB3A070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joint_tight · support 6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93ed760df4818"/>
          <a:srcRect xmlns:a="http://schemas.openxmlformats.org/drawingml/2006/main" l="0" t="813" r="0" b="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666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FF668-C5AA-48E9-8DA1-52761EED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4949"/>
                </a:solidFill>
              </a:defRPr>
            </a:pPr>
            <a:r>
              <a:rPr sz="1050" b="0">
                <a:solidFill>
                  <a:srgbClr val="C44949"/>
                </a:solidFill>
              </a:rPr>
              <a:t>기존  dog / german shepherd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B339D-DD6A-4704-93CD-9DAE4320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최종  dog_like/fox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1C544-3841-4A7C-9B25-671AD2D0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fine_disagreement · support 6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5b4310b904448"/>
          <a:srcRect xmlns:a="http://schemas.openxmlformats.org/drawingml/2006/main" l="4452" t="0" r="44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666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84EB2-A08B-4CF5-B431-890BBB92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4949"/>
                </a:solidFill>
              </a:defRPr>
            </a:pPr>
            <a:r>
              <a:rPr sz="1050" b="0">
                <a:solidFill>
                  <a:srgbClr val="C44949"/>
                </a:solidFill>
              </a:rPr>
              <a:t>기존  dog / fox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12687-A303-4D22-A561-1B4BE9F8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86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최종  deer/deer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B1670-7E16-427D-9C31-7DD627B9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482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parent_disagreement · support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55EE1-199E-46E0-9AA1-35DF3600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EAFB"/>
          </a:solidFill>
          <a:ln xmlns:a="http://schemas.openxmlformats.org/drawingml/2006/main" w="9525">
            <a:solidFill>
              <a:srgbClr val="8A4D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18784-4F4C-418B-9C43-473DE743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A4DB0"/>
                </a:solidFill>
              </a:defRPr>
            </a:pPr>
            <a:r>
              <a:rPr sz="1425" b="1">
                <a:solidFill>
                  <a:srgbClr val="8A4DB0"/>
                </a:solidFill>
              </a:rPr>
              <a:t>Parent-only 14장  ·  Fine-only 16장  ·  Parent/Fine 공동 오답 10장  ·  전체 Fixed 40장</a:t>
            </a:r>
          </a:p>
        </p:txBody>
      </p:sp>
    </p:spTree>
    <p:extLst>
      <p:ext uri="{BB962C8B-B14F-4D97-AF65-F5344CB8AC3E}">
        <p14:creationId xmlns:p14="http://schemas.microsoft.com/office/powerpoint/2010/main" val="14650508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F159EB-4662-46B3-B379-58303B7C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1,000장 중 103장만 다시 보고 40장을 복구했다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90DDF-149C-463E-833F-AB7E4A67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03 · TEST1000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BBEFD-CFB8-4F76-AC9C-B943C53D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06C2A-2B9B-475A-805D-203ED18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A0DD1-E166-412A-97FF-2C106BE5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1CF10-D054-4C49-95B7-7E6081B6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DF474-648D-4962-903C-0D30F369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85F22-B7E7-4E36-8233-E1AADBAE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ABCA7-BCDA-4A98-A68B-C49F3DB6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95A5"/>
                </a:solidFill>
              </a:defRPr>
            </a:pPr>
            <a:r>
              <a:rPr sz="2100" b="1">
                <a:solidFill>
                  <a:srgbClr val="8B95A5"/>
                </a:solidFill>
              </a:rPr>
              <a:t>1,000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1BE3E-61A2-4942-B84D-454188C6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10-class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C7ADD-E9BA-4119-8DC1-D520E0D1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88A34-5F29-4908-9501-0F7B9DEF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66875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A71C0-E735-44E9-80D9-78EF552E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811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F1C87-B12F-4D79-A8E2-671E3EB6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193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950D"/>
                </a:solidFill>
              </a:defRPr>
            </a:pPr>
            <a:r>
              <a:rPr sz="2100" b="1">
                <a:solidFill>
                  <a:srgbClr val="C8950D"/>
                </a:solidFill>
              </a:rPr>
              <a:t>103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FC51F-3984-48ED-B8FC-A035171E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479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7B74C-1DE3-4856-B721-63E0C0DF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29753-D0F1-444D-AAE7-A79E8285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66875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8B7E4-ABB6-4B60-8248-73587AEB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811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탐지 오답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2CFEA-BD94-4860-A923-489ADA32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193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949"/>
                </a:solidFill>
              </a:defRPr>
            </a:pPr>
            <a:r>
              <a:rPr sz="2100" b="1">
                <a:solidFill>
                  <a:srgbClr val="C44949"/>
                </a:solidFill>
              </a:rPr>
              <a:t>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E1572-76BE-48E2-AD9C-828647C9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479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7425B-4C1A-4D0D-B30D-97A9C4FC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83B22-D171-4273-91D8-B9EE16C5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66875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D11BD-EA67-4854-AC89-C4F04002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811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정답 후보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3A465D-C936-4F11-8130-F7CD0D8E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0D0"/>
                </a:solidFill>
              </a:defRPr>
            </a:pPr>
            <a:r>
              <a:rPr sz="2100" b="1">
                <a:solidFill>
                  <a:srgbClr val="2F80D0"/>
                </a:solidFill>
              </a:rPr>
              <a:t>58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D25D4B-7F4C-4CA9-8A18-C0E54A0B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479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77F5D9-D3E3-4BA9-BCC6-BF885E02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1383E-4FDE-4DF5-972D-9C6E5CA8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66875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87886-EBF0-43C5-9F81-45024788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811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Fixed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C45361-5464-43E8-8AA4-5DDC4048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09552"/>
                </a:solidFill>
              </a:defRPr>
            </a:pPr>
            <a:r>
              <a:rPr sz="2100" b="1">
                <a:solidFill>
                  <a:srgbClr val="409552"/>
                </a:solidFill>
              </a:rPr>
              <a:t>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F2756-19EA-47BF-97EC-34D19E63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479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AF85E6-A596-448F-A6DE-448E2214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정확도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4512F0-82A0-4986-9980-6ABB6092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FBC18A-3ED2-4B47-B76C-6EB87E2C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C38B8A-BAEC-467C-A2FD-55C13B66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57625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94C555-A7E1-4511-8F57-AF643CE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576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40AD25-5318-44B3-997F-4654AE37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1BAFAC-A7C0-47BA-A1D4-7A0ADF3D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576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6E34DE-0CA7-469A-B41F-D0D3C870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1D07FA-B054-4279-AAF0-D08257C3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Parent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20BD80-64B3-43ED-A3F7-E07F7E9A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7672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382AD2-13E9-4AD9-8C21-052F1849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7672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95.9%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26C8B5-C2FD-428A-8FA9-8438AB32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7672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E21EFB-F8E1-48BA-9EE2-CDCB58FE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7672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98.0%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801857-B41A-4948-A1F5-F381BEF0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EC9EB9-243A-466B-90A2-B4F06474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Fine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48CBA3-4857-418A-AE2C-A9AF8FE2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1487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19E227-9625-4794-B818-822CD889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1487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93.8%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1622B4-60A0-4D42-B2C8-16802F04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1487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B0CA0B-081F-4561-85F8-2C08B14B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1487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96.0%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B67890-4318-4D67-B874-1A47C42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38FD38-16B5-467B-88FF-CFD81036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Parent + Fine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5CC24E-3446-4B1E-ABB5-C84949FE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5302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3CD05B-3C26-4F58-A6B1-17DD598A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5302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92.2%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89BD94-A51C-4C14-9938-0DD1C347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5302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F17178-B5A7-45BE-9454-B5C7AB1F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5302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96.0%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9FCF03-5254-4B02-BAD7-632B616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7434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A0981A-B81D-49A8-9473-C99532FD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전환 감사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53BBF1-5CE5-43EC-AD46-723BFF19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SWITCH 50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Fixed 40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Broken 2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Wrong → Wrong 8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순증가 +38장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0206C7-54ED-43F5-A08A-EC64850F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8596"/>
                </a:solidFill>
              </a:defRPr>
            </a:pPr>
            <a:r>
              <a:rPr sz="1125" b="0">
                <a:solidFill>
                  <a:srgbClr val="7A8596"/>
                </a:solidFill>
              </a:rPr>
              <a:t>최종 결과는 정확도뿐 아니라 Fixed / Broken / Wrong→Wrong으로 분해해 기록했다.</a:t>
            </a:r>
          </a:p>
        </p:txBody>
      </p:sp>
    </p:spTree>
    <p:extLst>
      <p:ext uri="{BB962C8B-B14F-4D97-AF65-F5344CB8AC3E}">
        <p14:creationId xmlns:p14="http://schemas.microsoft.com/office/powerpoint/2010/main" val="16278930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22BFB8-79BF-4677-A7DC-E690F8C0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동일 Review 10%에서 오답의 80.77%를 찾았다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09D15-FC3B-4757-B1B2-B269AAF5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VALIDATION · RISK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DCFC2-F5EE-4219-A520-AB30A03C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1AEC0-D4E2-4E00-9C49-15FD772B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C8950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0CBB5-6EE3-4329-B476-F6CBD83C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4BE8E-28A5-4B90-B065-0218A638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DA5D8-2DDB-4984-AFE4-BF1BAFD6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064"/>
                </a:solidFill>
              </a:defRPr>
            </a:pPr>
            <a:r>
              <a:rPr sz="1350" b="0">
                <a:solidFill>
                  <a:srgbClr val="435064"/>
                </a:solidFill>
              </a:rPr>
              <a:t>Confidence 계열 대조군과 동일한 검토 예산으로 비교했다.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191E4-13A1-474A-B5CC-41859576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Confidence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D29AB-1BFA-46EB-8F37-3037FB1B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81225"/>
            <a:ext cx="285750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solidFill>
              <a:srgbClr val="E9E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447AF-6AF4-4B80-A7D0-6C00CBDC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81225"/>
            <a:ext cx="2124837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42D55-6D3C-4E96-9DA7-1BFC0496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1240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74.36%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B6462-7D21-4C8E-BFBC-00F9E505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1794F-2BDC-4703-8EC1-670ED03D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52725"/>
            <a:ext cx="285750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solidFill>
              <a:srgbClr val="E9E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4411A-05E0-4328-9042-58247968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52725"/>
            <a:ext cx="2051399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751AE-09CD-451D-B380-7C71B81F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955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71.79%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0643D-7CA1-400B-B97D-50AEDFB5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Entropy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CC03D-6CAC-4155-81EE-BD71A133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24225"/>
            <a:ext cx="285750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solidFill>
              <a:srgbClr val="E9E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002CE-E85D-4495-BB47-B523D571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24225"/>
            <a:ext cx="1941671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A4004-D80E-4B31-9718-7224C3DC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670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67.95%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D8B48-6938-446D-8524-077D1BC6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Dual-Line v233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6AA6A-4509-4332-A74E-4E25A8CB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95725"/>
            <a:ext cx="285750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solidFill>
              <a:srgbClr val="E9E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44A53-DCB2-430A-B65A-1A4B3DBE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95725"/>
            <a:ext cx="2308003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8950D"/>
          </a:solidFill>
          <a:ln xmlns:a="http://schemas.openxmlformats.org/drawingml/2006/main" w="0">
            <a:solidFill>
              <a:srgbClr val="C8950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FA8B6-A5DE-4837-8512-BD453961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8385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80.77%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16548-A751-4F65-BA23-2C2DEAB6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4267200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C8950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9C2EB-7575-429A-8F78-09DAD37D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71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950D"/>
                </a:solidFill>
              </a:defRPr>
            </a:pPr>
            <a:r>
              <a:rPr sz="1650" b="1">
                <a:solidFill>
                  <a:srgbClr val="C8950D"/>
                </a:solidFill>
              </a:rPr>
              <a:t>Dual-Line v233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CC3D29-4C8E-4094-8A69-C3D68380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1462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AUROC   0.9584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AUPR      0.6780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Review 10% 탐지율   80.77%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DDA57-8A96-47DC-8A33-2AA4D88A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243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최고 대조군 대비 +6.41%p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29FEA-E969-42F0-A312-8F3C071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Parent/Fine 상태와 TRAIN-OOF 정상 분포 이탈을 함께 사용해 검토 대상의 오답 밀도를 높였다.</a:t>
            </a:r>
          </a:p>
        </p:txBody>
      </p:sp>
    </p:spTree>
    <p:extLst>
      <p:ext uri="{BB962C8B-B14F-4D97-AF65-F5344CB8AC3E}">
        <p14:creationId xmlns:p14="http://schemas.microsoft.com/office/powerpoint/2010/main" val="2311885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FBA084C-442D-40AC-AC18-26EFFB67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Risk는 적게 보게 하고, Joint Selector는 더 잘 고쳤다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6AED7-67B6-4991-81BE-54978BD3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VALIDATION · 2×2 FACTORIAL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DFD31-F2AE-46E5-9AC1-29395144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51C18-B5DD-45D1-9706-A2754BB6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E7310-8B8D-46E4-B368-A998DB7F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14108-E889-44DC-AC08-6C923C3B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6F6CB-B1A6-4A86-8E13-A109817D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064"/>
                </a:solidFill>
              </a:defRPr>
            </a:pPr>
            <a:r>
              <a:rPr sz="1275" b="0">
                <a:solidFill>
                  <a:srgbClr val="435064"/>
                </a:solidFill>
              </a:rPr>
              <a:t>동일 ResNet18 · 동일 base prediction · 동일 후보 풀에서 Risk와 Selector만 교차했다.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54D40-9A9D-4804-B80C-49A71548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50D93-B869-4EC7-94D9-D13BFBC5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73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157E5-646A-4B03-A646-B0CB9E33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52701-3619-4FA2-8982-9C26E52E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5262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Selector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1A16B-85B4-4064-BA18-D0D4BB28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2ADAE-5B6E-468A-ACB8-BCB4F064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2C54E-DDAF-46A5-A74F-A197CD52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52625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D78E1-346A-4332-BF01-070CE19A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오답 밀도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E8B81-B89E-45CF-B392-6743795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526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947BF-BE3B-4823-83E0-E5F389DB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 Joint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5FC56-5D72-4A10-9E89-8D7FB053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D0A89-48CA-466E-ACCE-262C3B23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F2054-67F0-47E7-9A09-DE69E5AB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526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313CC-531E-48D8-B7CA-5899D292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Broken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5C519-C9A1-4E6F-94B9-23344148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36289-CB4F-402A-ADD7-DFFFDA58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Independent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8EC54-6F17-41AF-90D5-3F4A36C3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717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98539-8710-46AF-BD8A-73AC71A0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717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Independent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123E9-8616-460A-8EDE-AA818A93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717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5D64CE-38D0-468E-A43A-4304E43E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7172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191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B4575-D63D-4CE1-8357-052A25BE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717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06124-723C-4048-97D8-5EAA2F01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7172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36.1%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7AA4FC-6F63-41F7-B4E3-221A935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7172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74B2B2-4B7D-4080-B2F7-49714FFD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7172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93.1%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56C040-861A-47EF-84E2-E3FF100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717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E03087-70DA-4879-A1EA-AAF2C6FC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7172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82BA21-18A8-464C-B710-550A5565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717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C77F8E-B740-4CAB-801E-E193403C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7172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95822C-7064-4A69-9B84-4B41AEA9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68B0CF-C47B-424A-AED9-B6E1AFE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Independent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6B8577-0763-4D74-9DF1-84267AC5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98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C1566C-D2A8-474E-9DAD-94F5E253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098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Joint pair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DEEA81-E8B1-4C9F-828B-654E5A36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98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A07A60-871D-4E9F-8CCE-84B5AAD6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0987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191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E381FA-0516-4282-AE06-25E34A41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98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CCAF1B-48DB-4A9A-A3AB-3991FA81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987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36.1%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36890E-C850-40C0-80CD-3FEBC348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98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F0793F-49E0-4CB4-A30D-52D83B80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987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95.8%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C31D5B-E20C-4C4D-937B-F2192A4B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98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1703FF-A5EF-4B03-8853-D828BD81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987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A528C4-A41C-4F7A-833A-98E3DC76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96130E-0AB4-4985-B1A4-AC9492E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987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B08BF3-703C-4285-B3B5-4D0F493E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839982-5518-41B0-A74D-1293B25C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Dual v233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3F3262-6F37-4238-B1EE-D225085E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480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82DF95-3513-41D6-B7E1-8D910B7D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480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Independent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86C1F6-A7B1-4AC0-8F76-84AD9F85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13F874-2CE5-4303-AC32-F4FA57A5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4802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103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63F9D3-36C0-4678-A971-9E0571E9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480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24DDE7-1234-4D1B-854C-1C33DDB5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4802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62.1%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1B95EC-57FC-4906-A33D-C9E3F82A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4802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FBAB9C-0552-45C9-B9D7-A69E9F2A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4802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93.3%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31C06E-9CF5-42E7-94CA-72225D68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BFD630-7269-4A53-9C2C-F091588F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4802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13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5D5676-1F9E-4310-AAAC-D37C7DD5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480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30D6CB-CEEF-4DAB-A0B9-36D32D7F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4802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E8BAD3-97D2-4080-AEE8-08893378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18B925-8FEA-4A7F-819C-2B21ED66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Dual v233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FEDBB9-1D85-4F17-AC07-E88E7B1A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861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168E1B-CD4C-4EDA-AD38-C1427994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861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Joint v234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348029F-F883-4631-A8D6-E5427A1F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861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5626E0-B749-437A-80E8-1CA917A2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103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FF4AB7A-BD7E-44C5-BBC4-B0C7522C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AAECBD-D7DC-4A5D-8559-625A2D3F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62.1%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995E13-DBC1-470A-A8B3-9207F1FD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861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0492FB-62DB-4636-8730-DB279109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96.0%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2F10E6-D492-41CF-8DA7-95D4638B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861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7C788DD-3BC1-45C2-B9C9-9DB21AAB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8617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40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0294162-109B-4853-B0A6-95A836E9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861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ECFFA15-572F-4897-82BC-FFFD5F4F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617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027A7A4-DF28-489D-9B50-52BFF0D9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EB1A3A-0B2A-4421-A9A1-1D2D753A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Dual Risk 기여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907897E-7CA2-483C-9B0D-2A64B431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950D"/>
                </a:solidFill>
              </a:defRPr>
            </a:pPr>
            <a:r>
              <a:rPr sz="2100" b="1">
                <a:solidFill>
                  <a:srgbClr val="C8950D"/>
                </a:solidFill>
              </a:rPr>
              <a:t>191 → 103 REVIEW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1EBD763-E8C4-4AF8-93A5-AECC131E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오답 밀도 36.1% → 62.1%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6DC632-4DD8-4074-B963-852A74D4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14875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F4BD146-B34C-432A-AA17-39A237EF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29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Joint Selector 기여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8F92DBC-B959-48BA-9393-B59BD0E1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09552"/>
                </a:solidFill>
              </a:defRPr>
            </a:pPr>
            <a:r>
              <a:rPr sz="2100" b="1">
                <a:solidFill>
                  <a:srgbClr val="409552"/>
                </a:solidFill>
              </a:rPr>
              <a:t>+2.7%p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DB1C10-231D-4E27-A1A2-9CAB70AB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959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Risk 고정 시 Final Joint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3CDF37-02EF-4804-880B-FBAA48A7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619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803EFFB-73BE-4B06-ADF8-52A2F65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91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Full Dual-Line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AA0FBE7-2D64-49B7-8C72-4804ED61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673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4DB0"/>
                </a:solidFill>
              </a:defRPr>
            </a:pPr>
            <a:r>
              <a:rPr sz="2100" b="1">
                <a:solidFill>
                  <a:srgbClr val="8A4DB0"/>
                </a:solidFill>
              </a:rPr>
              <a:t>96.0% · 40 / 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093D20B-D794-4E29-AB31-EA252C90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9592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정확도와 보호를 동시에 확보</a:t>
            </a:r>
          </a:p>
        </p:txBody>
      </p:sp>
    </p:spTree>
    <p:extLst>
      <p:ext uri="{BB962C8B-B14F-4D97-AF65-F5344CB8AC3E}">
        <p14:creationId xmlns:p14="http://schemas.microsoft.com/office/powerpoint/2010/main" val="14073183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F769D3-7266-44F1-9ED5-EECE5F03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독립 실행보다 적게 보고 더 많이 맞혔다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5F749-A257-4079-A534-280F1DBC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VALIDATION · INTERACTION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AFB35-E415-48A7-B37F-D608FFEC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4D038-C41B-4901-A11C-AE76D044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8E665-40C8-4EB4-8E1E-94257B97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29537-488A-4507-9199-C43F4618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20B7F-EBD9-4DF1-A7B2-C2368253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TEST1000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C9FEB-952C-4478-B87C-DBD53443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Independent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F99C4-F5A7-4FB2-A015-2AE5737E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90725"/>
            <a:ext cx="3589020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C2A12-2DD1-4CC0-9785-7C80271E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2405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94.2%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DB636-9998-43C4-8254-6FD167D7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52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4DB0"/>
                </a:solidFill>
              </a:defRPr>
            </a:pPr>
            <a:r>
              <a:rPr sz="975" b="0">
                <a:solidFill>
                  <a:srgbClr val="8A4DB0"/>
                </a:solidFill>
              </a:rPr>
              <a:t>Full Dual-Line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7F264-A5C5-4AEC-8F73-751E6DE8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90775"/>
            <a:ext cx="3657600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50AA8-4ECD-42DE-A1A9-DF1DE255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241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4DB0"/>
                </a:solidFill>
              </a:defRPr>
            </a:pPr>
            <a:r>
              <a:rPr sz="1125" b="1">
                <a:solidFill>
                  <a:srgbClr val="8A4DB0"/>
                </a:solidFill>
              </a:rPr>
              <a:t>96%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8347B-C82F-4AD7-958F-50787BE5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REVIEW 191 → 103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76578-F0BF-4DD5-8424-43B96689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HF90 mixed 600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27953-B5A5-4BCE-96F5-97C9F9E7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95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Independent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F0B90-173D-423D-BC3B-957CF2B6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33725"/>
            <a:ext cx="3645027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3CC84-55A6-48FE-B652-CC50D90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6705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95.67%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4BED4-8529-4E3B-B58F-4E782A3D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95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4DB0"/>
                </a:solidFill>
              </a:defRPr>
            </a:pPr>
            <a:r>
              <a:rPr sz="975" b="0">
                <a:solidFill>
                  <a:srgbClr val="8A4DB0"/>
                </a:solidFill>
              </a:rPr>
              <a:t>Full Dual-Line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9F020-4D0E-48D7-91A5-E374297B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33775"/>
            <a:ext cx="3695700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64923-2D1D-47E6-99EC-014C4FCA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671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4DB0"/>
                </a:solidFill>
              </a:defRPr>
            </a:pPr>
            <a:r>
              <a:rPr sz="1125" b="1">
                <a:solidFill>
                  <a:srgbClr val="8A4DB0"/>
                </a:solidFill>
              </a:rPr>
              <a:t>97%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5D2FB-FFDF-4D3F-A3E9-561336DC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REVIEW 98 → 57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DF358-E936-466A-98EF-FA0D2521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AWA holdout 800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0F151-E3D7-4C84-A065-467B3527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38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Independent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A1E18D-95D3-4C45-BEFD-833E0D2A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3719703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08F6F-C076-4A37-9966-C2E2B600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1005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97.63%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EE4BC-DBCF-44A8-9D55-D642C3A1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38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4DB0"/>
                </a:solidFill>
              </a:defRPr>
            </a:pPr>
            <a:r>
              <a:rPr sz="975" b="0">
                <a:solidFill>
                  <a:srgbClr val="8A4DB0"/>
                </a:solidFill>
              </a:rPr>
              <a:t>Full Dual-Line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471D7B-3694-4D30-8C09-67BBFD78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76775"/>
            <a:ext cx="3743325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FE1FA1-65C0-4377-95AD-2F6A9D6D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101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4DB0"/>
                </a:solidFill>
              </a:defRPr>
            </a:pPr>
            <a:r>
              <a:rPr sz="1125" b="1">
                <a:solidFill>
                  <a:srgbClr val="8A4DB0"/>
                </a:solidFill>
              </a:rPr>
              <a:t>98.25%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754F56-E488-49EC-90E9-3F8A571C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REVIEW 79 → 38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99B314-C17E-4F30-9532-F25B7F17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EAFB"/>
          </a:solidFill>
          <a:ln xmlns:a="http://schemas.openxmlformats.org/drawingml/2006/main" w="9525">
            <a:solidFill>
              <a:srgbClr val="8A4D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EA21D-959C-49A6-9A6D-B437926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A4DB0"/>
                </a:solidFill>
              </a:defRPr>
            </a:pPr>
            <a:r>
              <a:rPr sz="1350" b="1">
                <a:solidFill>
                  <a:srgbClr val="8A4DB0"/>
                </a:solidFill>
              </a:rPr>
              <a:t>두 분류기의 서로 다른 상태를 공동 해석할 때 재관측 대상과 전환 후보를 더 효율적으로 선택했다.</a:t>
            </a:r>
          </a:p>
        </p:txBody>
      </p:sp>
    </p:spTree>
    <p:extLst>
      <p:ext uri="{BB962C8B-B14F-4D97-AF65-F5344CB8AC3E}">
        <p14:creationId xmlns:p14="http://schemas.microsoft.com/office/powerpoint/2010/main" val="17683866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B9C2F6-2DC8-4336-8929-A8045AB4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시드 반복과 신규 Holdout에서 같은 방향을 재현했다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40A53-FFA2-4A4C-87E5-DBF44CFC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VALIDATION ·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59DFB-D6C6-476C-9ED3-D104D789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806DC-F61E-4D63-8E44-E7DC7BFB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4B695-55C5-4677-9F71-941C761D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0A747-F9ED-44BE-B755-BC86B318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9BD90-C131-4906-9CA2-78AA0F88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3-seed TEST1000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FC92F-5FBC-4D78-80B8-5A8F7B9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E1597-D0D3-4F45-9C94-8E32F42D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9552"/>
                </a:solidFill>
              </a:defRPr>
            </a:pPr>
            <a:r>
              <a:rPr sz="1050" b="1">
                <a:solidFill>
                  <a:srgbClr val="409552"/>
                </a:solidFill>
              </a:rPr>
              <a:t>SEED 310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6CC0B-8A82-46E0-B396-69160DF7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91.7 → 96.6%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052FE-7AE2-49A9-A91F-BDD4387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Fixed / Broken  50 /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6EBCC-6519-490B-A1C8-CFCDC3C1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52625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CB8D1-73E1-4BBE-A029-159BAC7E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9552"/>
                </a:solidFill>
              </a:defRPr>
            </a:pPr>
            <a:r>
              <a:rPr sz="1050" b="1">
                <a:solidFill>
                  <a:srgbClr val="409552"/>
                </a:solidFill>
              </a:rPr>
              <a:t>SEED 311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ADA5E-653A-4EFA-A64A-0E07DCBE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93.2 → 96.0%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EA9BB-8E17-4A72-9663-D4BB3C0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Fixed / Broken  31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134F6-C94A-4094-8746-F349998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52625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99F15-E55C-40A2-890F-165C1202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9552"/>
                </a:solidFill>
              </a:defRPr>
            </a:pPr>
            <a:r>
              <a:rPr sz="1050" b="1">
                <a:solidFill>
                  <a:srgbClr val="409552"/>
                </a:solidFill>
              </a:rPr>
              <a:t>SEED 312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2F280-7C00-4A08-9552-D02D6F3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92.1 → 95.4%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0B251-5279-4215-9B7E-17712621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Fixed / Broken  34 /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78BB6-C327-4FFE-A6C4-8E811B8B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Wikimedia 신규 Holdout 300장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23520-DC26-4191-A4A6-7E8E78A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058EB-E1E8-4896-BB2F-231E9329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28FF3-31F8-47E2-854B-5C6C173A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4337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13CF6-9BBC-4939-BF03-74FFBAB8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433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Base Joint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18141B-069D-41C4-9170-545E26CC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4337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846CB-6A55-4455-A88A-3C7C6E19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433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 Joint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6A6B85-F694-48D2-BD9C-D7E800EC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4337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9E8DDE-7E1D-4591-8A6E-379A1012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433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개선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04D30C-BE32-4663-9453-EF5EE8B8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43375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C5C76-42BA-492D-A17A-8661109E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43375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Fixed / Broken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C0726B-B470-447B-B85E-D121A49A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CE29AB-DF40-4206-B326-6BB05A8A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91138-B733-49ED-A3F1-BB982C3E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624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2745F9-3380-4FF3-AEA2-649069F5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624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75.67%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37CC57-E0DE-4A9F-A4AE-0556C075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624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541ED7-919A-4133-B6E6-F6BE8326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624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86.67%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AECC00-208C-42C2-805F-AE45657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624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4642C2-4B6A-423C-8B88-4F9563F7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624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+11.00%p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728D7C-F070-419F-B481-C2A58ADE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4CC837-CFFA-4FFA-BC35-49F44855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6247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36 / 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EFF1A1-BCDF-47D5-990A-AFEC45B3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4B1E33-6EBE-492B-AAE6-DBEC508A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25A995-B08F-4404-AA74-EDF822B8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006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25C08E-27C7-4A23-973B-02E2D62C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006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76.67%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80D328-A4E9-4448-B8B2-80F87582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006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48C85B-A441-4CA5-9BB4-11AEEE5F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006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84.33%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B6D4B1-32C8-4322-BE43-E1FEA645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59668A-52A3-4ACD-892B-AA27801B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006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+7.67%p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27944E-420A-4CEC-8AE8-701BE9A9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F3F636-DE5B-4BCA-94A3-85851DD3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006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25 / 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3E0F79-BECA-4B50-A823-1896816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6C6F5E-65B8-43C6-B01A-5E6A0203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3877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312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007B44-15FB-4370-A49D-AE3A4637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387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075CAA-0A65-4312-94AD-C4F0CAB5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387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77.00%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9CAA2B-03E0-46E5-9927-64B3E0B2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4387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0E5922-946E-4546-815C-272E871D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387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84.67%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C2E159-C819-495F-AAEB-3B687377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387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D35A25-9268-4CAB-8536-1897AED2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387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+7.67%p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4ABE86-28B9-4E86-AC5C-C4836DC2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38775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30298B-2212-4CA1-8417-CB7C8E0F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3877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24 / 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ECD91F-23B9-4390-83E1-982BB097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981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F16BAB-E2CB-423B-947A-E98B4415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5767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평균 개선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56BDC3-7B83-4D2B-A9F5-6DEDB32D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958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4DB0"/>
                </a:solidFill>
              </a:defRPr>
            </a:pPr>
            <a:r>
              <a:rPr sz="2100" b="1">
                <a:solidFill>
                  <a:srgbClr val="8A4DB0"/>
                </a:solidFill>
              </a:rPr>
              <a:t>+8.78%p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812857-4D17-4F16-A9EC-B8747EAF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244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Final 85.22%</a:t>
            </a:r>
          </a:p>
        </p:txBody>
      </p:sp>
    </p:spTree>
    <p:extLst>
      <p:ext uri="{BB962C8B-B14F-4D97-AF65-F5344CB8AC3E}">
        <p14:creationId xmlns:p14="http://schemas.microsoft.com/office/powerpoint/2010/main" val="887471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D840E1-5FFB-4AE9-814F-5D49F07B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라벨 없는 실행 경로와 감사 경로를 물리적으로 분리했다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AF738-34C2-44E0-A66C-35A38070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DEPLOYMENT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4C080-4623-491C-A8A5-927B65B3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12D93-9EEF-4AD9-9DB8-41602B03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9786C-51AA-4CCD-8077-2CADDBFA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70158-FFB2-4227-A4F8-42F063A1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F222D-765D-423F-95A3-07059ECB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57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6E0DB-17C3-4BDB-B328-D6621158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333625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4E8FF-636B-4D19-9F1E-06495782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D0"/>
          </a:solidFill>
          <a:ln xmlns:a="http://schemas.openxmlformats.org/drawingml/2006/main" w="0">
            <a:solidFill>
              <a:srgbClr val="2F8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C1A83-1DFC-424E-8010-4E22C93A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C7728-142F-4BB2-B53A-5673E31F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21530-4AD6-4215-AE53-3C37C4F2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label/truth keys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02B8B-8483-4B27-9F39-5880F182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57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C7A3F-A329-477A-967F-4C1B1954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57375"/>
            <a:ext cx="2333625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6A202-C623-4089-B674-2FCEFE23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8950D"/>
          </a:solidFill>
          <a:ln xmlns:a="http://schemas.openxmlformats.org/drawingml/2006/main" w="0">
            <a:solidFill>
              <a:srgbClr val="C8950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39E70-C9BA-40B6-8D82-C58F8171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7CEBE-CC13-48AF-8819-B242C168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91E43-AFBE-4F36-8005-24193FDB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62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REVIEW 103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4C129-FC30-44D0-B179-05CA9655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57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1A5BC-FB88-45FF-A924-F57B6271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57375"/>
            <a:ext cx="2333625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B4F3E-85ED-4878-89B1-BD2F8A16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1930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0C41F-01BB-4445-9374-4B2362C4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ADB5D-4C64-40F4-9395-002EC2B8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26F55-9A98-4CA4-B745-C5D95250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SWITCH 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78F51-0B1D-430A-82E4-85310C27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57375"/>
            <a:ext cx="2333625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F04FB2-AE50-4301-B26E-91F075AB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1930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88F33-456D-446D-BCC6-BDC25343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F6FB58-6135-443B-BC69-CC9C258B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Truth 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E546DC-FBA1-428E-AAA6-102885A9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62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decision 완전 일치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D93F7-D96D-48F1-92CE-01DB2686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Backbone별 개선 범위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7628D6-141E-4C3E-B0E0-FC45DC4F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8A592A-92A7-4091-A8D5-B47D0A2E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ResNet18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9FDB9B-78A2-4618-9CC4-0B5DCE8A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0D0"/>
                </a:solidFill>
              </a:defRPr>
            </a:pPr>
            <a:r>
              <a:rPr sz="2100" b="1">
                <a:solidFill>
                  <a:srgbClr val="2F80D0"/>
                </a:solidFill>
              </a:rPr>
              <a:t>92.2% → 96.0%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280B39-12BB-4871-AB1E-2E44A0BF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40 fixed / 2 broken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5C9613-BE16-4E92-B188-38C71163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3862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C46030-39EE-47F0-8C13-CD3B514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529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DINOv2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FEADE-F705-4669-ABE0-A3057C7A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4DB0"/>
                </a:solidFill>
              </a:defRPr>
            </a:pPr>
            <a:r>
              <a:rPr sz="2100" b="1">
                <a:solidFill>
                  <a:srgbClr val="8A4DB0"/>
                </a:solidFill>
              </a:rPr>
              <a:t>98.4% → 98.7%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3DD950-975C-4315-A3D1-C7261764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96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3 fixed / 0 broken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2F545D-2CC9-4F4C-8F7C-B26F75DF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3A"/>
                </a:solidFill>
              </a:defRPr>
            </a:pPr>
            <a:r>
              <a:rPr sz="1275" b="1">
                <a:solidFill>
                  <a:srgbClr val="17243A"/>
                </a:solidFill>
              </a:rPr>
              <a:t>판단 계층은 약한 Backbone에서는 큰 복구 폭을, 강한 Backbone에서는 기존 정답을 지키는 제한적 추가 개선을 보였다.</a:t>
            </a:r>
          </a:p>
        </p:txBody>
      </p:sp>
    </p:spTree>
    <p:extLst>
      <p:ext uri="{BB962C8B-B14F-4D97-AF65-F5344CB8AC3E}">
        <p14:creationId xmlns:p14="http://schemas.microsoft.com/office/powerpoint/2010/main" val="15436411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965F9-A2BB-4327-99E9-724DFC6C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검증된 범위와 다음 확장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8FB13-D78E-4FC2-8612-E4E37995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05 · LIMITS &amp;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2BDDC-CD58-4CA4-A853-357F26A8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23EEA-BEEF-49DC-B098-4DBDCC8E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B95A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EC361-6D6D-44D7-A1B6-C1A2652B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603A2-F74D-498E-8755-908C9AA8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74FB8-2CD0-4A7A-B12F-2C08E1C9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4095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F0DA7-A88C-4D59-ADDB-2583EC5F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9552"/>
                </a:solidFill>
              </a:defRPr>
            </a:pPr>
            <a:r>
              <a:rPr sz="1650" b="1">
                <a:solidFill>
                  <a:srgbClr val="409552"/>
                </a:solidFill>
              </a:rPr>
              <a:t>검증된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2065C-7BEE-4A1E-A244-B9A2E8B3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Dual risk로 REVIEW 191 → 103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Joint selector 고정 시 +2.7%p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독립 실행 대비 Full +1.8%p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공동 오답 10장 복구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DA44A-3ECD-4AFC-8ADA-8D9B9DDA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C8950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4FC71-A1E2-45CC-B5AB-8EB7CBAC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950D"/>
                </a:solidFill>
              </a:defRPr>
            </a:pPr>
            <a:r>
              <a:rPr sz="1650" b="1">
                <a:solidFill>
                  <a:srgbClr val="C8950D"/>
                </a:solidFill>
              </a:rPr>
              <a:t>현재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2F88B-06F8-4F03-8486-DB6101B7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작은 객체·심한 가림에서 후보 품질 저하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후보가 있어도 selector가 모두 복구하지 못함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REVIEW 경로는 추가 지연 발생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10-class 중심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07A91-74CC-4A02-927D-B89C7B2D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8A4D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87BDD-A2A7-4AC8-BCE7-D70FE78E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A4DB0"/>
                </a:solidFill>
              </a:defRPr>
            </a:pPr>
            <a:r>
              <a:rPr sz="1650" b="1">
                <a:solidFill>
                  <a:srgbClr val="8A4DB0"/>
                </a:solidFill>
              </a:rPr>
              <a:t>다음 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5BF81-25C7-4B65-8BED-7EFDD23B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객체 크기 기반 축소·분할 view planner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동적 REVIEW budget과 early exit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외부/OOD calibration 및 class 확장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Activation steering은 별도 검증 모듈로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2D19B-70CE-44E3-9D4C-C3AD49EB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7E634-D650-4FE8-B40B-F5EBCD69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핵심 과제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12474-F7F0-4163-9CAF-D23E9331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후보를 무작정 늘리기보다, 제한된 연산 예산에서 언제 다시 보고 언제 기존 판단을 바꿀지를 안정적으로 결정하는 것</a:t>
            </a:r>
          </a:p>
        </p:txBody>
      </p:sp>
    </p:spTree>
    <p:extLst>
      <p:ext uri="{BB962C8B-B14F-4D97-AF65-F5344CB8AC3E}">
        <p14:creationId xmlns:p14="http://schemas.microsoft.com/office/powerpoint/2010/main" val="942955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2026-08-06T07:46:25.3960000Z</dcterms:created>
  <dcterms:modified xsi:type="dcterms:W3CDTF">2026-08-06T07:46:25.3960000Z</dcterms:modified>
</coreProperties>
</file>