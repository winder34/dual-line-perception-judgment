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d058599a224ab1" /><Relationship Type="http://schemas.openxmlformats.org/officeDocument/2006/relationships/extended-properties" Target="/docProps/app.xml" Id="Rbcbac63cff934672" /><Relationship Type="http://schemas.openxmlformats.org/officeDocument/2006/relationships/officeDocument" Target="/ppt/presentation.xml" Id="R7e76ea6ed23343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979eb320634eed"/>
  </p:sldMasterIdLst>
  <p:notesMasterIdLst>
    <p:notesMasterId xmlns:r="http://schemas.openxmlformats.org/officeDocument/2006/relationships" r:id="Ra34c8dad952a4dc1"/>
  </p:notesMasterIdLst>
  <p:sldIdLst>
    <p:sldId xmlns:r="http://schemas.openxmlformats.org/officeDocument/2006/relationships" id="256" r:id="R958f1c7bb7e74594"/>
    <p:sldId xmlns:r="http://schemas.openxmlformats.org/officeDocument/2006/relationships" id="257" r:id="Rae301ecee1d04053"/>
    <p:sldId xmlns:r="http://schemas.openxmlformats.org/officeDocument/2006/relationships" id="258" r:id="R9cc95fd8fe6644cd"/>
    <p:sldId xmlns:r="http://schemas.openxmlformats.org/officeDocument/2006/relationships" id="259" r:id="Rc1384d517dea42c7"/>
    <p:sldId xmlns:r="http://schemas.openxmlformats.org/officeDocument/2006/relationships" id="260" r:id="Rd744e5ea34c54bf3"/>
    <p:sldId xmlns:r="http://schemas.openxmlformats.org/officeDocument/2006/relationships" id="261" r:id="R964babc23cec4cec"/>
    <p:sldId xmlns:r="http://schemas.openxmlformats.org/officeDocument/2006/relationships" id="262" r:id="R36c989107e89419a"/>
    <p:sldId xmlns:r="http://schemas.openxmlformats.org/officeDocument/2006/relationships" id="263" r:id="R65f0bf16c82d49e6"/>
    <p:sldId xmlns:r="http://schemas.openxmlformats.org/officeDocument/2006/relationships" id="264" r:id="R3c52e09fd87f4099"/>
    <p:sldId xmlns:r="http://schemas.openxmlformats.org/officeDocument/2006/relationships" id="265" r:id="R7f9da7195c4d4810"/>
    <p:sldId xmlns:r="http://schemas.openxmlformats.org/officeDocument/2006/relationships" id="266" r:id="Raaaf0add18224441"/>
    <p:sldId xmlns:r="http://schemas.openxmlformats.org/officeDocument/2006/relationships" id="267" r:id="R7def88b8210f4663"/>
    <p:sldId xmlns:r="http://schemas.openxmlformats.org/officeDocument/2006/relationships" id="268" r:id="R2602a59a60c648f3"/>
    <p:sldId xmlns:r="http://schemas.openxmlformats.org/officeDocument/2006/relationships" id="269" r:id="R82b8318f4dda4963"/>
    <p:sldId xmlns:r="http://schemas.openxmlformats.org/officeDocument/2006/relationships" id="270" r:id="Rfe0a6785cc034054"/>
    <p:sldId xmlns:r="http://schemas.openxmlformats.org/officeDocument/2006/relationships" id="271" r:id="R52db62467e744634"/>
    <p:sldId xmlns:r="http://schemas.openxmlformats.org/officeDocument/2006/relationships" id="272" r:id="R4d5f39a38cdb4209"/>
    <p:sldId xmlns:r="http://schemas.openxmlformats.org/officeDocument/2006/relationships" id="273" r:id="R9c0e21cdeede4d02"/>
    <p:sldId xmlns:r="http://schemas.openxmlformats.org/officeDocument/2006/relationships" id="274" r:id="Ra7c3cba07c524051"/>
    <p:sldId xmlns:r="http://schemas.openxmlformats.org/officeDocument/2006/relationships" id="275" r:id="Ra560a5187f3d4a56"/>
    <p:sldId xmlns:r="http://schemas.openxmlformats.org/officeDocument/2006/relationships" id="276" r:id="R48275975060540f1"/>
    <p:sldId xmlns:r="http://schemas.openxmlformats.org/officeDocument/2006/relationships" id="277" r:id="R8bfc45b593834e94"/>
    <p:sldId xmlns:r="http://schemas.openxmlformats.org/officeDocument/2006/relationships" id="278" r:id="R5167cf5cbe7141bc"/>
    <p:sldId xmlns:r="http://schemas.openxmlformats.org/officeDocument/2006/relationships" id="279" r:id="R3b98e94bf9834612"/>
    <p:sldId xmlns:r="http://schemas.openxmlformats.org/officeDocument/2006/relationships" id="280" r:id="R9846c900c38d4c0c"/>
    <p:sldId xmlns:r="http://schemas.openxmlformats.org/officeDocument/2006/relationships" id="281" r:id="R37e627ebe96242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c96eadadf44609" /><Relationship Type="http://schemas.openxmlformats.org/officeDocument/2006/relationships/slideMaster" Target="/ppt/slideMasters/slideMaster1.xml" Id="Red979eb320634eed" /><Relationship Type="http://schemas.openxmlformats.org/officeDocument/2006/relationships/notesMaster" Target="/ppt/notesMasters/notesMaster1.xml" Id="Ra34c8dad952a4dc1" /><Relationship Type="http://schemas.openxmlformats.org/officeDocument/2006/relationships/presProps" Target="/ppt/presProps.xml" Id="R45c2de3d69c348a2" /><Relationship Type="http://schemas.openxmlformats.org/officeDocument/2006/relationships/viewProps" Target="/ppt/viewProps.xml" Id="R42d6f0180f6d4d51" /><Relationship Type="http://schemas.openxmlformats.org/officeDocument/2006/relationships/tableStyles" Target="/ppt/tableStyles.xml" Id="R0c2b90d594574861" /><Relationship Type="http://schemas.openxmlformats.org/officeDocument/2006/relationships/slide" Target="/ppt/slides/slide1.xml" Id="R958f1c7bb7e74594" /><Relationship Type="http://schemas.openxmlformats.org/officeDocument/2006/relationships/slide" Target="/ppt/slides/slide2.xml" Id="Rae301ecee1d04053" /><Relationship Type="http://schemas.openxmlformats.org/officeDocument/2006/relationships/slide" Target="/ppt/slides/slide3.xml" Id="R9cc95fd8fe6644cd" /><Relationship Type="http://schemas.openxmlformats.org/officeDocument/2006/relationships/slide" Target="/ppt/slides/slide4.xml" Id="Rc1384d517dea42c7" /><Relationship Type="http://schemas.openxmlformats.org/officeDocument/2006/relationships/slide" Target="/ppt/slides/slide5.xml" Id="Rd744e5ea34c54bf3" /><Relationship Type="http://schemas.openxmlformats.org/officeDocument/2006/relationships/slide" Target="/ppt/slides/slide6.xml" Id="R964babc23cec4cec" /><Relationship Type="http://schemas.openxmlformats.org/officeDocument/2006/relationships/slide" Target="/ppt/slides/slide7.xml" Id="R36c989107e89419a" /><Relationship Type="http://schemas.openxmlformats.org/officeDocument/2006/relationships/slide" Target="/ppt/slides/slide8.xml" Id="R65f0bf16c82d49e6" /><Relationship Type="http://schemas.openxmlformats.org/officeDocument/2006/relationships/slide" Target="/ppt/slides/slide9.xml" Id="R3c52e09fd87f4099" /><Relationship Type="http://schemas.openxmlformats.org/officeDocument/2006/relationships/slide" Target="/ppt/slides/slide10.xml" Id="R7f9da7195c4d4810" /><Relationship Type="http://schemas.openxmlformats.org/officeDocument/2006/relationships/slide" Target="/ppt/slides/slide11.xml" Id="Raaaf0add18224441" /><Relationship Type="http://schemas.openxmlformats.org/officeDocument/2006/relationships/slide" Target="/ppt/slides/slide12.xml" Id="R7def88b8210f4663" /><Relationship Type="http://schemas.openxmlformats.org/officeDocument/2006/relationships/slide" Target="/ppt/slides/slide13.xml" Id="R2602a59a60c648f3" /><Relationship Type="http://schemas.openxmlformats.org/officeDocument/2006/relationships/slide" Target="/ppt/slides/slide14.xml" Id="R82b8318f4dda4963" /><Relationship Type="http://schemas.openxmlformats.org/officeDocument/2006/relationships/slide" Target="/ppt/slides/slide15.xml" Id="Rfe0a6785cc034054" /><Relationship Type="http://schemas.openxmlformats.org/officeDocument/2006/relationships/slide" Target="/ppt/slides/slide16.xml" Id="R52db62467e744634" /><Relationship Type="http://schemas.openxmlformats.org/officeDocument/2006/relationships/slide" Target="/ppt/slides/slide17.xml" Id="R4d5f39a38cdb4209" /><Relationship Type="http://schemas.openxmlformats.org/officeDocument/2006/relationships/slide" Target="/ppt/slides/slide18.xml" Id="R9c0e21cdeede4d02" /><Relationship Type="http://schemas.openxmlformats.org/officeDocument/2006/relationships/slide" Target="/ppt/slides/slide19.xml" Id="Ra7c3cba07c524051" /><Relationship Type="http://schemas.openxmlformats.org/officeDocument/2006/relationships/slide" Target="/ppt/slides/slide20.xml" Id="Ra560a5187f3d4a56" /><Relationship Type="http://schemas.openxmlformats.org/officeDocument/2006/relationships/slide" Target="/ppt/slides/slide21.xml" Id="R48275975060540f1" /><Relationship Type="http://schemas.openxmlformats.org/officeDocument/2006/relationships/slide" Target="/ppt/slides/slide22.xml" Id="R8bfc45b593834e94" /><Relationship Type="http://schemas.openxmlformats.org/officeDocument/2006/relationships/slide" Target="/ppt/slides/slide23.xml" Id="R5167cf5cbe7141bc" /><Relationship Type="http://schemas.openxmlformats.org/officeDocument/2006/relationships/slide" Target="/ppt/slides/slide24.xml" Id="R3b98e94bf9834612" /><Relationship Type="http://schemas.openxmlformats.org/officeDocument/2006/relationships/slide" Target="/ppt/slides/slide25.xml" Id="R9846c900c38d4c0c" /><Relationship Type="http://schemas.openxmlformats.org/officeDocument/2006/relationships/slide" Target="/ppt/slides/slide26.xml" Id="R37e627ebe96242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29a26e321145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d44640d8d048bb" /><Relationship Type="http://schemas.openxmlformats.org/officeDocument/2006/relationships/notesMaster" Target="/ppt/notesMasters/notesMaster1.xml" Id="R57c89ce079eb42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49a1f5d6b64176" /><Relationship Type="http://schemas.openxmlformats.org/officeDocument/2006/relationships/notesMaster" Target="/ppt/notesMasters/notesMaster1.xml" Id="Rdb37641d7ec148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19e97e2e904442" /><Relationship Type="http://schemas.openxmlformats.org/officeDocument/2006/relationships/notesMaster" Target="/ppt/notesMasters/notesMaster1.xml" Id="Rc4d41c5028834d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6c644ab7b4420a" /><Relationship Type="http://schemas.openxmlformats.org/officeDocument/2006/relationships/notesMaster" Target="/ppt/notesMasters/notesMaster1.xml" Id="Rb47e123687444f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bd274fcfe54c5e" /><Relationship Type="http://schemas.openxmlformats.org/officeDocument/2006/relationships/notesMaster" Target="/ppt/notesMasters/notesMaster1.xml" Id="R5d916bca2e3f41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33e185c1594582" /><Relationship Type="http://schemas.openxmlformats.org/officeDocument/2006/relationships/notesMaster" Target="/ppt/notesMasters/notesMaster1.xml" Id="R2991ed3113e34b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842e3f4b1949bd" /><Relationship Type="http://schemas.openxmlformats.org/officeDocument/2006/relationships/notesMaster" Target="/ppt/notesMasters/notesMaster1.xml" Id="R643851723c2d4a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73eed3c47f4fb4" /><Relationship Type="http://schemas.openxmlformats.org/officeDocument/2006/relationships/notesMaster" Target="/ppt/notesMasters/notesMaster1.xml" Id="Rf78d08eb1f5a4b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be90127b8348fb" /><Relationship Type="http://schemas.openxmlformats.org/officeDocument/2006/relationships/notesMaster" Target="/ppt/notesMasters/notesMaster1.xml" Id="Ra77970960758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492f1f754543ff" /><Relationship Type="http://schemas.openxmlformats.org/officeDocument/2006/relationships/notesMaster" Target="/ppt/notesMasters/notesMaster1.xml" Id="R0c9bbdb53f1249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434d4669a64e8e" /><Relationship Type="http://schemas.openxmlformats.org/officeDocument/2006/relationships/notesMaster" Target="/ppt/notesMasters/notesMaster1.xml" Id="R2933f534387245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09eb963e8048a5" /><Relationship Type="http://schemas.openxmlformats.org/officeDocument/2006/relationships/notesMaster" Target="/ppt/notesMasters/notesMaster1.xml" Id="R17b7864a274747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f69c53f9094b8e" /><Relationship Type="http://schemas.openxmlformats.org/officeDocument/2006/relationships/notesMaster" Target="/ppt/notesMasters/notesMaster1.xml" Id="R7e8ff4e0f3104c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28e917d5984285" /><Relationship Type="http://schemas.openxmlformats.org/officeDocument/2006/relationships/notesMaster" Target="/ppt/notesMasters/notesMaster1.xml" Id="R8dee3e90c37c42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106687a42e4d52" /><Relationship Type="http://schemas.openxmlformats.org/officeDocument/2006/relationships/notesMaster" Target="/ppt/notesMasters/notesMaster1.xml" Id="Rdad639c883b145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12db97e2214da2" /><Relationship Type="http://schemas.openxmlformats.org/officeDocument/2006/relationships/notesMaster" Target="/ppt/notesMasters/notesMaster1.xml" Id="Rd8deb48c8cab42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ee146702234255" /><Relationship Type="http://schemas.openxmlformats.org/officeDocument/2006/relationships/notesMaster" Target="/ppt/notesMasters/notesMaster1.xml" Id="R8dfde3a3f08441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af535ff7ee5476b" /><Relationship Type="http://schemas.openxmlformats.org/officeDocument/2006/relationships/notesMaster" Target="/ppt/notesMasters/notesMaster1.xml" Id="R03051e0ed84b44b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035bef5d77a4d18" /><Relationship Type="http://schemas.openxmlformats.org/officeDocument/2006/relationships/notesMaster" Target="/ppt/notesMasters/notesMaster1.xml" Id="R77d834a7dae9499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0e4c9404c3a44a2" /><Relationship Type="http://schemas.openxmlformats.org/officeDocument/2006/relationships/notesMaster" Target="/ppt/notesMasters/notesMaster1.xml" Id="R8259b6c2edcf477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56964d06f85489c" /><Relationship Type="http://schemas.openxmlformats.org/officeDocument/2006/relationships/notesMaster" Target="/ppt/notesMasters/notesMaster1.xml" Id="Rbb5742a5ce8c49e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20b2996ed5c490a" /><Relationship Type="http://schemas.openxmlformats.org/officeDocument/2006/relationships/notesMaster" Target="/ppt/notesMasters/notesMaster1.xml" Id="R99210e6d539641f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1f69524738744ab" /><Relationship Type="http://schemas.openxmlformats.org/officeDocument/2006/relationships/notesMaster" Target="/ppt/notesMasters/notesMaster1.xml" Id="R9e449e83d03a4b3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eea22453d2948d7" /><Relationship Type="http://schemas.openxmlformats.org/officeDocument/2006/relationships/notesMaster" Target="/ppt/notesMasters/notesMaster1.xml" Id="Rd61f13c722044a0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0f82c0df8f14f63" /><Relationship Type="http://schemas.openxmlformats.org/officeDocument/2006/relationships/notesMaster" Target="/ppt/notesMasters/notesMaster1.xml" Id="R35cdb4d13e22415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5362233dbcb4121" /><Relationship Type="http://schemas.openxmlformats.org/officeDocument/2006/relationships/notesMaster" Target="/ppt/notesMasters/notesMaster1.xml" Id="Rcebc5d13e1b946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de5bf83b743e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hf sldNum="0"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9230a1e0042de" /><Relationship Type="http://schemas.openxmlformats.org/officeDocument/2006/relationships/slideLayout" Target="/ppt/slideLayouts/slideLayout1.xml" Id="R3d16fb62d9a3451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16fb62d9a3451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360df24fa44d2" /><Relationship Type="http://schemas.openxmlformats.org/officeDocument/2006/relationships/notesSlide" Target="/ppt/notesSlides/notesSlide1.xml" Id="R65e886665bfa4d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7aab3801f4302" /><Relationship Type="http://schemas.openxmlformats.org/officeDocument/2006/relationships/notesSlide" Target="/ppt/notesSlides/notesSlide2.xml" Id="Rd5eb2a86fec84f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51d11ec0942f1" /><Relationship Type="http://schemas.openxmlformats.org/officeDocument/2006/relationships/notesSlide" Target="/ppt/notesSlides/notesSlide3.xml" Id="R1ca81469de6241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5e68165bc4001" /><Relationship Type="http://schemas.openxmlformats.org/officeDocument/2006/relationships/image" Target="/ppt/media/image.png" Id="R76084673a80747c1" /><Relationship Type="http://schemas.openxmlformats.org/officeDocument/2006/relationships/notesSlide" Target="/ppt/notesSlides/notesSlide4.xml" Id="Rc9b3a4e1772847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abde74eae4744" /><Relationship Type="http://schemas.openxmlformats.org/officeDocument/2006/relationships/image" Target="/ppt/media/image2.png" Id="Rbabbe9209ede45f9" /><Relationship Type="http://schemas.openxmlformats.org/officeDocument/2006/relationships/notesSlide" Target="/ppt/notesSlides/notesSlide5.xml" Id="R626b301f0d8b43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f89137b1b4408" /><Relationship Type="http://schemas.openxmlformats.org/officeDocument/2006/relationships/notesSlide" Target="/ppt/notesSlides/notesSlide6.xml" Id="R8fcfd47cbbb047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b6e56b60243d1" /><Relationship Type="http://schemas.openxmlformats.org/officeDocument/2006/relationships/notesSlide" Target="/ppt/notesSlides/notesSlide7.xml" Id="R4a1cdeb428274d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411589f084cb9" /><Relationship Type="http://schemas.openxmlformats.org/officeDocument/2006/relationships/notesSlide" Target="/ppt/notesSlides/notesSlide8.xml" Id="R0552e1f0932e4b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3450a87c14f8b" /><Relationship Type="http://schemas.openxmlformats.org/officeDocument/2006/relationships/notesSlide" Target="/ppt/notesSlides/notesSlide9.xml" Id="R6b6812d574ea45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610a1e8564222" /><Relationship Type="http://schemas.openxmlformats.org/officeDocument/2006/relationships/notesSlide" Target="/ppt/notesSlides/notesSlide10.xml" Id="R58a2ef9ae2fc4b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d6fc1471f4186" /><Relationship Type="http://schemas.openxmlformats.org/officeDocument/2006/relationships/notesSlide" Target="/ppt/notesSlides/notesSlide11.xml" Id="R2f718b816ddc49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a9045c6004f4e" /><Relationship Type="http://schemas.openxmlformats.org/officeDocument/2006/relationships/image" Target="/ppt/media/image3.png" Id="R6e0aa8c82a1240da" /><Relationship Type="http://schemas.openxmlformats.org/officeDocument/2006/relationships/notesSlide" Target="/ppt/notesSlides/notesSlide12.xml" Id="R7bf79e9c57e641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096e502c04a49" /><Relationship Type="http://schemas.openxmlformats.org/officeDocument/2006/relationships/image" Target="/ppt/media/image4.png" Id="R329415d6aa324a21" /><Relationship Type="http://schemas.openxmlformats.org/officeDocument/2006/relationships/notesSlide" Target="/ppt/notesSlides/notesSlide13.xml" Id="R5a42b4845cd046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97883222f4b1b" /><Relationship Type="http://schemas.openxmlformats.org/officeDocument/2006/relationships/image" Target="/ppt/media/image5.png" Id="R4c84fc34c15d43cd" /><Relationship Type="http://schemas.openxmlformats.org/officeDocument/2006/relationships/image" Target="/ppt/media/image6.png" Id="R748e74d909f146af" /><Relationship Type="http://schemas.openxmlformats.org/officeDocument/2006/relationships/notesSlide" Target="/ppt/notesSlides/notesSlide14.xml" Id="R200ba66b966142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5578bb9384ea1" /><Relationship Type="http://schemas.openxmlformats.org/officeDocument/2006/relationships/notesSlide" Target="/ppt/notesSlides/notesSlide15.xml" Id="R9d3049c210874f7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d5b64218b4730" /><Relationship Type="http://schemas.openxmlformats.org/officeDocument/2006/relationships/notesSlide" Target="/ppt/notesSlides/notesSlide16.xml" Id="Ra02e8eaa36fc42c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71954ed104aa2" /><Relationship Type="http://schemas.openxmlformats.org/officeDocument/2006/relationships/notesSlide" Target="/ppt/notesSlides/notesSlide17.xml" Id="R5834ca076fbb440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7cbd0bb124e0d" /><Relationship Type="http://schemas.openxmlformats.org/officeDocument/2006/relationships/notesSlide" Target="/ppt/notesSlides/notesSlide18.xml" Id="Rb4d0ebbbd5c7402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624e0ffbb43f4" /><Relationship Type="http://schemas.openxmlformats.org/officeDocument/2006/relationships/notesSlide" Target="/ppt/notesSlides/notesSlide19.xml" Id="R436dc36ba56d4d2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aafff2d384322" /><Relationship Type="http://schemas.openxmlformats.org/officeDocument/2006/relationships/notesSlide" Target="/ppt/notesSlides/notesSlide20.xml" Id="R2035810655eb4bd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70171a2764c82" /><Relationship Type="http://schemas.openxmlformats.org/officeDocument/2006/relationships/notesSlide" Target="/ppt/notesSlides/notesSlide21.xml" Id="Rf92abe93906f47c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e6f5f8a3246c6" /><Relationship Type="http://schemas.openxmlformats.org/officeDocument/2006/relationships/notesSlide" Target="/ppt/notesSlides/notesSlide22.xml" Id="R83899ceb7576421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b1e60e0e24e22" /><Relationship Type="http://schemas.openxmlformats.org/officeDocument/2006/relationships/notesSlide" Target="/ppt/notesSlides/notesSlide23.xml" Id="R5adcbc8e3c82497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8218e53aa4ee9" /><Relationship Type="http://schemas.openxmlformats.org/officeDocument/2006/relationships/notesSlide" Target="/ppt/notesSlides/notesSlide24.xml" Id="R0030d519e6b841e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70608afb44bf4" /><Relationship Type="http://schemas.openxmlformats.org/officeDocument/2006/relationships/image" Target="/ppt/media/image.jpeg" Id="R00d90014795440bc" /><Relationship Type="http://schemas.openxmlformats.org/officeDocument/2006/relationships/image" Target="/ppt/media/image2.jpeg" Id="R1ea59ec8b45a4aef" /><Relationship Type="http://schemas.openxmlformats.org/officeDocument/2006/relationships/image" Target="/ppt/media/image3.jpeg" Id="R74d3f6ff426b4dea" /><Relationship Type="http://schemas.openxmlformats.org/officeDocument/2006/relationships/notesSlide" Target="/ppt/notesSlides/notesSlide25.xml" Id="R1699fc4c13784d6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ac1a570224e8f" /><Relationship Type="http://schemas.openxmlformats.org/officeDocument/2006/relationships/notesSlide" Target="/ppt/notesSlides/notesSlide26.xml" Id="R5d3642a0a01543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C9D3F32C-3F8E-4465-6AE1-B7B6FDFD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36" y="1857374"/>
            <a:ext cx="9041422" cy="1251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900" b="1" i="0" u="none" cap="none">
                <a:solidFill>
                  <a:srgbClr val="101827"/>
                </a:solidFill>
              </a:defRPr>
            </a:pP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Dual-Line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900" b="1" i="0" u="none" cap="none">
                <a:solidFill>
                  <a:srgbClr val="101827"/>
                </a:solidFill>
              </a:defRPr>
            </a:pP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선택적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 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재관측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 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기반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이미지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분류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시스템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7D2C7234-CC1D-4B83-AD61-AF60C314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8" y="3352803"/>
            <a:ext cx="781050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 i="0" u="none" cap="none">
                <a:solidFill>
                  <a:srgbClr val="5D6675"/>
                </a:solidFill>
              </a:defRPr>
            </a:pPr>
            <a:r>
              <a:rPr sz="15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TRAIN-OFF 위험 탐지와 다중 전무가 보정을 결합한 선택적 추론 구조</a:t>
            </a:r>
          </a:p>
        </p:txBody>
      </p:sp>
      <p:sp>
        <p:nvSpPr>
          <p:cNvPr id="4" name="직선 연결선 3">
            <a:extLst xmlns:a="http://schemas.openxmlformats.org/drawingml/2006/main">
              <a:ext uri="{FF2B5EF4-FFF2-40B4-BE49-F238E27FC236}">
                <a16:creationId xmlns:a16="http://schemas.microsoft.com/office/drawing/2014/main" id="{3FD10724-A12A-882B-354F-76BA1EDE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8" y="3943349"/>
            <a:ext cx="285750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46">
            <a:solidFill>
              <a:srgbClr val="101827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FCBA1F20-4A44-2198-81F1-2DB03A9E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07" y="4956633"/>
            <a:ext cx="495300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Computer Vision · PyTorch · ResNet18 / DINOv2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ACF384B1-F2DE-53BA-07AF-FCE23D79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8" y="5225146"/>
            <a:ext cx="495300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[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이준우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] 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AI / Computer Vision Engineer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2C6F4D6-E0EF-0B40-0F83-C9E8E4E3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3" y="5638803"/>
            <a:ext cx="1571625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 u="none" cap="none">
                <a:solidFill>
                  <a:srgbClr val="8A94A3"/>
                </a:solidFill>
              </a:defRPr>
            </a:pPr>
            <a:r>
              <a:rPr sz="900" b="1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PORTFOLIO 2026</a:t>
            </a:r>
          </a:p>
        </p:txBody>
      </p:sp>
      <p:sp>
        <p:nvSpPr>
          <p:cNvPr id="8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98A4EEB-C453-48AD-0929-91B25B4D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8" y="5493660"/>
            <a:ext cx="495300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GitHub Repository</a:t>
            </a:r>
            <a:r>
              <a:rPr sz="1050" b="0" i="0" u="none" cap="none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 https://github.com/winder34/dual-line-perception-judgment</a:t>
            </a:r>
          </a:p>
        </p:txBody>
      </p:sp>
    </p:spTree>
    <p:extLst>
      <p:ext uri="{BB962C8B-B14F-4D97-AF65-F5344CB8AC3E}">
        <p14:creationId xmlns:p14="http://schemas.microsoft.com/office/powerpoint/2010/main" val="12963514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8670E5F4-D375-EC7F-BC37-51539E8D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프로젝트 구성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A4D73CE3-FC8F-A05F-F6A7-0EF34911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CONTENTS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197F00CF-9C6F-B22F-4EE8-09B723FB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61C7766D-4495-33C6-A149-17119FD9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3435BEDA-04AF-BA70-D947-050E6FF0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02</a:t>
            </a:r>
          </a:p>
        </p:txBody>
      </p:sp>
      <p:sp>
        <p:nvSpPr>
          <p:cNvPr id="7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04F4DF84-A883-F572-82A5-85F9E975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3"/>
            <a:ext cx="552453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25" b="1" i="0" u="none" cap="none">
                <a:solidFill>
                  <a:srgbClr val="8A94A3"/>
                </a:solidFill>
              </a:defRPr>
            </a:pPr>
            <a:r>
              <a:rPr sz="1425" b="1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2BE26391-B6DC-67A2-AF74-CE3D90BD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3" y="1581153"/>
            <a:ext cx="2095503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프로젝트 개요</a:t>
            </a:r>
          </a:p>
        </p:txBody>
      </p:sp>
      <p:sp>
        <p:nvSpPr>
          <p:cNvPr id="9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FDD2B643-96F8-B0A2-B1D6-E53FA098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3" y="1619246"/>
            <a:ext cx="323850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문제 정의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학습 구조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추론 구조</a:t>
            </a:r>
          </a:p>
        </p:txBody>
      </p:sp>
      <p:sp>
        <p:nvSpPr>
          <p:cNvPr id="10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D8D1155F-C57E-1692-D5B7-6B461E23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09728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u="none" cap="none">
                <a:solidFill>
                  <a:srgbClr val="5D6675"/>
                </a:solidFill>
              </a:defRPr>
            </a:pPr>
            <a:r>
              <a:rPr sz="1050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03–05</a:t>
            </a:r>
          </a:p>
        </p:txBody>
      </p:sp>
      <p:sp>
        <p:nvSpPr>
          <p:cNvPr id="11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0A178785-B929-6177-FB86-68DCF5A0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49"/>
            <a:ext cx="6429375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2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C9467DBC-8574-E482-5A04-5643E49A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3"/>
            <a:ext cx="552453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25" b="1" i="0" u="none" cap="none">
                <a:solidFill>
                  <a:srgbClr val="8A94A3"/>
                </a:solidFill>
              </a:defRPr>
            </a:pPr>
            <a:r>
              <a:rPr sz="1425" b="1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508F757E-5B4E-10C5-C574-9314807C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3" y="2552703"/>
            <a:ext cx="2095503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핵심 모듈</a:t>
            </a:r>
          </a:p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570A8112-2959-1A20-D1C4-BE8CBC8C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3" y="2590796"/>
            <a:ext cx="323850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표현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증거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감지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재관측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후보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보정</a:t>
            </a:r>
          </a:p>
        </p:txBody>
      </p:sp>
      <p:sp>
        <p:nvSpPr>
          <p:cNvPr id="15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66F9C49F-C2AA-156C-976C-78AA74FB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81278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u="none" cap="none">
                <a:solidFill>
                  <a:srgbClr val="5D6675"/>
                </a:solidFill>
              </a:defRPr>
            </a:pPr>
            <a:r>
              <a:rPr sz="1050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06–11</a:t>
            </a:r>
          </a:p>
        </p:txBody>
      </p:sp>
      <p:sp>
        <p:nvSpPr>
          <p:cNvPr id="16" name="직선 연결선 14">
            <a:extLst xmlns:a="http://schemas.openxmlformats.org/drawingml/2006/main">
              <a:ext uri="{FF2B5EF4-FFF2-40B4-BE49-F238E27FC236}">
                <a16:creationId xmlns:a16="http://schemas.microsoft.com/office/drawing/2014/main" id="{2A68F921-B0DF-5EA9-7459-D87A75B3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099"/>
            <a:ext cx="6429375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408FA473-6221-6FF3-2482-48461925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3"/>
            <a:ext cx="552453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25" b="1" i="0" u="none" cap="none">
                <a:solidFill>
                  <a:srgbClr val="8A94A3"/>
                </a:solidFill>
              </a:defRPr>
            </a:pPr>
            <a:r>
              <a:rPr sz="1425" b="1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8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E2207AFD-A47F-A12D-00A1-B872892A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3" y="3524253"/>
            <a:ext cx="2095503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실행 및 검증</a:t>
            </a:r>
          </a:p>
        </p:txBody>
      </p:sp>
      <p:sp>
        <p:nvSpPr>
          <p:cNvPr id="19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046344C0-0F2D-C28D-6DA6-D0ABE54E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3" y="3562346"/>
            <a:ext cx="323850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단일 이미지 추론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판단 근거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성능 평가</a:t>
            </a:r>
          </a:p>
        </p:txBody>
      </p:sp>
      <p:sp>
        <p:nvSpPr>
          <p:cNvPr id="20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87E7B40D-7CA0-AD55-EE76-B4A0ACCE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52828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u="none" cap="none">
                <a:solidFill>
                  <a:srgbClr val="5D6675"/>
                </a:solidFill>
              </a:defRPr>
            </a:pPr>
            <a:r>
              <a:rPr sz="1050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12–16</a:t>
            </a:r>
          </a:p>
        </p:txBody>
      </p:sp>
      <p:sp>
        <p:nvSpPr>
          <p:cNvPr id="21" name="직선 연결선 19">
            <a:extLst xmlns:a="http://schemas.openxmlformats.org/drawingml/2006/main">
              <a:ext uri="{FF2B5EF4-FFF2-40B4-BE49-F238E27FC236}">
                <a16:creationId xmlns:a16="http://schemas.microsoft.com/office/drawing/2014/main" id="{9ABF75FE-1E5C-84F6-4B52-8843E563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6429375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2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D6615B7D-1AC3-50CF-5563-75266501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3"/>
            <a:ext cx="552453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25" b="1" i="0" u="none" cap="none">
                <a:solidFill>
                  <a:srgbClr val="8A94A3"/>
                </a:solidFill>
              </a:defRPr>
            </a:pPr>
            <a:r>
              <a:rPr sz="1425" b="1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3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AE76972E-AD84-EC82-AE7C-89DDE479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3" y="4495803"/>
            <a:ext cx="2095503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  <a:r>
              <a:rPr sz="1500" b="1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결과와</a:t>
            </a:r>
            <a:r>
              <a:rPr sz="1500" b="1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개선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</a:p>
        </p:txBody>
      </p:sp>
      <p:sp>
        <p:nvSpPr>
          <p:cNvPr id="24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5D4F3DA8-B7F8-B3AF-2E71-D9E0E0A5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3" y="4533896"/>
            <a:ext cx="323850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구현 결과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현재 한계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확장 계획</a:t>
            </a:r>
          </a:p>
        </p:txBody>
      </p:sp>
      <p:sp>
        <p:nvSpPr>
          <p:cNvPr id="25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EDD24888-8FAF-A50C-C9E8-C1AB4A79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24378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u="none" cap="none">
                <a:solidFill>
                  <a:srgbClr val="5D6675"/>
                </a:solidFill>
              </a:defRPr>
            </a:pPr>
            <a:r>
              <a:rPr sz="1050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26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83E21AC9-1E37-6960-48D6-5DD2D074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429375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7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EB026BCF-292F-1BBD-CD90-46D03B28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1504946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1" i="0" u="none" cap="none">
                <a:solidFill>
                  <a:srgbClr val="101827"/>
                </a:solidFill>
              </a:defRPr>
            </a:pPr>
            <a:r>
              <a:rPr sz="157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모듈 색상 흐름</a:t>
            </a:r>
          </a:p>
        </p:txBody>
      </p:sp>
      <p:sp>
        <p:nvSpPr>
          <p:cNvPr id="28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F53FFEE4-39A4-19B2-66B1-5B230BA1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1847846"/>
            <a:ext cx="3714749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각 색상은  모듈의 역할을 나타낸다</a:t>
            </a:r>
            <a:r>
              <a:rPr sz="9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9" name="직선 연결선 27">
            <a:extLst xmlns:a="http://schemas.openxmlformats.org/drawingml/2006/main">
              <a:ext uri="{FF2B5EF4-FFF2-40B4-BE49-F238E27FC236}">
                <a16:creationId xmlns:a16="http://schemas.microsoft.com/office/drawing/2014/main" id="{45E569EC-EB92-A71A-145C-84046A73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2419346"/>
            <a:ext cx="22860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1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0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DCDF2F75-0422-0455-A397-F75829DC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3" y="2305046"/>
            <a:ext cx="36194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 i="0" u="none" cap="none">
                <a:solidFill>
                  <a:srgbClr val="3F96D4"/>
                </a:solidFill>
              </a:defRPr>
            </a:pPr>
            <a:r>
              <a:rPr sz="97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1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0D304D32-2799-DEA1-4994-24A73CEE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6" y="2305046"/>
            <a:ext cx="180975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공간 표현</a:t>
            </a:r>
          </a:p>
        </p:txBody>
      </p:sp>
      <p:sp>
        <p:nvSpPr>
          <p:cNvPr id="32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3461C47A-596F-8951-A3F0-006238F2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3" y="2305046"/>
            <a:ext cx="7239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3" name="직선 연결선 31">
            <a:extLst xmlns:a="http://schemas.openxmlformats.org/drawingml/2006/main">
              <a:ext uri="{FF2B5EF4-FFF2-40B4-BE49-F238E27FC236}">
                <a16:creationId xmlns:a16="http://schemas.microsoft.com/office/drawing/2014/main" id="{357C6002-4EA6-7E52-862E-462FEF9E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2924178"/>
            <a:ext cx="22860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1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4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53199E82-BB62-7684-5E04-8EE14D04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3" y="2809878"/>
            <a:ext cx="36194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 i="0" u="none" cap="none">
                <a:solidFill>
                  <a:srgbClr val="4F9D55"/>
                </a:solidFill>
              </a:defRPr>
            </a:pPr>
            <a:r>
              <a:rPr sz="97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5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520A0EDD-511D-2F21-EC98-99C5B5B1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6" y="2809878"/>
            <a:ext cx="180975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독립 증거</a:t>
            </a:r>
          </a:p>
        </p:txBody>
      </p:sp>
      <p:sp>
        <p:nvSpPr>
          <p:cNvPr id="36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68C45E17-F3AC-1D2F-E1F3-CE03E3B9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3" y="2809878"/>
            <a:ext cx="7239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7" name="직선 연결선 35">
            <a:extLst xmlns:a="http://schemas.openxmlformats.org/drawingml/2006/main">
              <a:ext uri="{FF2B5EF4-FFF2-40B4-BE49-F238E27FC236}">
                <a16:creationId xmlns:a16="http://schemas.microsoft.com/office/drawing/2014/main" id="{9604ED70-2AB9-AE4E-F2FB-346267F5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3429000"/>
            <a:ext cx="22860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1">
            <a:solidFill>
              <a:srgbClr val="C7921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8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993F1457-BC2B-273B-771F-4896D420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3" y="3314700"/>
            <a:ext cx="36194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 i="0" u="none" cap="none">
                <a:solidFill>
                  <a:srgbClr val="C79213"/>
                </a:solidFill>
              </a:defRPr>
            </a:pPr>
            <a:r>
              <a:rPr sz="975" b="1" i="0" u="none" cap="none">
                <a:solidFill>
                  <a:srgbClr val="C7921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39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93E81DCD-A7F3-0F95-9947-760BBB22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6" y="3314700"/>
            <a:ext cx="180975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위험 감지</a:t>
            </a:r>
          </a:p>
        </p:txBody>
      </p:sp>
      <p:sp>
        <p:nvSpPr>
          <p:cNvPr id="40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DD42351B-52F6-253F-6007-4AAA9BE1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3" y="3314700"/>
            <a:ext cx="7239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41" name="직선 연결선 39">
            <a:extLst xmlns:a="http://schemas.openxmlformats.org/drawingml/2006/main">
              <a:ext uri="{FF2B5EF4-FFF2-40B4-BE49-F238E27FC236}">
                <a16:creationId xmlns:a16="http://schemas.microsoft.com/office/drawing/2014/main" id="{EC88C9FE-B09D-2948-4A0F-61D4D5D1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3933821"/>
            <a:ext cx="22860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1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2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54D7A63F-3A94-D043-4C84-2FDBD45B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3" y="3819521"/>
            <a:ext cx="36194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 i="0" u="none" cap="none">
                <a:solidFill>
                  <a:srgbClr val="3F96D4"/>
                </a:solidFill>
              </a:defRPr>
            </a:pPr>
            <a:r>
              <a:rPr sz="97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43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56E594CB-6FA5-E8D2-ADFB-BF4F5334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6" y="3819521"/>
            <a:ext cx="180975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재관측 계획</a:t>
            </a:r>
          </a:p>
        </p:txBody>
      </p:sp>
      <p:sp>
        <p:nvSpPr>
          <p:cNvPr id="44" name="직사각형 42">
            <a:extLst xmlns:a="http://schemas.openxmlformats.org/drawingml/2006/main">
              <a:ext uri="{FF2B5EF4-FFF2-40B4-BE49-F238E27FC236}">
                <a16:creationId xmlns:a16="http://schemas.microsoft.com/office/drawing/2014/main" id="{F9584CCA-81BA-A4A6-13FF-EA296B8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3" y="3819521"/>
            <a:ext cx="7239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45" name="직선 연결선 43">
            <a:extLst xmlns:a="http://schemas.openxmlformats.org/drawingml/2006/main">
              <a:ext uri="{FF2B5EF4-FFF2-40B4-BE49-F238E27FC236}">
                <a16:creationId xmlns:a16="http://schemas.microsoft.com/office/drawing/2014/main" id="{3516DB8A-EB25-6567-D2EC-EBA06B5E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4438653"/>
            <a:ext cx="22860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1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6" name="직사각형 44">
            <a:extLst xmlns:a="http://schemas.openxmlformats.org/drawingml/2006/main">
              <a:ext uri="{FF2B5EF4-FFF2-40B4-BE49-F238E27FC236}">
                <a16:creationId xmlns:a16="http://schemas.microsoft.com/office/drawing/2014/main" id="{B179FA6D-D186-AE3F-14C4-0338CF51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3" y="4324353"/>
            <a:ext cx="36194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 i="0" u="none" cap="none">
                <a:solidFill>
                  <a:srgbClr val="4F9D55"/>
                </a:solidFill>
              </a:defRPr>
            </a:pPr>
            <a:r>
              <a:rPr sz="97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47" name="직사각형 45">
            <a:extLst xmlns:a="http://schemas.openxmlformats.org/drawingml/2006/main">
              <a:ext uri="{FF2B5EF4-FFF2-40B4-BE49-F238E27FC236}">
                <a16:creationId xmlns:a16="http://schemas.microsoft.com/office/drawing/2014/main" id="{65B4B42F-15C8-E683-A967-E5740211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6" y="4324353"/>
            <a:ext cx="180975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후보 증거</a:t>
            </a:r>
          </a:p>
        </p:txBody>
      </p:sp>
      <p:sp>
        <p:nvSpPr>
          <p:cNvPr id="48" name="직사각형 46">
            <a:extLst xmlns:a="http://schemas.openxmlformats.org/drawingml/2006/main">
              <a:ext uri="{FF2B5EF4-FFF2-40B4-BE49-F238E27FC236}">
                <a16:creationId xmlns:a16="http://schemas.microsoft.com/office/drawing/2014/main" id="{A81283B2-6DD0-6CFC-8D21-0EF59B1C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3" y="4324353"/>
            <a:ext cx="7239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9" name="직선 연결선 47">
            <a:extLst xmlns:a="http://schemas.openxmlformats.org/drawingml/2006/main">
              <a:ext uri="{FF2B5EF4-FFF2-40B4-BE49-F238E27FC236}">
                <a16:creationId xmlns:a16="http://schemas.microsoft.com/office/drawing/2014/main" id="{DED930C2-3937-DE6D-1F20-E4BDD1AC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4943475"/>
            <a:ext cx="22860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1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0" name="직사각형 48">
            <a:extLst xmlns:a="http://schemas.openxmlformats.org/drawingml/2006/main">
              <a:ext uri="{FF2B5EF4-FFF2-40B4-BE49-F238E27FC236}">
                <a16:creationId xmlns:a16="http://schemas.microsoft.com/office/drawing/2014/main" id="{3BF13483-7BDE-DBD7-7C70-50023CE7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3" y="4829175"/>
            <a:ext cx="36194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 i="0" u="none" cap="none">
                <a:solidFill>
                  <a:srgbClr val="9256B2"/>
                </a:solidFill>
              </a:defRPr>
            </a:pPr>
            <a:r>
              <a:rPr sz="97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51" name="직사각형 49">
            <a:extLst xmlns:a="http://schemas.openxmlformats.org/drawingml/2006/main">
              <a:ext uri="{FF2B5EF4-FFF2-40B4-BE49-F238E27FC236}">
                <a16:creationId xmlns:a16="http://schemas.microsoft.com/office/drawing/2014/main" id="{AC852284-9ABF-90FE-5D46-F0A4B94B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6" y="4829175"/>
            <a:ext cx="180975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전환 승인</a:t>
            </a:r>
          </a:p>
        </p:txBody>
      </p:sp>
      <p:sp>
        <p:nvSpPr>
          <p:cNvPr id="52" name="직사각형 50">
            <a:extLst xmlns:a="http://schemas.openxmlformats.org/drawingml/2006/main">
              <a:ext uri="{FF2B5EF4-FFF2-40B4-BE49-F238E27FC236}">
                <a16:creationId xmlns:a16="http://schemas.microsoft.com/office/drawing/2014/main" id="{E8A45198-3F1A-A9A8-1C7E-0026B802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3" y="4829175"/>
            <a:ext cx="7239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11–15</a:t>
            </a:r>
          </a:p>
        </p:txBody>
      </p:sp>
      <p:sp>
        <p:nvSpPr>
          <p:cNvPr id="53" name="직선 연결선 51">
            <a:extLst xmlns:a="http://schemas.openxmlformats.org/drawingml/2006/main">
              <a:ext uri="{FF2B5EF4-FFF2-40B4-BE49-F238E27FC236}">
                <a16:creationId xmlns:a16="http://schemas.microsoft.com/office/drawing/2014/main" id="{54A6CDB6-798F-990C-FB49-90BB912F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5448296"/>
            <a:ext cx="22860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1">
            <a:solidFill>
              <a:srgbClr val="8A94A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4" name="직사각형 52">
            <a:extLst xmlns:a="http://schemas.openxmlformats.org/drawingml/2006/main">
              <a:ext uri="{FF2B5EF4-FFF2-40B4-BE49-F238E27FC236}">
                <a16:creationId xmlns:a16="http://schemas.microsoft.com/office/drawing/2014/main" id="{8AF814E2-03B2-C77D-EC91-B36FF151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3" y="5333996"/>
            <a:ext cx="36194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 i="0" u="none" cap="none">
                <a:solidFill>
                  <a:srgbClr val="8A94A3"/>
                </a:solidFill>
              </a:defRPr>
            </a:pPr>
            <a:r>
              <a:rPr sz="975" b="1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55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D69EAA29-5C7A-72FA-A65F-7CB68388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6" y="5333996"/>
            <a:ext cx="180975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실행 감사</a:t>
            </a:r>
          </a:p>
        </p:txBody>
      </p:sp>
      <p:sp>
        <p:nvSpPr>
          <p:cNvPr id="56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D9539F09-509E-B15F-39A7-1BF1432C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3" y="5333996"/>
            <a:ext cx="7239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537589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688E3B3-BB23-4DBB-CB44-3391045A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프로젝트 문제 정의 및 대응 구조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8C47B19-D358-7CC1-888B-6957CBEF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01 · PROJECT OVERVIEW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7E7F6E78-698B-9461-C395-7475062C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F721D30-0D37-B973-ADC0-2B4D4413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6CAFB436-F63F-F59F-5975-10700656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03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FD22BFCC-1E7B-CFDA-6BE9-24F2D901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13EA52F2-2638-ED3F-26A1-C2CBED98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8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9" name="직선 연결선 7">
            <a:extLst xmlns:a="http://schemas.openxmlformats.org/drawingml/2006/main">
              <a:ext uri="{FF2B5EF4-FFF2-40B4-BE49-F238E27FC236}">
                <a16:creationId xmlns:a16="http://schemas.microsoft.com/office/drawing/2014/main" id="{58B5376F-77F8-0FD3-E18F-CFB8DAAD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46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C7921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3DE70E46-BB06-728B-1B4D-F4C85C6B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1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9F37294B-74C5-0096-4420-3221D78A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3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2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228C26E0-1EE5-2E66-EA53-5EDE3D79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1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3" name="직선 연결선 11">
            <a:extLst xmlns:a="http://schemas.openxmlformats.org/drawingml/2006/main">
              <a:ext uri="{FF2B5EF4-FFF2-40B4-BE49-F238E27FC236}">
                <a16:creationId xmlns:a16="http://schemas.microsoft.com/office/drawing/2014/main" id="{749EEEB9-92CB-4659-FF39-0B090B4D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49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8A94A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B23A12B0-6038-1D74-A7DC-286913CF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000500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5D6675"/>
                </a:solidFill>
              </a:defRPr>
            </a:pPr>
            <a:r>
              <a:rPr sz="825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관측 → 증거 → 감지 → 재관측 → 후보 → 보정 → 감사</a:t>
            </a:r>
          </a:p>
        </p:txBody>
      </p:sp>
      <p:sp>
        <p:nvSpPr>
          <p:cNvPr id="15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4896CAB-767D-8F5D-91BF-FB7808CA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219446" cy="1695453"/>
          </a:xfrm>
          <a:custGeom xmlns:a="http://schemas.openxmlformats.org/drawingml/2006/main">
            <a:avLst>
              <a:gd name="f0" fmla="val 72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6" name="타원 14">
            <a:extLst xmlns:a="http://schemas.openxmlformats.org/drawingml/2006/main">
              <a:ext uri="{FF2B5EF4-FFF2-40B4-BE49-F238E27FC236}">
                <a16:creationId xmlns:a16="http://schemas.microsoft.com/office/drawing/2014/main" id="{0BA2FA14-A8A7-1D1B-456F-7E136309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49"/>
            <a:ext cx="285750" cy="285750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E9EDF3"/>
          </a:solidFill>
          <a:ln xmlns:a="http://schemas.openxmlformats.org/drawingml/2006/main" w="11430">
            <a:solidFill>
              <a:srgbClr val="E9EDF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2BB32402-ACE5-1745-465F-3A04E4E7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19271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101827"/>
                </a:solidFill>
              </a:defRPr>
            </a:pPr>
            <a:r>
              <a:rPr sz="8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8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15CC37B4-A1A9-298C-7916-80570AD9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81178"/>
            <a:ext cx="24764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문제</a:t>
            </a:r>
          </a:p>
        </p:txBody>
      </p:sp>
      <p:sp>
        <p:nvSpPr>
          <p:cNvPr id="19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9DCA5DE8-6CBD-7573-66A2-60E5ABA8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96" y="2143125"/>
            <a:ext cx="2838453" cy="1047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높은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confidence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도 배경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국소 질감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불완전한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crop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에 끌린 오답일 수 있다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0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8EC4E1F0-1071-43FC-5B48-10C45B4A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600200"/>
            <a:ext cx="3219446" cy="1695453"/>
          </a:xfrm>
          <a:custGeom xmlns:a="http://schemas.openxmlformats.org/drawingml/2006/main">
            <a:avLst>
              <a:gd name="f0" fmla="val 72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1" name="타원 19">
            <a:extLst xmlns:a="http://schemas.openxmlformats.org/drawingml/2006/main">
              <a:ext uri="{FF2B5EF4-FFF2-40B4-BE49-F238E27FC236}">
                <a16:creationId xmlns:a16="http://schemas.microsoft.com/office/drawing/2014/main" id="{680938A7-7341-351D-E537-7A9E993F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71649"/>
            <a:ext cx="285750" cy="285750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E9EDF3"/>
          </a:solidFill>
          <a:ln xmlns:a="http://schemas.openxmlformats.org/drawingml/2006/main" w="11430">
            <a:solidFill>
              <a:srgbClr val="E9EDF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2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21FF0029-B924-793C-D70F-D596CECE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19271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101827"/>
                </a:solidFill>
              </a:defRPr>
            </a:pPr>
            <a:r>
              <a:rPr sz="8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3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D236E924-F206-D2B4-903F-137F5163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781178"/>
            <a:ext cx="24764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대응</a:t>
            </a:r>
          </a:p>
        </p:txBody>
      </p:sp>
      <p:sp>
        <p:nvSpPr>
          <p:cNvPr id="24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F3D78741-4B91-88D0-0298-EAFC80EE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1" y="2143125"/>
            <a:ext cx="2838453" cy="1047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위험 입력만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REVIEW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하고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다시 얻은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Parent/Fine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증거를 기존 판단과 비교한다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5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D9CE7457-CC92-01B0-FD35-33E69089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0200"/>
            <a:ext cx="3219446" cy="1695453"/>
          </a:xfrm>
          <a:custGeom xmlns:a="http://schemas.openxmlformats.org/drawingml/2006/main">
            <a:avLst>
              <a:gd name="f0" fmla="val 72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6" name="타원 24">
            <a:extLst xmlns:a="http://schemas.openxmlformats.org/drawingml/2006/main">
              <a:ext uri="{FF2B5EF4-FFF2-40B4-BE49-F238E27FC236}">
                <a16:creationId xmlns:a16="http://schemas.microsoft.com/office/drawing/2014/main" id="{F41D1B50-FDF1-0FBA-A683-5779DBE1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71649"/>
            <a:ext cx="285750" cy="285750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E9EDF3"/>
          </a:solidFill>
          <a:ln xmlns:a="http://schemas.openxmlformats.org/drawingml/2006/main" w="11430">
            <a:solidFill>
              <a:srgbClr val="E9EDF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7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F7E07329-FBE6-E705-51C0-92E8EE50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19271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101827"/>
                </a:solidFill>
              </a:defRPr>
            </a:pPr>
            <a:r>
              <a:rPr sz="8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8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5C6CEE9A-044E-1168-22A0-70106C05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81178"/>
            <a:ext cx="24764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검증 결과</a:t>
            </a:r>
          </a:p>
        </p:txBody>
      </p:sp>
      <p:sp>
        <p:nvSpPr>
          <p:cNvPr id="29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3252EC02-4B57-FBA7-24A4-9EE52FBF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6" y="2143125"/>
            <a:ext cx="2838453" cy="1047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ResNet18 10-class TEST 1,000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장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Parent+Fine 92.2% → 96.0%, fixed 40 / broken 2.</a:t>
            </a:r>
          </a:p>
        </p:txBody>
      </p:sp>
      <p:cxnSp>
        <p:nvCxnSpPr>
          <p:cNvPr id="64" name="직선 화살표 연결선 62"/>
          <p:cNvCxnSpPr>
            <a:stCxn xmlns:a="http://schemas.openxmlformats.org/drawingml/2006/main" id="15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>
            <a:off x="3905246" y="2447927"/>
            <a:ext cx="581029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cxnSp>
        <p:nvCxnSpPr>
          <p:cNvPr id="65" name="직선 화살표 연결선 63"/>
          <p:cNvCxnSpPr>
            <a:stCxn xmlns:a="http://schemas.openxmlformats.org/drawingml/2006/main" id="20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>
            <a:off x="7705721" y="2447927"/>
            <a:ext cx="581029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sp>
        <p:nvSpPr>
          <p:cNvPr id="32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7329552E-1F9C-BF92-5443-E53A5DF7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04799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1" i="0" u="none" cap="none">
                <a:solidFill>
                  <a:srgbClr val="101827"/>
                </a:solidFill>
              </a:defRPr>
            </a:pPr>
            <a:r>
              <a:rPr sz="17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런타임 판단 흐름</a:t>
            </a:r>
          </a:p>
        </p:txBody>
      </p:sp>
      <p:sp>
        <p:nvSpPr>
          <p:cNvPr id="33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D2DA077A-0456-36A8-DD5E-A562376D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3"/>
            <a:ext cx="10001250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cap="none">
                <a:solidFill>
                  <a:srgbClr val="5D6675"/>
                </a:solidFill>
              </a:defRPr>
            </a:pPr>
            <a:r>
              <a:rPr sz="13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기본 예측  →  오답 위험 감지  →  선택적 재관측  →  공동 보정</a:t>
            </a:r>
          </a:p>
        </p:txBody>
      </p:sp>
      <p:sp>
        <p:nvSpPr>
          <p:cNvPr id="34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A585799B-5481-F267-215C-797510DC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3"/>
            <a:ext cx="180975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설계 초점</a:t>
            </a:r>
          </a:p>
        </p:txBody>
      </p:sp>
      <p:sp>
        <p:nvSpPr>
          <p:cNvPr id="35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7021599A-6AAD-01B9-4586-7BA1F278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67303"/>
            <a:ext cx="8286750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모듈 계약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TRAIN/TEST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경계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전환 감사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label-free runtime</a:t>
            </a:r>
          </a:p>
        </p:txBody>
      </p:sp>
    </p:spTree>
    <p:extLst>
      <p:ext uri="{BB962C8B-B14F-4D97-AF65-F5344CB8AC3E}">
        <p14:creationId xmlns:p14="http://schemas.microsoft.com/office/powerpoint/2010/main" val="1904835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B0BD945-B8F6-16A1-8CEE-8875A872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TRAIN/OOF 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기반 학습 아티팩트 생성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4E3FC1F-0B83-7154-1100-9A58C6E4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01 · TRAIN / OOF ARTIFACT BUILD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028965BC-A72F-952F-72E6-840ECCC1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86A0BF77-8077-9283-9757-05B23692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7D802CEF-C4ED-2E42-F724-8566F899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04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9D8AC06E-DBFA-21A9-00E5-A1F7631F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88A910FE-A9C9-7134-C216-D6D6E8CB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8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9" name="직선 연결선 7">
            <a:extLst xmlns:a="http://schemas.openxmlformats.org/drawingml/2006/main">
              <a:ext uri="{FF2B5EF4-FFF2-40B4-BE49-F238E27FC236}">
                <a16:creationId xmlns:a16="http://schemas.microsoft.com/office/drawing/2014/main" id="{6C32B844-8E99-D220-BB96-90E1562A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46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C7921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16055CFB-6E60-1F8B-B767-7FD647A2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1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12A085FD-8BF3-9B85-D3D6-E850D0E1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3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2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4A50BCCE-C6EB-B5EB-F64F-A8D62376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1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3" name="직선 연결선 11">
            <a:extLst xmlns:a="http://schemas.openxmlformats.org/drawingml/2006/main">
              <a:ext uri="{FF2B5EF4-FFF2-40B4-BE49-F238E27FC236}">
                <a16:creationId xmlns:a16="http://schemas.microsoft.com/office/drawing/2014/main" id="{02E80E90-C990-50EC-8F00-3E5F32FE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49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8A94A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3C3A4BC4-A285-68D8-F139-8AB98689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000500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5D6675"/>
                </a:solidFill>
              </a:defRPr>
            </a:pPr>
            <a:r>
              <a:rPr sz="825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학습 라벨은 아티팩트 생성 단계에서만 사용</a:t>
            </a:r>
          </a:p>
        </p:txBody>
      </p:sp>
      <p:pic>
        <p:nvPicPr>
          <p:cNvPr id="39" name="그림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84673a80747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17222"/>
            <a:ext cx="10820396" cy="173767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58BAD2C1-BA13-1C16-7FBE-0C4FD1D0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3"/>
            <a:ext cx="3257550" cy="1238253"/>
          </a:xfrm>
          <a:custGeom xmlns:a="http://schemas.openxmlformats.org/drawingml/2006/main">
            <a:avLst>
              <a:gd name="f0" fmla="val 99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1289E635-212A-8077-1996-C24CC86A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96" y="4448171"/>
            <a:ext cx="28765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1 · OOF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증거</a:t>
            </a:r>
          </a:p>
        </p:txBody>
      </p:sp>
      <p:sp>
        <p:nvSpPr>
          <p:cNvPr id="18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CE070BDB-CCB9-CE55-73D4-4D74F72A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96" y="4810128"/>
            <a:ext cx="2876546" cy="590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각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fold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의 미관측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TRAIN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예측으로 위험 감지와 보정 학습용 증거를 만든다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9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435BB577-F515-074A-2F17-91447D14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8" y="4267203"/>
            <a:ext cx="3257550" cy="1238253"/>
          </a:xfrm>
          <a:custGeom xmlns:a="http://schemas.openxmlformats.org/drawingml/2006/main">
            <a:avLst>
              <a:gd name="f0" fmla="val 99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0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5739E813-4B31-F6C5-5360-6D21A134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48171"/>
            <a:ext cx="28765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2 ·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저장 아티팩트</a:t>
            </a:r>
          </a:p>
        </p:txBody>
      </p:sp>
      <p:sp>
        <p:nvSpPr>
          <p:cNvPr id="21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3E8F5B10-26C3-408C-C967-70788C88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10128"/>
            <a:ext cx="2876546" cy="590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Evidence profile, v233 risk, v234 correction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을 독립 아티팩트로 저장한다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2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CFBBC318-0C82-BAFC-AE7D-B35191B9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46" y="4267203"/>
            <a:ext cx="3257550" cy="1238253"/>
          </a:xfrm>
          <a:custGeom xmlns:a="http://schemas.openxmlformats.org/drawingml/2006/main">
            <a:avLst>
              <a:gd name="f0" fmla="val 99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3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3FB1E7E9-EB66-48BC-CFBD-9294283F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3" y="4448171"/>
            <a:ext cx="28765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3 · TEST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경계</a:t>
            </a:r>
          </a:p>
        </p:txBody>
      </p:sp>
      <p:sp>
        <p:nvSpPr>
          <p:cNvPr id="24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1CE52824-0346-22A5-8591-369C57B1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3" y="4810128"/>
            <a:ext cx="2876546" cy="590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TEST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결과는 모델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·threshold·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후보 정책을 다시 선택하는 데 사용하지 않는다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44094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2F08675-76FD-2D6C-6E83-6EF8AF0C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라벨 비의존 추론과 선택적 재관측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D8A3C8AE-C1FC-61EA-B318-DC543F44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01 · LABEL-FREE RUNTIME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C066A679-4E77-0F70-70A2-375253B0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9F7F0BC-F870-7BF9-3111-B9C16FCA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F564800F-2B42-5D48-E474-E9459014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05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97D349BD-476B-0289-6B32-BA2B5154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62142DEE-CE30-E209-E5DD-F18CACBB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8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9" name="직선 연결선 7">
            <a:extLst xmlns:a="http://schemas.openxmlformats.org/drawingml/2006/main">
              <a:ext uri="{FF2B5EF4-FFF2-40B4-BE49-F238E27FC236}">
                <a16:creationId xmlns:a16="http://schemas.microsoft.com/office/drawing/2014/main" id="{1C914500-BA30-9A81-BE11-6D1F5BFD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46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C7921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1303CD08-5E6E-5752-2661-C6C05A97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1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DF29230B-1877-E07C-C3AC-571A82D6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3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2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5FC3FDA6-7C3E-C647-3DEF-5FF8660C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1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3" name="직선 연결선 11">
            <a:extLst xmlns:a="http://schemas.openxmlformats.org/drawingml/2006/main">
              <a:ext uri="{FF2B5EF4-FFF2-40B4-BE49-F238E27FC236}">
                <a16:creationId xmlns:a16="http://schemas.microsoft.com/office/drawing/2014/main" id="{51568E7A-D5A2-8A89-0F93-410FF203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49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8A94A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C060F72F-AF70-1AFC-F9B2-DEC77437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000500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5D6675"/>
                </a:solidFill>
              </a:defRPr>
            </a:pPr>
            <a:r>
              <a:rPr sz="825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기본 추론 → 위험 감지 → 재관측 → 보정 → 감사</a:t>
            </a:r>
          </a:p>
        </p:txBody>
      </p:sp>
      <p:pic>
        <p:nvPicPr>
          <p:cNvPr id="32" name="그림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be9209ede45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257" y="1676396"/>
            <a:ext cx="10819482" cy="383857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D6045B51-8AC6-BF99-1641-2246FC21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396" cy="457200"/>
          </a:xfrm>
          <a:custGeom xmlns:a="http://schemas.openxmlformats.org/drawingml/2006/main">
            <a:avLst>
              <a:gd name="f0" fmla="val 9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3824C809-F684-4B7C-9262-A29888A0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61" y="5826730"/>
            <a:ext cx="10382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런타임은 라벨 없이 </a:t>
            </a: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KEEP / REVIEW / SWITCH</a:t>
            </a: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를 결정하고</a:t>
            </a: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정답 라벨은 모든 판단이 끝난 뒤 별도 감사 단계에서만 결합한다</a:t>
            </a: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214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4A5E2BE-603F-D52E-ED40-C5BFAE86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Backbone 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교체를 위한 공간 표현 통합 규격 설계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D89E8434-1B69-3185-DE1A-D3D19BF0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02 · MODULE 01 · BACKBONE ADAPTER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2C1E7E6C-8AE6-C096-37AA-F5B14CC6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A3FDD7A3-948D-4E68-6122-E544E121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6702C19-1958-72DD-3A89-A25BC04C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06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AC4B2A33-A455-3623-80D6-25A160F2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C57B47A-157E-F329-7D8D-9B080EA6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3F96D4"/>
                </a:solidFill>
              </a:defRPr>
            </a:pP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01 · </a:t>
            </a: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공간 표현 </a:t>
            </a: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단일 </a:t>
            </a: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BACKBONE </a:t>
            </a: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선택</a:t>
            </a:r>
          </a:p>
        </p:txBody>
      </p:sp>
      <p:sp>
        <p:nvSpPr>
          <p:cNvPr id="9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85D63F30-A03D-02A5-E4A9-F19D9053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76496" cy="1143000"/>
          </a:xfrm>
          <a:custGeom xmlns:a="http://schemas.openxmlformats.org/drawingml/2006/main">
            <a:avLst>
              <a:gd name="f0" fmla="val 10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4EB53C2A-11C7-26B8-755E-538BD9CE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64" y="2089349"/>
            <a:ext cx="209550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선택지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A · ResNet</a:t>
            </a:r>
          </a:p>
        </p:txBody>
      </p:sp>
      <p:sp>
        <p:nvSpPr>
          <p:cNvPr id="11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D9B9D759-E6C8-0758-875D-A310038F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64" y="2499942"/>
            <a:ext cx="2095503" cy="495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ResNet18 / 50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Final convolution map F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Adaptive average pooling</a:t>
            </a:r>
          </a:p>
        </p:txBody>
      </p:sp>
      <p:sp>
        <p:nvSpPr>
          <p:cNvPr id="12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0295B701-3B12-BC45-A242-3ED9727F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49"/>
            <a:ext cx="2476496" cy="1143000"/>
          </a:xfrm>
          <a:custGeom xmlns:a="http://schemas.openxmlformats.org/drawingml/2006/main">
            <a:avLst>
              <a:gd name="f0" fmla="val 10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3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0F1B25E-4699-9E93-0492-FD5BD897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64" y="3798445"/>
            <a:ext cx="209550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선택지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 · DINOv2</a:t>
            </a:r>
          </a:p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D97AEE27-8B55-A029-01E1-1E9B7C54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64" y="4257675"/>
            <a:ext cx="2095503" cy="495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ViT-S / B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CLS + native patch tokens P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Patch grid from 14×14 patches</a:t>
            </a:r>
          </a:p>
        </p:txBody>
      </p:sp>
      <p:sp>
        <p:nvSpPr>
          <p:cNvPr id="15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D7E5C963-2D69-A23A-3CA5-8FF9F5A6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46" y="2619371"/>
            <a:ext cx="3810003" cy="1714500"/>
          </a:xfrm>
          <a:custGeom xmlns:a="http://schemas.openxmlformats.org/drawingml/2006/main">
            <a:avLst>
              <a:gd name="f0" fmla="val 7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6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842BBE3E-5D5D-A802-1A43-FDFD2EFE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3" y="2800350"/>
            <a:ext cx="3429000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Backbone Spatial Adapter</a:t>
            </a:r>
          </a:p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9C0FE720-0AF7-D743-33FC-199A381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3" y="3162296"/>
            <a:ext cx="3429000" cy="1066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ResNet: z_cls = GAP(F)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DINO: z_cls = CLS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Z_tile = Flatten(AAP₄×₄(F or P))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Backbone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별 출력을 같은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4×4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공간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contract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로 정규화</a:t>
            </a:r>
          </a:p>
        </p:txBody>
      </p:sp>
      <p:sp>
        <p:nvSpPr>
          <p:cNvPr id="18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9F903F22-E835-649E-C026-7F3F25C1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8" y="2799069"/>
            <a:ext cx="2667003" cy="1352553"/>
          </a:xfrm>
          <a:custGeom xmlns:a="http://schemas.openxmlformats.org/drawingml/2006/main">
            <a:avLst>
              <a:gd name="f0" fmla="val 913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9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AF0F9B45-93D4-C454-BDA9-87D43A17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36805"/>
            <a:ext cx="2286000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공통 출력 계약</a:t>
            </a:r>
          </a:p>
        </p:txBody>
      </p:sp>
      <p:sp>
        <p:nvSpPr>
          <p:cNvPr id="20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F970C328-7D2F-FF06-618F-C8906874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1186"/>
            <a:ext cx="2286000" cy="704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cls_token: [B, D]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tile_tokens: [B, 16, D]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observer grid: 4×4</a:t>
            </a:r>
          </a:p>
        </p:txBody>
      </p:sp>
      <p:sp>
        <p:nvSpPr>
          <p:cNvPr id="21" name="타원 22">
            <a:extLst xmlns:a="http://schemas.openxmlformats.org/drawingml/2006/main">
              <a:ext uri="{FF2B5EF4-FFF2-40B4-BE49-F238E27FC236}">
                <a16:creationId xmlns:a16="http://schemas.microsoft.com/office/drawing/2014/main" id="{2D54877E-5496-226D-BE77-07151F81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5184163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3F96D4"/>
          </a:solidFill>
          <a:ln xmlns:a="http://schemas.openxmlformats.org/drawingml/2006/main" w="11430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2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6F3B061-94E9-3300-B29E-5F24CF65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5095878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교체 가능한 </a:t>
            </a: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Backbone</a:t>
            </a:r>
          </a:p>
        </p:txBody>
      </p:sp>
      <p:sp>
        <p:nvSpPr>
          <p:cNvPr id="23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E45DD2C4-3472-4F06-540A-02A50AA2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46" y="5095878"/>
            <a:ext cx="781050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동시 사용이 아니라 설정으로 하나를 선택하며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candidate/gate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코드는 변경하지 않음</a:t>
            </a:r>
          </a:p>
        </p:txBody>
      </p:sp>
      <p:sp>
        <p:nvSpPr>
          <p:cNvPr id="24" name="타원 25">
            <a:extLst xmlns:a="http://schemas.openxmlformats.org/drawingml/2006/main">
              <a:ext uri="{FF2B5EF4-FFF2-40B4-BE49-F238E27FC236}">
                <a16:creationId xmlns:a16="http://schemas.microsoft.com/office/drawing/2014/main" id="{1D9496B9-DAFE-03E6-FDB0-5A9CE572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5708041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3F96D4"/>
          </a:solidFill>
          <a:ln xmlns:a="http://schemas.openxmlformats.org/drawingml/2006/main" w="11430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5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E50BA7E7-991D-2A9D-BDD2-D335008C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5619746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Stable manifest</a:t>
            </a:r>
          </a:p>
        </p:txBody>
      </p:sp>
      <p:sp>
        <p:nvSpPr>
          <p:cNvPr id="26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68A3DC4C-20AC-1EDA-DFA7-988EC999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46" y="5619746"/>
            <a:ext cx="781050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backbone_id · preprocessing_id · feature schema · sample order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를 함께 저장</a:t>
            </a:r>
          </a:p>
        </p:txBody>
      </p:sp>
      <p:cxnSp>
        <p:nvCxnSpPr>
          <p:cNvPr id="55" name="연결선: 꺾임 20"/>
          <p:cNvCxnSpPr/>
          <p:nvPr/>
        </p:nvCxnSpPr>
        <p:spPr>
          <a:xfrm xmlns:a="http://schemas.openxmlformats.org/drawingml/2006/main" flipV="1">
            <a:off x="3158145" y="3482785"/>
            <a:ext cx="749259" cy="843835"/>
          </a:xfrm>
          <a:prstGeom xmlns:a="http://schemas.openxmlformats.org/drawingml/2006/main" prst="bentConnector3">
            <a:avLst/>
          </a:prstGeom>
          <a:ln xmlns:a="http://schemas.openxmlformats.org/drawingml/2006/main" w="12701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56" name="연결선: 꺾임 21"/>
          <p:cNvCxnSpPr/>
          <p:nvPr/>
        </p:nvCxnSpPr>
        <p:spPr>
          <a:xfrm xmlns:a="http://schemas.openxmlformats.org/drawingml/2006/main">
            <a:off x="3158456" y="2594518"/>
            <a:ext cx="748628" cy="885724"/>
          </a:xfrm>
          <a:prstGeom xmlns:a="http://schemas.openxmlformats.org/drawingml/2006/main" prst="bentConnector3">
            <a:avLst/>
          </a:prstGeom>
          <a:ln xmlns:a="http://schemas.openxmlformats.org/drawingml/2006/main" w="12701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57" name="직선 화살표 연결선 29"/>
          <p:cNvCxnSpPr/>
          <p:nvPr/>
        </p:nvCxnSpPr>
        <p:spPr>
          <a:xfrm xmlns:a="http://schemas.openxmlformats.org/drawingml/2006/main" flipV="1">
            <a:off x="7711510" y="3454411"/>
            <a:ext cx="1096886" cy="4489"/>
          </a:xfrm>
          <a:prstGeom xmlns:a="http://schemas.openxmlformats.org/drawingml/2006/main" prst="straightConnector1">
            <a:avLst/>
          </a:prstGeom>
          <a:ln xmlns:a="http://schemas.openxmlformats.org/drawingml/2006/main" w="12701">
            <a:solidFill>
              <a:srgbClr val="000000"/>
            </a:solidFill>
            <a:prstDash val="solid"/>
            <a:tailEnd type="arrow"/>
          </a:ln>
        </p:spPr>
      </p:cxnSp>
    </p:spTree>
    <p:extLst>
      <p:ext uri="{BB962C8B-B14F-4D97-AF65-F5344CB8AC3E}">
        <p14:creationId xmlns:p14="http://schemas.microsoft.com/office/powerpoint/2010/main" val="1283248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F6B164F4-E32A-C333-6F15-88B3E99C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Parent/Fine 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독립 표현 생성과 공간 증거 결합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8A1546A6-B9CE-2AE1-62AA-BCE901F4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02 · MODULE 02 · EVIDENCE PROJECTOR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69456466-85FD-EEA0-3742-ED98F0EE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89E722F-0AA7-96B7-8DFB-CAEB69F5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C20D42A-D1D4-BAA0-52E2-8AD95858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07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5EFAF317-E77D-4AEB-924A-2CB288E6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DFB61418-39DC-D2D0-3183-B23D36F3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4F9D55"/>
                </a:solidFill>
              </a:defRPr>
            </a:pP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02 · </a:t>
            </a: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독립 증거 </a:t>
            </a: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TASK-SPECIFIC REPRESENTATION</a:t>
            </a:r>
          </a:p>
        </p:txBody>
      </p:sp>
      <p:sp>
        <p:nvSpPr>
          <p:cNvPr id="9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638B398B-9E9C-6DC9-C745-2DB36D5A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3"/>
            <a:ext cx="4243693" cy="990596"/>
          </a:xfrm>
          <a:custGeom xmlns:a="http://schemas.openxmlformats.org/drawingml/2006/main">
            <a:avLst>
              <a:gd name="f0" fmla="val 4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14FDB2C3-B639-6A3C-48A8-839F6B02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33" y="2075642"/>
            <a:ext cx="2911815" cy="45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l_clsᵇ = h_clsᵇ(z_cls)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l_tile,tᵇ = W_tileᵇ z_t</a:t>
            </a:r>
          </a:p>
        </p:txBody>
      </p:sp>
      <p:sp>
        <p:nvSpPr>
          <p:cNvPr id="11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4BC45C65-3459-D6B0-EF23-69634A8B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04" y="2854930"/>
            <a:ext cx="4497686" cy="366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공통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Backbone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출력에서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Parent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Fine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이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사용할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전역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표현과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타일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표현을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각각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생성한다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D4918253-AD14-6849-087A-ADC43E04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325" y="1809753"/>
            <a:ext cx="5542059" cy="990596"/>
          </a:xfrm>
          <a:custGeom xmlns:a="http://schemas.openxmlformats.org/drawingml/2006/main">
            <a:avLst>
              <a:gd name="f0" fmla="val 4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3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7CAD5340-09AE-4BAD-19A1-25E1DCD7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604" y="2075642"/>
            <a:ext cx="5053248" cy="472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a_t,cᵇ = softmax_t(l_tile,t,cᵇ / τ)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l_pool,cᵇ = Σ_t a_t,cᵇ · l_tile,t,cᵇ</a:t>
            </a:r>
          </a:p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C1ABFD2E-E0B8-A402-B3F8-C08A37BA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133" y="2876546"/>
            <a:ext cx="5542059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Class-conditioned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attention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으로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16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tile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의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증거를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통합한다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5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F7A310A-7FB4-7B2D-2F80-122664E8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3"/>
            <a:ext cx="5286375" cy="952503"/>
          </a:xfrm>
          <a:custGeom xmlns:a="http://schemas.openxmlformats.org/drawingml/2006/main">
            <a:avLst>
              <a:gd name="f0" fmla="val 43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6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56B9E1E5-C832-F11F-805C-FF0B5EFA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37" y="3461150"/>
            <a:ext cx="4959687" cy="494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lᵇ = 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α_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 · l_clsᵇ + (1 - 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α_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b) · l_poolᵇ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α_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 = sigmoid(learned fusion logit)</a:t>
            </a:r>
          </a:p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E49ECB34-05BC-D0CD-EDDC-CDE24388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3"/>
            <a:ext cx="5286375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각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branch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에서 전체 이미지 증와  </a:t>
            </a:r>
            <a:r>
              <a:rPr sz="9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타일 기반 공간 증거를 학습형으로 결합한다</a:t>
            </a:r>
            <a:r>
              <a:rPr sz="9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18" name="타원 19">
            <a:extLst xmlns:a="http://schemas.openxmlformats.org/drawingml/2006/main">
              <a:ext uri="{FF2B5EF4-FFF2-40B4-BE49-F238E27FC236}">
                <a16:creationId xmlns:a16="http://schemas.microsoft.com/office/drawing/2014/main" id="{29E8D0BE-6D34-5162-8B1F-47FFE4CC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4924428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4F9D55"/>
          </a:solidFill>
          <a:ln xmlns:a="http://schemas.openxmlformats.org/drawingml/2006/main" w="11430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9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3DBEDC72-5AC3-6DD8-FFE3-B9F89FE8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4857749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설계 의미</a:t>
            </a:r>
          </a:p>
        </p:txBody>
      </p:sp>
      <p:sp>
        <p:nvSpPr>
          <p:cNvPr id="20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CFBFE704-96FA-4C5E-CE86-E0C1208D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727" y="4852345"/>
            <a:ext cx="4540928" cy="221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Parent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는 공통 정체성을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Fine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은 구분에 필요한 세부 증거를 복구할 수 있음</a:t>
            </a:r>
          </a:p>
        </p:txBody>
      </p:sp>
      <p:sp>
        <p:nvSpPr>
          <p:cNvPr id="21" name="타원 22">
            <a:extLst xmlns:a="http://schemas.openxmlformats.org/drawingml/2006/main">
              <a:ext uri="{FF2B5EF4-FFF2-40B4-BE49-F238E27FC236}">
                <a16:creationId xmlns:a16="http://schemas.microsoft.com/office/drawing/2014/main" id="{DEAECF2F-4FB3-BD51-A8F9-E0D80D62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5495928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4F9D55"/>
          </a:solidFill>
          <a:ln xmlns:a="http://schemas.openxmlformats.org/drawingml/2006/main" w="11430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2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19968642-C758-BA50-B689-10A1098D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5429250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런타임 출력</a:t>
            </a:r>
          </a:p>
        </p:txBody>
      </p:sp>
      <p:sp>
        <p:nvSpPr>
          <p:cNvPr id="23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E11C8051-FB17-2CAA-D355-26DD739D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727" y="5418441"/>
            <a:ext cx="4092369" cy="232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Parent/Fine probabilities + class-conditioned 4×4 spatial attention</a:t>
            </a:r>
          </a:p>
        </p:txBody>
      </p:sp>
      <p:sp>
        <p:nvSpPr>
          <p:cNvPr id="24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051EF8AE-5CC0-36C2-A23E-84E59041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081" y="1688494"/>
            <a:ext cx="1752557" cy="234077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Parent/Fine </a:t>
            </a: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독립 표현 생성</a:t>
            </a:r>
          </a:p>
        </p:txBody>
      </p:sp>
      <p:sp>
        <p:nvSpPr>
          <p:cNvPr id="25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A5535621-65DB-5FC1-81D9-B2F94E1F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1127" y="3502984"/>
            <a:ext cx="4382152" cy="2696647"/>
          </a:xfrm>
          <a:custGeom xmlns:a="http://schemas.openxmlformats.org/drawingml/2006/main">
            <a:avLst>
              <a:gd name="f0" fmla="val 4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6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69C59A9D-7890-A1CA-66E7-8E220D69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094" y="3710040"/>
            <a:ext cx="4378796" cy="2396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   Parent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또는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Fine branch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t   4×4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공간에서의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타일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번호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, t ∈ {1, …, 16}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c   branch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가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분류하는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클래스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번호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z_cls   Backbone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이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생성한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전체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이미지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표현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z_t     Backbone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이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생성한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t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번째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타일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표현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ℓ_clsᵇ       branch b의 전역 class logit ℓ_tile,t,cᵇ  타일 t에서 클래스 c를 지지하는 logit a_t,cᵇ       클래스 c에 대한 타일 t의 attention 가중치 ℓ_poolᵇ      타일 증거를 합산한 공간 class logit ℓᵇ           branch b의 최종 class logit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τ            attention 분포의 집중도를 조절하는 온도 α_b          전역 증거와 공간 증거의 학습형 결합 비율</a:t>
            </a:r>
          </a:p>
        </p:txBody>
      </p:sp>
      <p:sp>
        <p:nvSpPr>
          <p:cNvPr id="27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A5746616-19D4-63D7-2235-407D1383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978" y="3109819"/>
            <a:ext cx="1979529" cy="250289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전역</a:t>
            </a: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·</a:t>
            </a: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공간</a:t>
            </a: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증거의 학습형 결합</a:t>
            </a:r>
          </a:p>
        </p:txBody>
      </p:sp>
      <p:sp>
        <p:nvSpPr>
          <p:cNvPr id="28" name="사각형: 둥근 모서리 34">
            <a:extLst xmlns:a="http://schemas.openxmlformats.org/drawingml/2006/main">
              <a:ext uri="{FF2B5EF4-FFF2-40B4-BE49-F238E27FC236}">
                <a16:creationId xmlns:a16="http://schemas.microsoft.com/office/drawing/2014/main" id="{0386554B-AB74-C859-6DB8-2897828E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634" y="1688494"/>
            <a:ext cx="1752557" cy="234077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클래스별</a:t>
            </a: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공간 증거 집계</a:t>
            </a:r>
          </a:p>
        </p:txBody>
      </p:sp>
      <p:sp>
        <p:nvSpPr>
          <p:cNvPr id="29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F31EE9AE-B502-8E2C-B369-BF7A3634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931" y="3380024"/>
            <a:ext cx="1374251" cy="250289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기호 및 변수 정의</a:t>
            </a:r>
          </a:p>
        </p:txBody>
      </p:sp>
    </p:spTree>
    <p:extLst>
      <p:ext uri="{BB962C8B-B14F-4D97-AF65-F5344CB8AC3E}">
        <p14:creationId xmlns:p14="http://schemas.microsoft.com/office/powerpoint/2010/main" val="5362118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D028C9C-04B6-1730-6412-05C9AF9D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OOF 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기반 오류 위험도 산출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225805A-DFA8-9BA2-8EEE-8CC98544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02 · MODULE 03 · ERROR-RISK DETECTOR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AC1EAEBF-8F46-BCDF-C95A-989446BB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257D9A3-DA9B-7B42-5666-EDC94B50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23242C0-EE8F-5460-B8B1-D9C2B1DE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08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CB5C4699-FB3E-779E-A542-C2D040E2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C7921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3D330559-B156-891E-822E-205FF7A6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C79213"/>
                </a:solidFill>
              </a:defRPr>
            </a:pPr>
            <a:r>
              <a:rPr sz="825" b="1" i="0" u="none" cap="none">
                <a:solidFill>
                  <a:srgbClr val="C79213"/>
                </a:solidFill>
                <a:latin typeface="Calibri"/>
                <a:ea typeface="Calibri"/>
                <a:cs typeface="Calibri"/>
              </a:rPr>
              <a:t>03 · </a:t>
            </a:r>
            <a:r>
              <a:rPr sz="825" b="1" i="0" u="none" cap="none">
                <a:solidFill>
                  <a:srgbClr val="C79213"/>
                </a:solidFill>
                <a:latin typeface="Calibri"/>
                <a:ea typeface="Calibri"/>
                <a:cs typeface="Calibri"/>
              </a:rPr>
              <a:t>위험 감지 </a:t>
            </a:r>
            <a:r>
              <a:rPr sz="825" b="1" i="0" u="none" cap="none">
                <a:solidFill>
                  <a:srgbClr val="C79213"/>
                </a:solidFill>
                <a:latin typeface="Calibri"/>
                <a:ea typeface="Calibri"/>
                <a:cs typeface="Calibri"/>
              </a:rPr>
              <a:t>· 42</a:t>
            </a:r>
            <a:r>
              <a:rPr sz="825" b="1" i="0" u="none" cap="none">
                <a:solidFill>
                  <a:srgbClr val="C79213"/>
                </a:solidFill>
                <a:latin typeface="Calibri"/>
                <a:ea typeface="Calibri"/>
                <a:cs typeface="Calibri"/>
              </a:rPr>
              <a:t>차원 </a:t>
            </a:r>
            <a:r>
              <a:rPr sz="825" b="1" i="0" u="none" cap="none">
                <a:solidFill>
                  <a:srgbClr val="C79213"/>
                </a:solidFill>
                <a:latin typeface="Calibri"/>
                <a:ea typeface="Calibri"/>
                <a:cs typeface="Calibri"/>
              </a:rPr>
              <a:t>EVIDENCE STATE</a:t>
            </a:r>
          </a:p>
        </p:txBody>
      </p:sp>
      <p:sp>
        <p:nvSpPr>
          <p:cNvPr id="9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AE94CED5-2259-3604-C868-CFAE89A0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3"/>
            <a:ext cx="1428750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Profile</a:t>
            </a:r>
          </a:p>
        </p:txBody>
      </p:sp>
      <p:sp>
        <p:nvSpPr>
          <p:cNvPr id="10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B993EA9C-FE12-CFF8-F5E2-91BE4109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19271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node mean/std/max · Parent/Fine JS, L1, cosine · max probability · kNN support/entropy</a:t>
            </a:r>
          </a:p>
        </p:txBody>
      </p:sp>
      <p:sp>
        <p:nvSpPr>
          <p:cNvPr id="11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2E0DBDF1-5E1B-2B69-4F05-099663B8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096003" cy="1381128"/>
          </a:xfrm>
          <a:custGeom xmlns:a="http://schemas.openxmlformats.org/drawingml/2006/main">
            <a:avLst>
              <a:gd name="f0" fmla="val 29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2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3919F0A5-ACA7-377F-D365-B2565719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45" y="2815209"/>
            <a:ext cx="5763911" cy="657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r_branch = max(rank(q_parent), rank(q_fine))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r_sup = 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ω_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d · rank(q_any) + (1 - 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ω_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d) · r_branch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R = (1 - 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ω_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n) · r_sup + 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ω_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n · rank(normality)</a:t>
            </a:r>
          </a:p>
        </p:txBody>
      </p:sp>
      <p:sp>
        <p:nvSpPr>
          <p:cNvPr id="13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4A4AB40-4E9A-8F48-8F1B-16A18BA9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609600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런타임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rank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는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TRAIN score reference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를 기준으로 계산한다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0F84C992-4240-5771-8DA5-44EA6512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46" y="2457450"/>
            <a:ext cx="3952878" cy="1381128"/>
          </a:xfrm>
          <a:custGeom xmlns:a="http://schemas.openxmlformats.org/drawingml/2006/main">
            <a:avLst>
              <a:gd name="f0" fmla="val 8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5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CBF2203A-49BC-7547-63FC-63044EBC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3" y="2638428"/>
            <a:ext cx="3571874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선택된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ResNet18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정책</a:t>
            </a:r>
          </a:p>
        </p:txBody>
      </p:sp>
      <p:sp>
        <p:nvSpPr>
          <p:cNvPr id="16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8FB9ABEA-66DC-DB42-74DA-C54F184F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3" y="3000375"/>
            <a:ext cx="3571874" cy="733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HGB depth 2 / leaf 20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ω_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d = 0.75,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ω_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n = 0.00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TRAIN 10% budget threshold = 0.9043</a:t>
            </a:r>
          </a:p>
        </p:txBody>
      </p:sp>
      <p:sp>
        <p:nvSpPr>
          <p:cNvPr id="17" name="타원 15">
            <a:extLst xmlns:a="http://schemas.openxmlformats.org/drawingml/2006/main">
              <a:ext uri="{FF2B5EF4-FFF2-40B4-BE49-F238E27FC236}">
                <a16:creationId xmlns:a16="http://schemas.microsoft.com/office/drawing/2014/main" id="{4819E5A5-6A06-0032-4C42-AC23699B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4612672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C79213"/>
          </a:solidFill>
          <a:ln xmlns:a="http://schemas.openxmlformats.org/drawingml/2006/main" w="11430">
            <a:solidFill>
              <a:srgbClr val="C7921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8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449F89C1-1DFE-C424-CCE3-B9F03204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4524378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OOF </a:t>
            </a: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선택</a:t>
            </a:r>
          </a:p>
        </p:txBody>
      </p:sp>
      <p:sp>
        <p:nvSpPr>
          <p:cNvPr id="19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76EA0F2C-8153-CEBB-1F0E-033D6C32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496" y="4524378"/>
            <a:ext cx="7788886" cy="243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review budget 5% / 10% / 20%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의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weighted recall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과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AP, AURC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로 정책 선택</a:t>
            </a:r>
          </a:p>
        </p:txBody>
      </p:sp>
      <p:sp>
        <p:nvSpPr>
          <p:cNvPr id="20" name="타원 18">
            <a:extLst xmlns:a="http://schemas.openxmlformats.org/drawingml/2006/main">
              <a:ext uri="{FF2B5EF4-FFF2-40B4-BE49-F238E27FC236}">
                <a16:creationId xmlns:a16="http://schemas.microsoft.com/office/drawing/2014/main" id="{F646A770-2A8A-FE26-72A9-37423E76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5184172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C79213"/>
          </a:solidFill>
          <a:ln xmlns:a="http://schemas.openxmlformats.org/drawingml/2006/main" w="11430">
            <a:solidFill>
              <a:srgbClr val="C7921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1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37B6C60E-8E63-0669-7AD3-B03CE480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5095878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TEST </a:t>
            </a: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감사</a:t>
            </a:r>
          </a:p>
        </p:txBody>
      </p:sp>
      <p:sp>
        <p:nvSpPr>
          <p:cNvPr id="22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960B66B3-F5FA-18DF-BD75-466964C9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496" y="5133706"/>
            <a:ext cx="7799694" cy="248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103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장을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REVIEW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하여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base-invalid 78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장 중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64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장 탐지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(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recall 82.1%)</a:t>
            </a:r>
          </a:p>
        </p:txBody>
      </p:sp>
      <p:sp>
        <p:nvSpPr>
          <p:cNvPr id="23" name="타원 21">
            <a:extLst xmlns:a="http://schemas.openxmlformats.org/drawingml/2006/main">
              <a:ext uri="{FF2B5EF4-FFF2-40B4-BE49-F238E27FC236}">
                <a16:creationId xmlns:a16="http://schemas.microsoft.com/office/drawing/2014/main" id="{7846A4E8-C166-6A7F-6A4F-F026B947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5755672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C79213"/>
          </a:solidFill>
          <a:ln xmlns:a="http://schemas.openxmlformats.org/drawingml/2006/main" w="11430">
            <a:solidFill>
              <a:srgbClr val="C7921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4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4A07E5AD-D703-E558-EFA1-0506327C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5667378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모듈 경계</a:t>
            </a:r>
          </a:p>
        </p:txBody>
      </p:sp>
      <p:sp>
        <p:nvSpPr>
          <p:cNvPr id="25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5AC92484-385C-164F-39C1-73E88A96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880" y="5667378"/>
            <a:ext cx="7810503" cy="221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이 모듈은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REVIEW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만 요청하며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SWITCH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승인에는 관여하지 않음</a:t>
            </a:r>
          </a:p>
        </p:txBody>
      </p:sp>
      <p:sp>
        <p:nvSpPr>
          <p:cNvPr id="26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3508DF4F-F2FE-630E-4587-90FE46E2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92" y="4079540"/>
            <a:ext cx="3974823" cy="2033616"/>
          </a:xfrm>
          <a:custGeom xmlns:a="http://schemas.openxmlformats.org/drawingml/2006/main">
            <a:avLst>
              <a:gd name="f0" fmla="val 4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7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8CA74CD4-8243-4CF7-1291-587A8391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511" y="4188555"/>
            <a:ext cx="3763332" cy="1709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q_parent    Parent branch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가 틀릴 가능성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q_fine      Fine branch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가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틀릴 가능성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q_any       둘 중 하나 이상이 틀릴 가능성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rank(q)     TRAIN-OOF 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기준 백분위 위험 순위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normality   TRAIN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의 정상 증거 분포에서 벗어난 정도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_branch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   두 branch 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중 더 큰 오류 위험도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sup       직접 오류 탐지와 branch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별 탐지를 결합한 위험도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           최종 REVIEW 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위험도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ω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         직접 오류 탐지 q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any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의 반영 비율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ω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         정상성 이탈 점수의 반영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비율</a:t>
            </a:r>
          </a:p>
        </p:txBody>
      </p:sp>
      <p:sp>
        <p:nvSpPr>
          <p:cNvPr id="28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C0BEAEBB-E6E9-1AA8-9A42-0B7242FC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997" y="2322493"/>
            <a:ext cx="1767068" cy="270360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다중 위험 신호 결합</a:t>
            </a:r>
          </a:p>
        </p:txBody>
      </p:sp>
      <p:sp>
        <p:nvSpPr>
          <p:cNvPr id="29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BBDD5438-AC82-92E6-AFBF-4B5091BA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889" y="3947473"/>
            <a:ext cx="1320210" cy="239481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기호 및 변수 정의</a:t>
            </a:r>
          </a:p>
        </p:txBody>
      </p:sp>
    </p:spTree>
    <p:extLst>
      <p:ext uri="{BB962C8B-B14F-4D97-AF65-F5344CB8AC3E}">
        <p14:creationId xmlns:p14="http://schemas.microsoft.com/office/powerpoint/2010/main" val="20799821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15465C64-169F-5F96-2441-F29E5B77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504" y="3906600"/>
            <a:ext cx="5143499" cy="1888245"/>
          </a:xfrm>
          <a:custGeom xmlns:a="http://schemas.openxmlformats.org/drawingml/2006/main">
            <a:avLst>
              <a:gd name="f0" fmla="val 38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BB3D5C46-CBCF-E555-8D2B-9DEA7633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6600"/>
            <a:ext cx="5143499" cy="1888245"/>
          </a:xfrm>
          <a:custGeom xmlns:a="http://schemas.openxmlformats.org/drawingml/2006/main">
            <a:avLst>
              <a:gd name="f0" fmla="val 38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" name="title-9">
            <a:extLst xmlns:a="http://schemas.openxmlformats.org/drawingml/2006/main">
              <a:ext uri="{FF2B5EF4-FFF2-40B4-BE49-F238E27FC236}">
                <a16:creationId xmlns:a16="http://schemas.microsoft.com/office/drawing/2014/main" id="{40A91175-719C-9E14-313E-C1FEC372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Attention 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기반 재관측 영역 생성</a:t>
            </a:r>
          </a:p>
        </p:txBody>
      </p:sp>
      <p:sp>
        <p:nvSpPr>
          <p:cNvPr id="5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3052D70B-DC92-1FE9-2D16-1C45463B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02 · MODULE 04 · VIEW PLANNER</a:t>
            </a:r>
          </a:p>
        </p:txBody>
      </p:sp>
      <p:sp>
        <p:nvSpPr>
          <p:cNvPr id="6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53CB274E-F9CC-FC5C-30C9-8EF42F42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7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2C44B52-1016-DC67-5104-3CC8D4C3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8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AE024A7-6563-DA15-645C-E3AB805B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09</a:t>
            </a:r>
          </a:p>
        </p:txBody>
      </p:sp>
      <p:sp>
        <p:nvSpPr>
          <p:cNvPr id="9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7114BA7D-ABE9-2735-EA8F-503D5000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50D45FAF-B49A-8AD1-6E70-9E7589A4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3F96D4"/>
                </a:solidFill>
              </a:defRPr>
            </a:pP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04 · </a:t>
            </a: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재관측 계획 </a:t>
            </a: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CONNECTED TOP-K</a:t>
            </a:r>
          </a:p>
        </p:txBody>
      </p:sp>
      <p:sp>
        <p:nvSpPr>
          <p:cNvPr id="11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FA69B037-608B-FB2E-E1A0-206C0EC6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3"/>
            <a:ext cx="5143499" cy="1066803"/>
          </a:xfrm>
          <a:custGeom xmlns:a="http://schemas.openxmlformats.org/drawingml/2006/main">
            <a:avLst>
              <a:gd name="f0" fmla="val 38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2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44450A53-B582-2B36-C2F3-F314DB9E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33" y="2091854"/>
            <a:ext cx="4843832" cy="494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S₀ = { argmax_t a_t }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Sₘ₊₁ = Sₘ ∪ { argmax_{j ∈ N(Sₘ) \ Sₘ} a_j }</a:t>
            </a:r>
          </a:p>
        </p:txBody>
      </p:sp>
      <p:sp>
        <p:nvSpPr>
          <p:cNvPr id="13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9F71653A-CA3F-6BC7-6FB9-6187397D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7903"/>
            <a:ext cx="5143499" cy="44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a_t는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타일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t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attention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점수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Sₘ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m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단계까지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선택된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타일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집합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N(Sₘ)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Sₘ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에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인접한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타일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집합을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뜻한다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인접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후보가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없으면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남은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타일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중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a_t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가장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높은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위치를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선택한다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C13F8D94-6EE6-B7E6-1501-FF5D3052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996" y="1809753"/>
            <a:ext cx="4810128" cy="742950"/>
          </a:xfrm>
          <a:custGeom xmlns:a="http://schemas.openxmlformats.org/drawingml/2006/main">
            <a:avLst>
              <a:gd name="f0" fmla="val 5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5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6337A978-C9EA-4B27-4D5F-EB2D466D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46" y="2054025"/>
            <a:ext cx="4478036" cy="252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bbox(S, e) = clip(envelope(S) ± e / 4)</a:t>
            </a:r>
          </a:p>
        </p:txBody>
      </p:sp>
      <p:sp>
        <p:nvSpPr>
          <p:cNvPr id="16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585C5690-5EC0-20B7-4274-1086E602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996" y="2612687"/>
            <a:ext cx="4810128" cy="474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e는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문맥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확장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비율이다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선택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타일의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최소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사각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영역을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확장한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이미지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경계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안의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crop 좌표로 변환한다.</a:t>
            </a:r>
          </a:p>
        </p:txBody>
      </p:sp>
      <p:sp>
        <p:nvSpPr>
          <p:cNvPr id="17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895C8A40-43EC-07EB-B308-47B28254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47649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1" i="0" u="none" cap="none">
                <a:solidFill>
                  <a:srgbClr val="101827"/>
                </a:solidFill>
              </a:defRPr>
            </a:pPr>
            <a:r>
              <a:rPr sz="157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확장 관측 정책</a:t>
            </a:r>
          </a:p>
        </p:txBody>
      </p:sp>
      <p:sp>
        <p:nvSpPr>
          <p:cNvPr id="18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4B13F393-D7F7-1D80-CD27-E1F53367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3" y="4067379"/>
            <a:ext cx="466725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01 Parent tight: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 </a:t>
            </a: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k=3, ε=0.10</a:t>
            </a:r>
          </a:p>
        </p:txBody>
      </p:sp>
      <p:sp>
        <p:nvSpPr>
          <p:cNvPr id="19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05EE4ABD-F7CC-A412-C0F8-E439E176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808" y="4072783"/>
            <a:ext cx="466725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05 Joint evidence</a:t>
            </a:r>
          </a:p>
        </p:txBody>
      </p:sp>
      <p:sp>
        <p:nvSpPr>
          <p:cNvPr id="20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28D840F3-D6EE-E67F-A9E2-BEDE484D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3" y="4524579"/>
            <a:ext cx="466725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02 Parent context : k=6, ε=0.50</a:t>
            </a:r>
          </a:p>
        </p:txBody>
      </p:sp>
      <p:sp>
        <p:nvSpPr>
          <p:cNvPr id="21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DBF36390-5BA4-8504-FE53-609AFD88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808" y="4529983"/>
            <a:ext cx="466725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06 Parent/Fine disagreement</a:t>
            </a:r>
          </a:p>
        </p:txBody>
      </p:sp>
      <p:sp>
        <p:nvSpPr>
          <p:cNvPr id="22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F79DB0DF-9006-CFD8-5AD1-3444325A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3" y="4981779"/>
            <a:ext cx="466725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03 Fine tight : k=3, ε=0.10</a:t>
            </a:r>
          </a:p>
        </p:txBody>
      </p:sp>
      <p:sp>
        <p:nvSpPr>
          <p:cNvPr id="23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DDE7B457-4F98-F87A-230C-5F5C4C9E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808" y="4987183"/>
            <a:ext cx="466725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07 Secondary joint</a:t>
            </a:r>
          </a:p>
        </p:txBody>
      </p:sp>
      <p:sp>
        <p:nvSpPr>
          <p:cNvPr id="24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802A12C7-F8DC-D108-A5AB-F9DF9B53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3" y="5438979"/>
            <a:ext cx="466725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04 Fine context : k=6, ε=0.50</a:t>
            </a:r>
          </a:p>
        </p:txBody>
      </p:sp>
      <p:sp>
        <p:nvSpPr>
          <p:cNvPr id="25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0247A7B4-1369-0CA2-4FE8-F8BDFDA2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808" y="5444383"/>
            <a:ext cx="466725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08 Wide context</a:t>
            </a:r>
          </a:p>
        </p:txBody>
      </p:sp>
      <p:sp>
        <p:nvSpPr>
          <p:cNvPr id="26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97FAA56B-129E-4A22-CD56-F93AE6D2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001250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8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개 관측 정책을 생성한 뒤 중복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bbox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를 제거하고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Backbone inference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를 수행한다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7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2BDAA686-E07C-9098-324E-A4F130B7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368" y="3760332"/>
            <a:ext cx="1197617" cy="306031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기본 관측 후보</a:t>
            </a:r>
          </a:p>
        </p:txBody>
      </p:sp>
      <p:sp>
        <p:nvSpPr>
          <p:cNvPr id="28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950B808C-CD3C-6F79-0513-46231BFD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693" y="3758485"/>
            <a:ext cx="1692024" cy="309579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관계·충돌 기반 후보</a:t>
            </a:r>
          </a:p>
        </p:txBody>
      </p:sp>
      <p:sp>
        <p:nvSpPr>
          <p:cNvPr id="29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F40DBB18-64FF-3D68-1A63-3F9C839A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289" y="1677695"/>
            <a:ext cx="1194983" cy="288118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연결 타일 선택</a:t>
            </a:r>
          </a:p>
        </p:txBody>
      </p:sp>
      <p:sp>
        <p:nvSpPr>
          <p:cNvPr id="30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91EDF3BD-23E6-DBCE-D50F-C141B6EF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134" y="1677686"/>
            <a:ext cx="1296582" cy="288118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관측 영역 변환</a:t>
            </a:r>
          </a:p>
        </p:txBody>
      </p:sp>
      <p:cxnSp>
        <p:nvCxnSpPr>
          <p:cNvPr id="61" name="직선 화살표 연결선 32"/>
          <p:cNvCxnSpPr/>
          <p:nvPr/>
        </p:nvCxnSpPr>
        <p:spPr>
          <a:xfrm xmlns:a="http://schemas.openxmlformats.org/drawingml/2006/main" flipV="1">
            <a:off x="5834941" y="2187217"/>
            <a:ext cx="643711" cy="914"/>
          </a:xfrm>
          <a:prstGeom xmlns:a="http://schemas.openxmlformats.org/drawingml/2006/main" prst="straightConnector1">
            <a:avLst/>
          </a:prstGeom>
          <a:ln xmlns:a="http://schemas.openxmlformats.org/drawingml/2006/main" w="12701">
            <a:solidFill>
              <a:srgbClr val="000000"/>
            </a:solidFill>
            <a:prstDash val="solid"/>
            <a:tailEnd type="arrow"/>
          </a:ln>
        </p:spPr>
      </p:cxnSp>
    </p:spTree>
    <p:extLst>
      <p:ext uri="{BB962C8B-B14F-4D97-AF65-F5344CB8AC3E}">
        <p14:creationId xmlns:p14="http://schemas.microsoft.com/office/powerpoint/2010/main" val="15912997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2BBB28D0-A53A-38A4-EC70-C7DAB9F2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재관측 후보의 비교 증거 구성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3EABDCF-7FE1-A3FC-ABBD-BCCC21F7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02 · MODULE 05 · CANDIDATE EVIDENCE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3E36C122-EBE7-9A16-24E0-F620E067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30DA7477-DC9A-7B7B-7289-061ED02E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09792ABE-94EE-98F5-5D91-5BEDAAC7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10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9408D7C5-2BBB-A6ED-B457-D8B44A66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49DAEEF-EBA4-F6D6-3B5E-E94878D0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4F9D55"/>
                </a:solidFill>
              </a:defRPr>
            </a:pP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05 · </a:t>
            </a: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후보 증거 </a:t>
            </a: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상대 비교 </a:t>
            </a: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FEATURE</a:t>
            </a:r>
          </a:p>
        </p:txBody>
      </p:sp>
      <p:sp>
        <p:nvSpPr>
          <p:cNvPr id="9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AF5A3F3A-11DE-977C-FEAE-D12A808E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3"/>
            <a:ext cx="6191246" cy="1285875"/>
          </a:xfrm>
          <a:custGeom xmlns:a="http://schemas.openxmlformats.org/drawingml/2006/main">
            <a:avLst>
              <a:gd name="f0" fmla="val 3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7CD0CB24-347F-7753-53EF-1CBA137E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45" y="2102662"/>
            <a:ext cx="5859155" cy="69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x_candidate = [ x_conventional, z_base, z_crop, 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Δ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z,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               risk_base, risk_crop, 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Δ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risk,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               kNN_base, kNN_crop, group_consensus ]</a:t>
            </a:r>
          </a:p>
        </p:txBody>
      </p:sp>
      <p:sp>
        <p:nvSpPr>
          <p:cNvPr id="11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9A7E56B4-9BF1-72BB-2D8D-266BD8A9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28" y="3139400"/>
            <a:ext cx="6153418" cy="35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기존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판단과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재관측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후보를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예측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변화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학습된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증거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표현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위험도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TRAIN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이웃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지지도와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관측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합의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관점에서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비교해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후보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평가용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입력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벡터를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구성한다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8437E5F0-B922-099D-81D3-2836DDDB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46" y="1809753"/>
            <a:ext cx="3952878" cy="1285875"/>
          </a:xfrm>
          <a:custGeom xmlns:a="http://schemas.openxmlformats.org/drawingml/2006/main">
            <a:avLst>
              <a:gd name="f0" fmla="val 9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3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07BB12F5-206F-7B8E-B271-362289D1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3" y="1904256"/>
            <a:ext cx="3571874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관계 간 증거 집계</a:t>
            </a:r>
          </a:p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44429C31-E83D-EAE0-2352-6D79DC5D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3" y="2255395"/>
            <a:ext cx="3593491" cy="713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Parent/Fine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예측 일치율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후보 클래스 평균 지지도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예측 확률 엔트로피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고유 예측 비율</a:t>
            </a:r>
          </a:p>
        </p:txBody>
      </p:sp>
      <p:sp>
        <p:nvSpPr>
          <p:cNvPr id="15" name="타원 13">
            <a:extLst xmlns:a="http://schemas.openxmlformats.org/drawingml/2006/main">
              <a:ext uri="{FF2B5EF4-FFF2-40B4-BE49-F238E27FC236}">
                <a16:creationId xmlns:a16="http://schemas.microsoft.com/office/drawing/2014/main" id="{F864F209-7468-4C3F-7892-ACD1083F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3781428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4F9D55"/>
          </a:solidFill>
          <a:ln xmlns:a="http://schemas.openxmlformats.org/drawingml/2006/main" w="11430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6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25406968-1E1E-2319-6050-31893E09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3714749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동일한 </a:t>
            </a: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0FC6929E-7584-B5E6-783C-4C98C517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834" y="3714749"/>
            <a:ext cx="781050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모든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crop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이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Backbone → Parent/Fine → profile → kNN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경로를 재사용</a:t>
            </a:r>
          </a:p>
        </p:txBody>
      </p:sp>
      <p:sp>
        <p:nvSpPr>
          <p:cNvPr id="18" name="타원 16">
            <a:extLst xmlns:a="http://schemas.openxmlformats.org/drawingml/2006/main">
              <a:ext uri="{FF2B5EF4-FFF2-40B4-BE49-F238E27FC236}">
                <a16:creationId xmlns:a16="http://schemas.microsoft.com/office/drawing/2014/main" id="{368590DA-0697-7CA0-F9A9-E7496F49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4352928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4F9D55"/>
          </a:solidFill>
          <a:ln xmlns:a="http://schemas.openxmlformats.org/drawingml/2006/main" w="11430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9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2583C590-A6C8-ED3D-C8ED-B72589D5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4286249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상대 상태</a:t>
            </a:r>
          </a:p>
        </p:txBody>
      </p:sp>
      <p:sp>
        <p:nvSpPr>
          <p:cNvPr id="20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E5EC01A4-3544-EC09-9D03-EACF6EB4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834" y="4286249"/>
            <a:ext cx="781050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Δ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feature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로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candidate evidence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를 해당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base sample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과 직접 비교</a:t>
            </a:r>
          </a:p>
        </p:txBody>
      </p:sp>
      <p:sp>
        <p:nvSpPr>
          <p:cNvPr id="21" name="타원 19">
            <a:extLst xmlns:a="http://schemas.openxmlformats.org/drawingml/2006/main">
              <a:ext uri="{FF2B5EF4-FFF2-40B4-BE49-F238E27FC236}">
                <a16:creationId xmlns:a16="http://schemas.microsoft.com/office/drawing/2014/main" id="{39A2FB2E-5840-7D2C-1332-490748F0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4924428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4F9D55"/>
          </a:solidFill>
          <a:ln xmlns:a="http://schemas.openxmlformats.org/drawingml/2006/main" w="11430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2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4ED0C79F-ED59-C921-6085-901FA9DD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4857749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후보 상한(Audit only)</a:t>
            </a:r>
          </a:p>
        </p:txBody>
      </p:sp>
      <p:sp>
        <p:nvSpPr>
          <p:cNvPr id="23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962C640B-3B14-BFFF-D26E-548440E8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834" y="4857749"/>
            <a:ext cx="781050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탐지된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base error 64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장 중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58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장은 정답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Parent/Fine pair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를 후보에 포함</a:t>
            </a:r>
          </a:p>
        </p:txBody>
      </p:sp>
      <p:sp>
        <p:nvSpPr>
          <p:cNvPr id="24" name="타원 22">
            <a:extLst xmlns:a="http://schemas.openxmlformats.org/drawingml/2006/main">
              <a:ext uri="{FF2B5EF4-FFF2-40B4-BE49-F238E27FC236}">
                <a16:creationId xmlns:a16="http://schemas.microsoft.com/office/drawing/2014/main" id="{11E723F8-CC17-6E36-FF48-BFD0A613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5495928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4F9D55"/>
          </a:solidFill>
          <a:ln xmlns:a="http://schemas.openxmlformats.org/drawingml/2006/main" w="11430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5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C802B16E-0824-2272-4E43-BEC771A8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5429250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Selector </a:t>
            </a: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과제</a:t>
            </a:r>
          </a:p>
        </p:txBody>
      </p:sp>
      <p:sp>
        <p:nvSpPr>
          <p:cNvPr id="26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C0678213-ED74-7A5D-FD61-D44DF577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834" y="5369804"/>
            <a:ext cx="781050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base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정답을 깨뜨리지 않으면서 유효한 증거를 순위화해야 함</a:t>
            </a:r>
          </a:p>
        </p:txBody>
      </p:sp>
      <p:sp>
        <p:nvSpPr>
          <p:cNvPr id="27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64D558C7-9944-3B15-DD51-0CABB3C8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509" y="1699302"/>
            <a:ext cx="2222723" cy="217864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Base–Candidate </a:t>
            </a: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상대 증거 벡터 구성</a:t>
            </a:r>
          </a:p>
        </p:txBody>
      </p:sp>
      <p:sp>
        <p:nvSpPr>
          <p:cNvPr id="28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46A4B753-7BAF-8640-6E3B-8B73C3F4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043" y="3764237"/>
            <a:ext cx="3949503" cy="2580839"/>
          </a:xfrm>
          <a:custGeom xmlns:a="http://schemas.openxmlformats.org/drawingml/2006/main">
            <a:avLst>
              <a:gd name="f0" fmla="val 4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9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28D6C9BB-687D-BCCA-D547-37034E7B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013" y="3898571"/>
            <a:ext cx="3516590" cy="2323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z_base,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z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crop, Δz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기존 관측과 재관측에서 추출한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증거 상태 및 두 상태의 변화량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risk_base, risk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crop, Δrisk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기존 관측과 재관측의 정상성 이탈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위험도 및 변화량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kNN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base, kNN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crop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TRAIN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의 유사한 증거 상태가 현재 예측을 얼마나 지지하는지 나타내는 값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group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consensus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여러 재관측 결과의 예측 일치도와 분산을 요약한 값</a:t>
            </a:r>
          </a:p>
        </p:txBody>
      </p:sp>
      <p:sp>
        <p:nvSpPr>
          <p:cNvPr id="30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95662F96-CC22-E503-0146-C1F9733C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526" y="3644834"/>
            <a:ext cx="1320210" cy="239481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기호 및 변수 정의</a:t>
            </a:r>
          </a:p>
        </p:txBody>
      </p:sp>
    </p:spTree>
    <p:extLst>
      <p:ext uri="{BB962C8B-B14F-4D97-AF65-F5344CB8AC3E}">
        <p14:creationId xmlns:p14="http://schemas.microsoft.com/office/powerpoint/2010/main" val="1899002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F397A3CC-CCFD-A568-A088-593A9F9D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1107"/>
            <a:ext cx="6191246" cy="853601"/>
          </a:xfrm>
          <a:custGeom xmlns:a="http://schemas.openxmlformats.org/drawingml/2006/main">
            <a:avLst>
              <a:gd name="f0" fmla="val 56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78DCBEB0-7859-1335-FD29-231E6889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다중 전문가 보정 및 전환 승인</a:t>
            </a:r>
          </a:p>
        </p:txBody>
      </p:sp>
      <p:sp>
        <p:nvSpPr>
          <p:cNvPr id="4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15D1149A-2C7D-8774-EE76-3DBDC1D6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02 · MODULE 06 · JOINT CORRECTION</a:t>
            </a:r>
          </a:p>
        </p:txBody>
      </p:sp>
      <p:sp>
        <p:nvSpPr>
          <p:cNvPr id="5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4F9927D2-F027-FDF8-AC4E-34E154D4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6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A6C5269E-05FD-80B7-03B3-8D6F0402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7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36109DB0-E9C3-23E1-222B-7DEC7ABC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11</a:t>
            </a:r>
          </a:p>
        </p:txBody>
      </p:sp>
      <p:sp>
        <p:nvSpPr>
          <p:cNvPr id="8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4B86ABDC-04D5-2A74-93F5-972D7951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9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8341540C-5C1D-9CF8-4187-8120CE4F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9256B2"/>
                </a:solidFill>
              </a:defRPr>
            </a:pP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06 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전환 승인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CALIBRATED MULTI-EXPERT</a:t>
            </a:r>
          </a:p>
        </p:txBody>
      </p:sp>
      <p:sp>
        <p:nvSpPr>
          <p:cNvPr id="10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03EBA4CE-FE9F-9D49-1224-469B16C4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3"/>
            <a:ext cx="6191246" cy="853601"/>
          </a:xfrm>
          <a:custGeom xmlns:a="http://schemas.openxmlformats.org/drawingml/2006/main">
            <a:avLst>
              <a:gd name="f0" fmla="val 56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1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868C38D9-27B5-7818-0760-95C412AF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3471"/>
            <a:ext cx="5848346" cy="324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5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S_v = λ · p_joint(v) + (1 - λ) · </a:t>
            </a:r>
            <a:r>
              <a:rPr sz="1250" b="0" i="0" u="none" cap="none">
                <a:solidFill>
                  <a:srgbClr val="101827"/>
                </a:solidFill>
                <a:latin typeface="Aptos"/>
                <a:ea typeface="Aptos"/>
                <a:cs typeface="Aptos"/>
              </a:rPr>
              <a:t>√</a:t>
            </a:r>
            <a:r>
              <a:rPr sz="125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(p_parent(v) </a:t>
            </a:r>
            <a:r>
              <a:rPr sz="13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· </a:t>
            </a:r>
            <a:r>
              <a:rPr sz="125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p_fine(v))</a:t>
            </a:r>
          </a:p>
        </p:txBody>
      </p:sp>
      <p:sp>
        <p:nvSpPr>
          <p:cNvPr id="12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1BA2C39A-0D37-CDE7-4BFE-BBA79E29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6318"/>
            <a:ext cx="6191246" cy="290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Parent, Fine, Joint correctness head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OOF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출력으로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각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view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증거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점수를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계산한다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3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E44B0F2E-6415-00AC-7630-9EB6F777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4506"/>
            <a:ext cx="5848346" cy="35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5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A(p) = η · max_{v∈V_p} S_v + (1 − η) · mean_{v∈V_p} S_v + β · |V_p| / |V|</a:t>
            </a:r>
          </a:p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B6171426-D65E-19AC-DC20-D2E5E230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556"/>
            <a:ext cx="6191246" cy="290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동일한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Parent/Fine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쌍을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지지하는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view를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그룹화한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최고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점수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평균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점수와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전체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view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대비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지지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비율을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집계한다.</a:t>
            </a:r>
          </a:p>
        </p:txBody>
      </p:sp>
      <p:sp>
        <p:nvSpPr>
          <p:cNvPr id="15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19896668-5510-8B10-9CE3-512142B5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9088"/>
            <a:ext cx="6191246" cy="829689"/>
          </a:xfrm>
          <a:custGeom xmlns:a="http://schemas.openxmlformats.org/drawingml/2006/main">
            <a:avLst>
              <a:gd name="f0" fmla="val 52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6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26EE5C6D-DE60-CB06-A5D7-F25C3003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54" y="4392036"/>
            <a:ext cx="5848346" cy="646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5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p* = argmax_p A(p)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5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ΔU = A(p*) − S_base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5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SWITCH ⇔ p* ≠ p_base ∧ ΔU ≥ τ</a:t>
            </a:r>
          </a:p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25E7B4EF-7F4D-3385-87C9-9FA91BC6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6338"/>
            <a:ext cx="61912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최적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후보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쌍이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기존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예측과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다르고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효용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증가가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임계값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이상일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때만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전환한다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8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7B80E93C-7B52-5F4E-BA0C-F1F10C1E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20561"/>
            <a:ext cx="3868433" cy="2697534"/>
          </a:xfrm>
          <a:custGeom xmlns:a="http://schemas.openxmlformats.org/drawingml/2006/main">
            <a:avLst>
              <a:gd name="f0" fmla="val 39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9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898137A7-7A86-1EC9-9B7A-07AB3F70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96" y="1990721"/>
            <a:ext cx="3476621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선택된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ResNet18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정책</a:t>
            </a:r>
          </a:p>
        </p:txBody>
      </p:sp>
      <p:sp>
        <p:nvSpPr>
          <p:cNvPr id="20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A56AF135-9D72-A513-6B02-CC3E264A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188" y="2314849"/>
            <a:ext cx="3460409" cy="2076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λ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Joint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점수 반영 비율     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1.00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η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최고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view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점수 반영 비율 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0.50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β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반복 지지 보너스         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0.00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τ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SWITCH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승인 임계값       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0.05747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TRAIN-OOF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정책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45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switches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34 fixed / 2 broken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TEST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50 switches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40 fixed / 2 broken</a:t>
            </a:r>
          </a:p>
        </p:txBody>
      </p:sp>
      <p:sp>
        <p:nvSpPr>
          <p:cNvPr id="21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5C893AC9-C19A-BA13-976D-82B3E431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723900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9256B2"/>
                </a:solidFill>
              </a:defRPr>
            </a:pPr>
            <a:r>
              <a:rPr sz="1200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후보 생성과 전환 승인을 서로 다른 모듈로 분리했다</a:t>
            </a:r>
            <a:r>
              <a:rPr sz="1200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2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B7CB92A9-3CA4-54BC-AB65-086C2269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396" y="1668423"/>
            <a:ext cx="1336423" cy="281168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관측별 증거 결합</a:t>
            </a:r>
          </a:p>
        </p:txBody>
      </p:sp>
      <p:sp>
        <p:nvSpPr>
          <p:cNvPr id="23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48E266F7-A273-C97D-19B8-FA4A7B66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396" y="2879134"/>
            <a:ext cx="1336423" cy="299392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후보 쌍 합의 집계</a:t>
            </a:r>
          </a:p>
        </p:txBody>
      </p:sp>
      <p:sp>
        <p:nvSpPr>
          <p:cNvPr id="24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D954C1ED-AA1B-19CA-FA54-3D2F8518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876" y="4143576"/>
            <a:ext cx="1826203" cy="312057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전환 효용</a:t>
            </a:r>
            <a:r>
              <a:rPr sz="10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평가 및 승인</a:t>
            </a:r>
          </a:p>
        </p:txBody>
      </p:sp>
      <p:sp>
        <p:nvSpPr>
          <p:cNvPr id="25" name="사각형: 둥근 모서리 34">
            <a:extLst xmlns:a="http://schemas.openxmlformats.org/drawingml/2006/main">
              <a:ext uri="{FF2B5EF4-FFF2-40B4-BE49-F238E27FC236}">
                <a16:creationId xmlns:a16="http://schemas.microsoft.com/office/drawing/2014/main" id="{18242060-2C72-5A21-E0A9-A693081A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874" y="4798304"/>
            <a:ext cx="3866741" cy="1579662"/>
          </a:xfrm>
          <a:custGeom xmlns:a="http://schemas.openxmlformats.org/drawingml/2006/main">
            <a:avLst>
              <a:gd name="f0" fmla="val 4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6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06991C5B-E229-488D-551A-109F2B9A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36" y="4966920"/>
            <a:ext cx="3431971" cy="1240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p        Parent/Fine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후보 쌍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p*      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합의 점수가 가장 높은 후보 쌍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p_base  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기존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Parent/Fine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예측 쌍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Vₚ      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후보 쌍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p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를 지지한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view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집합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V       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전체 재관측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view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집합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S_base  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기존 관측의 증거 점수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ΔU      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후보로 전환했을 때의 효용 증가</a:t>
            </a:r>
          </a:p>
        </p:txBody>
      </p:sp>
      <p:sp>
        <p:nvSpPr>
          <p:cNvPr id="27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E796C6A6-D371-9158-CEF6-3E2C1DD2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3376" y="4650025"/>
            <a:ext cx="1320210" cy="288118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기호 및 변수 정의</a:t>
            </a:r>
          </a:p>
        </p:txBody>
      </p:sp>
    </p:spTree>
    <p:extLst>
      <p:ext uri="{BB962C8B-B14F-4D97-AF65-F5344CB8AC3E}">
        <p14:creationId xmlns:p14="http://schemas.microsoft.com/office/powerpoint/2010/main" val="16985893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EFE97B2C-1802-3CC5-B27F-EB53123C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단일 이미지 추론 결과 및 판단 전환 기록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8D7745E4-84E7-C9EA-D897-F9B49C92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03 · LABEL-FREE RUNTIME · tiger_10406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82C59C46-9D26-C495-E1C6-8DF34189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392EA90E-4219-0B87-83F2-8E36272B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0AD411F-903C-84FA-6EDA-87173A5C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12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2402E3A3-1595-55CF-3E6C-E5BB2C79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7FAB6397-4387-BE8C-FD00-C952CCC7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9256B2"/>
                </a:solidFill>
              </a:defRPr>
            </a:pP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06 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전환 승인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실제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LABEL-FREE TRACE</a:t>
            </a:r>
          </a:p>
        </p:txBody>
      </p:sp>
      <p:pic>
        <p:nvPicPr>
          <p:cNvPr id="17" name="그림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aa8c82a1240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30" y="1711985"/>
            <a:ext cx="10813145" cy="43774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0031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1CF8BD6F-187E-3E14-563E-8A503832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재관측 후보와 전환 근거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927DDE26-F066-7B27-880B-3EC5B52C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03 · DECISION EVIDENCE · tiger_10406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C545CB6-9FEB-3E6C-CA1D-1351BC95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678098A8-88B6-B8F2-A13D-04AA367D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B6D167B1-920A-62DF-C7F4-48D08D4E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13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43205C0A-97EE-EAEC-21AF-47432B0E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01B87EC1-036E-5F3B-8839-46E47548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9256B2"/>
                </a:solidFill>
              </a:defRPr>
            </a:pP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06 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전환 승인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후보 비교와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UTILITY</a:t>
            </a:r>
          </a:p>
        </p:txBody>
      </p:sp>
      <p:sp>
        <p:nvSpPr>
          <p:cNvPr id="9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4A0B9BC5-0846-C8A4-5EE0-AA86376C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7635"/>
            <a:ext cx="2000250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Gate </a:t>
            </a: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상태</a:t>
            </a:r>
          </a:p>
        </p:txBody>
      </p:sp>
      <p:pic>
        <p:nvPicPr>
          <p:cNvPr id="19" name="그림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415d6aa324a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30" y="2590815"/>
            <a:ext cx="10370457" cy="28084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825571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C26DA87C-C153-1161-A977-B7935861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재관측 후보와 전환 근거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BA93E90-ABBF-C422-292A-7F33245D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03 · DECISION EVIDENCE · tiger_10406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71B95FF-F069-3390-2F7E-77B7EC90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70B7531-19E8-1ECC-BAFC-29091F77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B5D15B5-1808-8406-3554-3791E9C6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14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C7C07372-16AA-1030-D768-E51E5F99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513B67EE-6876-81A9-3142-6E7BD964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9256B2"/>
                </a:solidFill>
              </a:defRPr>
            </a:pP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06 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전환 승인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후보 비교와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UTILITY</a:t>
            </a:r>
          </a:p>
        </p:txBody>
      </p:sp>
      <p:sp>
        <p:nvSpPr>
          <p:cNvPr id="9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59042A04-9B37-E43E-8883-85D6E081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7052"/>
            <a:ext cx="2000250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후보별 비교</a:t>
            </a:r>
          </a:p>
        </p:txBody>
      </p:sp>
      <p:sp>
        <p:nvSpPr>
          <p:cNvPr id="10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FCF03D65-ABB9-3483-7B9F-194D09E9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396" cy="796469"/>
          </a:xfrm>
          <a:custGeom xmlns:a="http://schemas.openxmlformats.org/drawingml/2006/main">
            <a:avLst>
              <a:gd name="f0" fmla="val 7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1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62FBD2B5-5648-9465-48EC-C741C38E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3" y="5646959"/>
            <a:ext cx="10401300" cy="481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Fine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은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tiger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를 유지했지만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Parent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는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dog_like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에 끌렸다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. fine_context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재관측에서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candidate validity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가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0.8396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으로 상승해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Parent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전환이 승인되었다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marL="0" marR="0"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Local interactive demo ·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실행 방법 및 필요 아티팩트는 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GitHub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저장소의  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README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참조</a:t>
            </a:r>
          </a:p>
        </p:txBody>
      </p:sp>
      <p:pic>
        <p:nvPicPr>
          <p:cNvPr id="27" name="그림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4fc34c15d43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0684" y="1799932"/>
            <a:ext cx="7750628" cy="17631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8" name="그림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e74d909f146af"/>
          <a:srcRect xmlns:a="http://schemas.openxmlformats.org/drawingml/2006/main" l="0" t="0" r="16564" b="6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0684" y="3692082"/>
            <a:ext cx="7750628" cy="17598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DD3EBA64-F4EA-58E2-8BF6-17F9D648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060" y="3691158"/>
            <a:ext cx="1528538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Top-3 </a:t>
            </a: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예측</a:t>
            </a:r>
          </a:p>
        </p:txBody>
      </p:sp>
    </p:spTree>
    <p:extLst>
      <p:ext uri="{BB962C8B-B14F-4D97-AF65-F5344CB8AC3E}">
        <p14:creationId xmlns:p14="http://schemas.microsoft.com/office/powerpoint/2010/main" val="3501473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2499839D-11A2-0E1E-02A5-EFDE0A6F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10-Class 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평가 결과 및 전환 감사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52A3055C-6202-F216-EB31-89C3F60B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03 · RESNET18 · 10-CLASS TEST · N=1,000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3962B532-D7AD-85FC-58CD-EE44D59F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9C6ABAE-6A30-1F5E-967D-FCBB7F48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ED0F7C59-3ACA-AB54-EF79-157157A3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15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DBD8C800-4FDA-D605-1CB7-B673F417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E4B94F73-00F8-ABB5-A9E4-290FFA1D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9256B2"/>
                </a:solidFill>
              </a:defRPr>
            </a:pP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06 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전환 결과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FIXED / BROKEN AUDIT</a:t>
            </a:r>
          </a:p>
        </p:txBody>
      </p:sp>
      <p:sp>
        <p:nvSpPr>
          <p:cNvPr id="9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4CF1BEB7-1671-28E0-D2A6-24C49310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3"/>
            <a:ext cx="1619246" cy="1123953"/>
          </a:xfrm>
          <a:custGeom xmlns:a="http://schemas.openxmlformats.org/drawingml/2006/main">
            <a:avLst>
              <a:gd name="f0" fmla="val 146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EA717D27-EFD8-361D-ED53-6CB8E694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296"/>
            <a:ext cx="1276346" cy="381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 i="0" u="none" cap="none">
                <a:solidFill>
                  <a:srgbClr val="101827"/>
                </a:solidFill>
              </a:defRPr>
            </a:pPr>
            <a:r>
              <a:rPr sz="22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1,000</a:t>
            </a:r>
          </a:p>
        </p:txBody>
      </p:sp>
      <p:sp>
        <p:nvSpPr>
          <p:cNvPr id="11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EFE490B1-12D9-BBBF-0A3B-6317BD31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3"/>
            <a:ext cx="12763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입력</a:t>
            </a:r>
          </a:p>
        </p:txBody>
      </p:sp>
      <p:sp>
        <p:nvSpPr>
          <p:cNvPr id="12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F2F905E5-9669-FEA8-51EC-E1D10485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809753"/>
            <a:ext cx="1619246" cy="1123953"/>
          </a:xfrm>
          <a:custGeom xmlns:a="http://schemas.openxmlformats.org/drawingml/2006/main">
            <a:avLst>
              <a:gd name="f0" fmla="val 146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3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BEB63A69-B50F-6F9C-36A7-8D2A7FC0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19296"/>
            <a:ext cx="1276346" cy="381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 i="0" u="none" cap="none">
                <a:solidFill>
                  <a:srgbClr val="101827"/>
                </a:solidFill>
              </a:defRPr>
            </a:pPr>
            <a:r>
              <a:rPr sz="22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103</a:t>
            </a:r>
          </a:p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E6A72D5B-BCF3-FBCE-7518-D0B0745E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95553"/>
            <a:ext cx="12763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cxnSp>
        <p:nvCxnSpPr>
          <p:cNvPr id="60" name="직선 화살표 연결선 58"/>
          <p:cNvCxnSpPr>
            <a:stCxn xmlns:a="http://schemas.openxmlformats.org/drawingml/2006/main" id="9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>
            <a:off x="2305046" y="2371730"/>
            <a:ext cx="523879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sp>
        <p:nvSpPr>
          <p:cNvPr id="16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18BAB9C3-C44A-B946-873F-BDC70F5D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3"/>
            <a:ext cx="1619246" cy="1123953"/>
          </a:xfrm>
          <a:custGeom xmlns:a="http://schemas.openxmlformats.org/drawingml/2006/main">
            <a:avLst>
              <a:gd name="f0" fmla="val 146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2150084D-C19B-B999-6433-5EE8114F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499" y="2019296"/>
            <a:ext cx="1276346" cy="381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 i="0" u="none" cap="none">
                <a:solidFill>
                  <a:srgbClr val="101827"/>
                </a:solidFill>
              </a:defRPr>
            </a:pPr>
            <a:r>
              <a:rPr sz="22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  <p:sp>
        <p:nvSpPr>
          <p:cNvPr id="18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5E6F3BD0-36E0-6F52-13D3-66FEFDE2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499" y="2495553"/>
            <a:ext cx="12763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탐지한 오답</a:t>
            </a:r>
          </a:p>
        </p:txBody>
      </p:sp>
      <p:cxnSp>
        <p:nvCxnSpPr>
          <p:cNvPr id="64" name="직선 화살표 연결선 62"/>
          <p:cNvCxnSpPr>
            <a:stCxn xmlns:a="http://schemas.openxmlformats.org/drawingml/2006/main" id="12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>
            <a:off x="4448171" y="2371730"/>
            <a:ext cx="523879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sp>
        <p:nvSpPr>
          <p:cNvPr id="20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552BF0F8-27EB-0158-3AA7-1743EAEB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09753"/>
            <a:ext cx="1619246" cy="1123953"/>
          </a:xfrm>
          <a:custGeom xmlns:a="http://schemas.openxmlformats.org/drawingml/2006/main">
            <a:avLst>
              <a:gd name="f0" fmla="val 146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1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C4568EFF-53DD-6B30-8273-03BC3121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19296"/>
            <a:ext cx="1276346" cy="381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 i="0" u="none" cap="none">
                <a:solidFill>
                  <a:srgbClr val="101827"/>
                </a:solidFill>
              </a:defRPr>
            </a:pPr>
            <a:r>
              <a:rPr sz="22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  <p:sp>
        <p:nvSpPr>
          <p:cNvPr id="22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B8846C69-C949-7259-03F7-2C6FC038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95553"/>
            <a:ext cx="12763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정답 후보 존재</a:t>
            </a:r>
          </a:p>
        </p:txBody>
      </p:sp>
      <p:cxnSp>
        <p:nvCxnSpPr>
          <p:cNvPr id="68" name="직선 화살표 연결선 66"/>
          <p:cNvCxnSpPr>
            <a:stCxn xmlns:a="http://schemas.openxmlformats.org/drawingml/2006/main" id="16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>
            <a:off x="6591296" y="2371730"/>
            <a:ext cx="523879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sp>
        <p:nvSpPr>
          <p:cNvPr id="24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463AAFB1-E83C-DF78-CB52-FC09007B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3"/>
            <a:ext cx="1619246" cy="1123953"/>
          </a:xfrm>
          <a:custGeom xmlns:a="http://schemas.openxmlformats.org/drawingml/2006/main">
            <a:avLst>
              <a:gd name="f0" fmla="val 146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1F8F1"/>
          </a:solidFill>
          <a:ln xmlns:a="http://schemas.openxmlformats.org/drawingml/2006/main" w="11430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5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4DA8EF3F-3A59-7598-93B0-450DA9B0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19296"/>
            <a:ext cx="1276346" cy="381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 i="0" u="none" cap="none">
                <a:solidFill>
                  <a:srgbClr val="4F9D55"/>
                </a:solidFill>
              </a:defRPr>
            </a:pPr>
            <a:r>
              <a:rPr sz="2250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26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57EB8EED-6A62-ECA1-62F0-C325C2D4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95553"/>
            <a:ext cx="12763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fixed</a:t>
            </a:r>
          </a:p>
        </p:txBody>
      </p:sp>
      <p:cxnSp>
        <p:nvCxnSpPr>
          <p:cNvPr id="72" name="직선 화살표 연결선 70"/>
          <p:cNvCxnSpPr>
            <a:stCxn xmlns:a="http://schemas.openxmlformats.org/drawingml/2006/main" id="20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>
            <a:off x="8734421" y="2371730"/>
            <a:ext cx="523879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sp>
        <p:nvSpPr>
          <p:cNvPr id="28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6C03D7DD-564F-DD2C-DA06-ACABAB06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8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 i="0" u="none" cap="none">
                <a:solidFill>
                  <a:srgbClr val="101827"/>
                </a:solidFill>
              </a:defRPr>
            </a:pPr>
            <a:r>
              <a:rPr sz="16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정확도</a:t>
            </a:r>
          </a:p>
        </p:txBody>
      </p:sp>
      <p:sp>
        <p:nvSpPr>
          <p:cNvPr id="29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D503FF7B-CDD8-81C6-3F21-3F6825FD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49"/>
            <a:ext cx="238125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u="none" cap="none">
                <a:solidFill>
                  <a:srgbClr val="101827"/>
                </a:solidFill>
              </a:defRPr>
            </a:pPr>
            <a:r>
              <a:rPr sz="10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Metric</a:t>
            </a:r>
          </a:p>
        </p:txBody>
      </p:sp>
      <p:sp>
        <p:nvSpPr>
          <p:cNvPr id="30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AB3AF8C7-05B1-EC00-C0B6-155EEA43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49" y="4171949"/>
            <a:ext cx="123825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u="none" cap="none">
                <a:solidFill>
                  <a:srgbClr val="101827"/>
                </a:solidFill>
              </a:defRPr>
            </a:pPr>
            <a:r>
              <a:rPr sz="10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Base</a:t>
            </a:r>
          </a:p>
        </p:txBody>
      </p:sp>
      <p:sp>
        <p:nvSpPr>
          <p:cNvPr id="31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4874F8AB-CF40-AB22-404A-9345067F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71949"/>
            <a:ext cx="123825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u="none" cap="none">
                <a:solidFill>
                  <a:srgbClr val="101827"/>
                </a:solidFill>
              </a:defRPr>
            </a:pPr>
            <a:r>
              <a:rPr sz="10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Final</a:t>
            </a:r>
          </a:p>
        </p:txBody>
      </p:sp>
      <p:sp>
        <p:nvSpPr>
          <p:cNvPr id="32" name="직선 연결선 30">
            <a:extLst xmlns:a="http://schemas.openxmlformats.org/drawingml/2006/main">
              <a:ext uri="{FF2B5EF4-FFF2-40B4-BE49-F238E27FC236}">
                <a16:creationId xmlns:a16="http://schemas.microsoft.com/office/drawing/2014/main" id="{61D042D9-F528-3214-4C39-5066D720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3"/>
            <a:ext cx="6000749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3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E9449970-159C-2D28-C6C1-703E1ABF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Parent</a:t>
            </a:r>
          </a:p>
        </p:txBody>
      </p:sp>
      <p:sp>
        <p:nvSpPr>
          <p:cNvPr id="34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8E885052-9110-25D7-5BA7-69FCC7D6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49" y="4572000"/>
            <a:ext cx="1238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95.9%</a:t>
            </a:r>
          </a:p>
        </p:txBody>
      </p:sp>
      <p:sp>
        <p:nvSpPr>
          <p:cNvPr id="35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807FEC37-0B36-4DE0-D519-6F46CC32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1238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98.0%</a:t>
            </a:r>
          </a:p>
        </p:txBody>
      </p:sp>
      <p:sp>
        <p:nvSpPr>
          <p:cNvPr id="36" name="직선 연결선 34">
            <a:extLst xmlns:a="http://schemas.openxmlformats.org/drawingml/2006/main">
              <a:ext uri="{FF2B5EF4-FFF2-40B4-BE49-F238E27FC236}">
                <a16:creationId xmlns:a16="http://schemas.microsoft.com/office/drawing/2014/main" id="{5A465942-5464-4D66-5789-D3FFAD45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3"/>
            <a:ext cx="6000749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37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0B4DD06C-E5CF-0AB2-BA79-6A1FFD8B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Fine</a:t>
            </a:r>
          </a:p>
        </p:txBody>
      </p:sp>
      <p:sp>
        <p:nvSpPr>
          <p:cNvPr id="38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9BABFDFB-531D-9103-8E24-0B93FCCA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49" y="4972050"/>
            <a:ext cx="1238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93.8%</a:t>
            </a:r>
          </a:p>
        </p:txBody>
      </p:sp>
      <p:sp>
        <p:nvSpPr>
          <p:cNvPr id="39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29A0137A-960C-CD95-715A-AABD761E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72050"/>
            <a:ext cx="1238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96.0%</a:t>
            </a:r>
          </a:p>
        </p:txBody>
      </p:sp>
      <p:sp>
        <p:nvSpPr>
          <p:cNvPr id="40" name="직선 연결선 38">
            <a:extLst xmlns:a="http://schemas.openxmlformats.org/drawingml/2006/main">
              <a:ext uri="{FF2B5EF4-FFF2-40B4-BE49-F238E27FC236}">
                <a16:creationId xmlns:a16="http://schemas.microsoft.com/office/drawing/2014/main" id="{145B019F-A14C-A7E2-7CB8-02257328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3"/>
            <a:ext cx="6000749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1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F301876E-14D4-99A1-90BF-5D8B3635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Parent + Fine</a:t>
            </a:r>
          </a:p>
        </p:txBody>
      </p:sp>
      <p:sp>
        <p:nvSpPr>
          <p:cNvPr id="42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F4206D2B-FAB5-3423-EB57-39AE5715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49" y="5372100"/>
            <a:ext cx="1238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92.2%</a:t>
            </a:r>
          </a:p>
        </p:txBody>
      </p:sp>
      <p:sp>
        <p:nvSpPr>
          <p:cNvPr id="43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821E674D-9B73-3682-614D-3070A345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72100"/>
            <a:ext cx="1238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96.0%</a:t>
            </a:r>
          </a:p>
        </p:txBody>
      </p:sp>
      <p:sp>
        <p:nvSpPr>
          <p:cNvPr id="44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22E4550E-4F35-3DC7-8423-6718F138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3" y="3714749"/>
            <a:ext cx="3762371" cy="1714500"/>
          </a:xfrm>
          <a:custGeom xmlns:a="http://schemas.openxmlformats.org/drawingml/2006/main">
            <a:avLst>
              <a:gd name="f0" fmla="val 7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45" name="직사각형 43">
            <a:extLst xmlns:a="http://schemas.openxmlformats.org/drawingml/2006/main">
              <a:ext uri="{FF2B5EF4-FFF2-40B4-BE49-F238E27FC236}">
                <a16:creationId xmlns:a16="http://schemas.microsoft.com/office/drawing/2014/main" id="{76C508E6-7CF8-CFC0-7288-C7652444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95728"/>
            <a:ext cx="3381378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Transition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감사</a:t>
            </a:r>
          </a:p>
        </p:txBody>
      </p:sp>
      <p:sp>
        <p:nvSpPr>
          <p:cNvPr id="46" name="직사각형 44">
            <a:extLst xmlns:a="http://schemas.openxmlformats.org/drawingml/2006/main">
              <a:ext uri="{FF2B5EF4-FFF2-40B4-BE49-F238E27FC236}">
                <a16:creationId xmlns:a16="http://schemas.microsoft.com/office/drawing/2014/main" id="{77CB5FEB-F829-C1B1-2AA0-4582A11E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57675"/>
            <a:ext cx="3381378" cy="1066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switch 50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fixed 40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broken 2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wrong→wrong 8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최종 정답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+38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장</a:t>
            </a:r>
          </a:p>
        </p:txBody>
      </p:sp>
    </p:spTree>
    <p:extLst>
      <p:ext uri="{BB962C8B-B14F-4D97-AF65-F5344CB8AC3E}">
        <p14:creationId xmlns:p14="http://schemas.microsoft.com/office/powerpoint/2010/main" val="19348231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31498526-FBD1-7DF9-F75F-EF5B1517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라벨 비의존 실행 및 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Backbone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별 결과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E30CFA31-CE91-1C6E-E49B-2D3E0BA6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03 · DEPLOYMENT CONTRACT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C36B25CA-B22A-BA72-7028-FB06DAC3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BE410AAE-FD8A-F60B-7EC9-E60BF80C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9AAC284-3E30-7D90-DD66-01C7B842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16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6A19CCA3-1A81-6356-8E14-17F7031E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8A94A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99DFDC65-6B16-00E0-639F-2D191916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8A94A3"/>
                </a:solidFill>
              </a:defRPr>
            </a:pPr>
            <a:r>
              <a:rPr sz="825" b="1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물리적으로 분리된 </a:t>
            </a:r>
            <a:r>
              <a:rPr sz="825" b="1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LABEL-FREE AUDIT</a:t>
            </a:r>
          </a:p>
        </p:txBody>
      </p:sp>
      <p:sp>
        <p:nvSpPr>
          <p:cNvPr id="9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B867A88A-0AC1-E346-CA24-3CBBB16B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3"/>
            <a:ext cx="2238378" cy="1047746"/>
          </a:xfrm>
          <a:custGeom xmlns:a="http://schemas.openxmlformats.org/drawingml/2006/main">
            <a:avLst>
              <a:gd name="f0" fmla="val 117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타원 8">
            <a:extLst xmlns:a="http://schemas.openxmlformats.org/drawingml/2006/main">
              <a:ext uri="{FF2B5EF4-FFF2-40B4-BE49-F238E27FC236}">
                <a16:creationId xmlns:a16="http://schemas.microsoft.com/office/drawing/2014/main" id="{0715E63E-0CAC-1D71-B78D-55DE9C99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3"/>
            <a:ext cx="285750" cy="285750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E9EDF3"/>
          </a:solidFill>
          <a:ln xmlns:a="http://schemas.openxmlformats.org/drawingml/2006/main" w="11430">
            <a:solidFill>
              <a:srgbClr val="E9EDF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1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4ABB096A-5303-5E48-6644-DA87DA79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101827"/>
                </a:solidFill>
              </a:defRPr>
            </a:pPr>
            <a:r>
              <a:rPr sz="8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399E18FB-BC4F-FF90-E0AC-A455BF66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90721"/>
            <a:ext cx="1495428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3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A1E9CD06-28E1-EFE7-8DA7-1BC14D10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96" y="2352678"/>
            <a:ext cx="185737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label/truth keys: 0</a:t>
            </a:r>
          </a:p>
        </p:txBody>
      </p:sp>
      <p:sp>
        <p:nvSpPr>
          <p:cNvPr id="14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C0152A13-F37F-1681-4D63-1372C024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809753"/>
            <a:ext cx="2238378" cy="1047746"/>
          </a:xfrm>
          <a:custGeom xmlns:a="http://schemas.openxmlformats.org/drawingml/2006/main">
            <a:avLst>
              <a:gd name="f0" fmla="val 117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5" name="타원 13">
            <a:extLst xmlns:a="http://schemas.openxmlformats.org/drawingml/2006/main">
              <a:ext uri="{FF2B5EF4-FFF2-40B4-BE49-F238E27FC236}">
                <a16:creationId xmlns:a16="http://schemas.microsoft.com/office/drawing/2014/main" id="{0162E9EE-752B-AA9F-441E-7D940563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81203"/>
            <a:ext cx="285750" cy="285750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E9EDF3"/>
          </a:solidFill>
          <a:ln xmlns:a="http://schemas.openxmlformats.org/drawingml/2006/main" w="11430">
            <a:solidFill>
              <a:srgbClr val="E9EDF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6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73FBC7BB-CEC5-350A-2F40-0D825987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28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101827"/>
                </a:solidFill>
              </a:defRPr>
            </a:pPr>
            <a:r>
              <a:rPr sz="8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DF588E7C-B9A6-4355-F86E-A1D4401B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990721"/>
            <a:ext cx="1495428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Runtime</a:t>
            </a:r>
          </a:p>
        </p:txBody>
      </p:sp>
      <p:sp>
        <p:nvSpPr>
          <p:cNvPr id="18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B0965297-C570-A670-105D-C392F396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1" y="2352678"/>
            <a:ext cx="185737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REVIEW 103</a:t>
            </a:r>
          </a:p>
        </p:txBody>
      </p:sp>
      <p:sp>
        <p:nvSpPr>
          <p:cNvPr id="19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E6B3FC97-59E6-ABF5-78FE-EF2E30DB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49" y="1809753"/>
            <a:ext cx="2238378" cy="1047746"/>
          </a:xfrm>
          <a:custGeom xmlns:a="http://schemas.openxmlformats.org/drawingml/2006/main">
            <a:avLst>
              <a:gd name="f0" fmla="val 117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0" name="타원 18">
            <a:extLst xmlns:a="http://schemas.openxmlformats.org/drawingml/2006/main">
              <a:ext uri="{FF2B5EF4-FFF2-40B4-BE49-F238E27FC236}">
                <a16:creationId xmlns:a16="http://schemas.microsoft.com/office/drawing/2014/main" id="{CD6C9C56-0B28-4FC5-6B50-AF41DBD2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3"/>
            <a:ext cx="285750" cy="285750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E9EDF3"/>
          </a:solidFill>
          <a:ln xmlns:a="http://schemas.openxmlformats.org/drawingml/2006/main" w="11430">
            <a:solidFill>
              <a:srgbClr val="E9EDF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1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EEFB3161-3324-5C46-3484-10DEBC77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28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101827"/>
                </a:solidFill>
              </a:defRPr>
            </a:pPr>
            <a:r>
              <a:rPr sz="8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545B9640-483A-6587-4D3E-3DDDCB61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90721"/>
            <a:ext cx="1495428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Correction</a:t>
            </a:r>
          </a:p>
        </p:txBody>
      </p:sp>
      <p:sp>
        <p:nvSpPr>
          <p:cNvPr id="23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7E6E2329-186B-19D4-FDE3-CD84B4D7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46" y="2352678"/>
            <a:ext cx="185737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SWITCH 50</a:t>
            </a:r>
          </a:p>
        </p:txBody>
      </p:sp>
      <p:sp>
        <p:nvSpPr>
          <p:cNvPr id="24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EC3BA9C1-A188-7A2F-67DE-E6C497FA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09753"/>
            <a:ext cx="2238378" cy="1047746"/>
          </a:xfrm>
          <a:custGeom xmlns:a="http://schemas.openxmlformats.org/drawingml/2006/main">
            <a:avLst>
              <a:gd name="f0" fmla="val 117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5" name="타원 23">
            <a:extLst xmlns:a="http://schemas.openxmlformats.org/drawingml/2006/main">
              <a:ext uri="{FF2B5EF4-FFF2-40B4-BE49-F238E27FC236}">
                <a16:creationId xmlns:a16="http://schemas.microsoft.com/office/drawing/2014/main" id="{BF05334C-D6D4-818E-B10D-2D8BAF64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4" y="1981203"/>
            <a:ext cx="285750" cy="285750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E9EDF3"/>
          </a:solidFill>
          <a:ln xmlns:a="http://schemas.openxmlformats.org/drawingml/2006/main" w="11430">
            <a:solidFill>
              <a:srgbClr val="E9EDF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6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64FCB6CA-E109-2569-589E-C132C7EA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4" y="2028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101827"/>
                </a:solidFill>
              </a:defRPr>
            </a:pPr>
            <a:r>
              <a:rPr sz="8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7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02AFA34A-B134-74C7-F817-CAC751C6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990721"/>
            <a:ext cx="1495428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Audit</a:t>
            </a:r>
          </a:p>
        </p:txBody>
      </p:sp>
      <p:sp>
        <p:nvSpPr>
          <p:cNvPr id="28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DF772541-6376-1027-2350-953C18FE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1" y="2352678"/>
            <a:ext cx="185737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기존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decision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과 완전 일치</a:t>
            </a:r>
          </a:p>
        </p:txBody>
      </p:sp>
      <p:cxnSp>
        <p:nvCxnSpPr>
          <p:cNvPr id="67" name="직선 화살표 연결선 65"/>
          <p:cNvCxnSpPr>
            <a:stCxn xmlns:a="http://schemas.openxmlformats.org/drawingml/2006/main" id="9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>
            <a:off x="2924178" y="2333626"/>
            <a:ext cx="533397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cxnSp>
        <p:nvCxnSpPr>
          <p:cNvPr id="68" name="직선 화살표 연결선 66"/>
          <p:cNvCxnSpPr>
            <a:stCxn xmlns:a="http://schemas.openxmlformats.org/drawingml/2006/main" id="14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>
            <a:off x="5695953" y="2333626"/>
            <a:ext cx="533396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cxnSp>
        <p:nvCxnSpPr>
          <p:cNvPr id="69" name="직선 화살표 연결선 67"/>
          <p:cNvCxnSpPr>
            <a:stCxn xmlns:a="http://schemas.openxmlformats.org/drawingml/2006/main" id="19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>
            <a:off x="8467727" y="2333626"/>
            <a:ext cx="533398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sp>
        <p:nvSpPr>
          <p:cNvPr id="32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8294D90F-DE35-257C-3233-82FC51AB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2308"/>
            <a:ext cx="4998357" cy="307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1" i="0" u="none" cap="none">
                <a:solidFill>
                  <a:srgbClr val="101827"/>
                </a:solidFill>
              </a:defRPr>
            </a:pPr>
            <a:r>
              <a:rPr sz="17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Backbone</a:t>
            </a:r>
            <a:r>
              <a:rPr sz="17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별 개선 범위 </a:t>
            </a:r>
            <a:r>
              <a:rPr sz="17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| </a:t>
            </a:r>
            <a:r>
              <a:rPr sz="1300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동일 </a:t>
            </a:r>
            <a:r>
              <a:rPr sz="1300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10-</a:t>
            </a:r>
            <a:r>
              <a:rPr sz="1300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class TEST 1,000</a:t>
            </a:r>
            <a:r>
              <a:rPr sz="1300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장 기준</a:t>
            </a:r>
          </a:p>
        </p:txBody>
      </p:sp>
      <p:sp>
        <p:nvSpPr>
          <p:cNvPr id="33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F4807520-8C55-029D-8925-D3250557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3"/>
            <a:ext cx="16192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1" i="0" u="none" cap="none">
                <a:solidFill>
                  <a:srgbClr val="101827"/>
                </a:solidFill>
              </a:defRPr>
            </a:pPr>
            <a:r>
              <a:rPr sz="127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ResNet18</a:t>
            </a:r>
          </a:p>
        </p:txBody>
      </p:sp>
      <p:sp>
        <p:nvSpPr>
          <p:cNvPr id="34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4CFAE658-9368-4CB6-DA1A-8CAB1D35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3" y="4095753"/>
            <a:ext cx="209550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92.2% → 96.0%</a:t>
            </a:r>
          </a:p>
        </p:txBody>
      </p:sp>
      <p:sp>
        <p:nvSpPr>
          <p:cNvPr id="35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F41C754F-AF6A-503F-A216-458E5085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3"/>
            <a:ext cx="2286000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5D6675"/>
                </a:solidFill>
              </a:defRPr>
            </a:pPr>
            <a:r>
              <a:rPr sz="12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40 fixed / 2 broken</a:t>
            </a:r>
          </a:p>
        </p:txBody>
      </p:sp>
      <p:sp>
        <p:nvSpPr>
          <p:cNvPr id="36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EBDD16DB-6188-FE57-CED3-E3338818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1"/>
            <a:ext cx="16192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1" i="0" u="none" cap="none">
                <a:solidFill>
                  <a:srgbClr val="101827"/>
                </a:solidFill>
              </a:defRPr>
            </a:pPr>
            <a:r>
              <a:rPr sz="127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DINOv2</a:t>
            </a:r>
          </a:p>
        </p:txBody>
      </p:sp>
      <p:sp>
        <p:nvSpPr>
          <p:cNvPr id="37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F180A860-76D6-31B7-25AB-CD9B2AFD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3" y="4619621"/>
            <a:ext cx="209550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98.4% → 98.7%</a:t>
            </a:r>
          </a:p>
        </p:txBody>
      </p:sp>
      <p:sp>
        <p:nvSpPr>
          <p:cNvPr id="38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60D83EE9-3665-CD9F-00DF-B4E41A8E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619621"/>
            <a:ext cx="2286000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5D6675"/>
                </a:solidFill>
              </a:defRPr>
            </a:pPr>
            <a:r>
              <a:rPr sz="12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3 fixed / 0 broken</a:t>
            </a:r>
          </a:p>
        </p:txBody>
      </p:sp>
      <p:sp>
        <p:nvSpPr>
          <p:cNvPr id="39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93831066-0502-BACD-0AE3-48FF7886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1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Judgment layer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는 작은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Backbone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에는 큰 복구 여지를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강한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Backbone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에는 보수적인 추가 이득을 제공한다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42766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9C8CDE3F-265A-4FC3-3E72-DA1A6414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구현 및 검증 결과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한계 및 개선 방향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DD360E76-B3AA-C741-CEF6-3641E49D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04 · RESULTS &amp; NEXT STEPS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64509A5A-18D2-B59C-633F-151CBF6D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35189A52-FFF3-10A0-2163-F730BD58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378B775-EA1D-AD74-3794-1858B3D7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17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E9EB7738-70D5-DA2B-50CB-B0832E27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8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718F5FA1-D8AF-080A-AB9E-2DF9445C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8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9" name="직선 연결선 7">
            <a:extLst xmlns:a="http://schemas.openxmlformats.org/drawingml/2006/main">
              <a:ext uri="{FF2B5EF4-FFF2-40B4-BE49-F238E27FC236}">
                <a16:creationId xmlns:a16="http://schemas.microsoft.com/office/drawing/2014/main" id="{A172C832-AE41-EC37-6F2E-0CF8D258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46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C7921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0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469A26AA-88A3-263E-00AA-64DB4BBB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1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4D5C8465-97A1-2D10-BCB1-A784E04C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3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2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535A70BB-CFBB-D6B7-239D-1D28CD18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1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3" name="직선 연결선 11">
            <a:extLst xmlns:a="http://schemas.openxmlformats.org/drawingml/2006/main">
              <a:ext uri="{FF2B5EF4-FFF2-40B4-BE49-F238E27FC236}">
                <a16:creationId xmlns:a16="http://schemas.microsoft.com/office/drawing/2014/main" id="{F02457EA-2353-DE0A-4111-548EDE3A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49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8A94A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63DA0C40-F897-893E-2A68-982D0AF2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000500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5D6675"/>
                </a:solidFill>
              </a:defRPr>
            </a:pPr>
            <a:r>
              <a:rPr sz="800" b="1" i="0" u="none" cap="none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구현</a:t>
            </a:r>
            <a:r>
              <a:rPr sz="800" b="1" i="0" u="none" cap="none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00" b="1" i="0" u="none" cap="none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결과</a:t>
            </a:r>
            <a:r>
              <a:rPr sz="800" b="1" i="0" u="none" cap="none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 · </a:t>
            </a:r>
            <a:r>
              <a:rPr sz="800" b="1" i="0" u="none" cap="none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확인된</a:t>
            </a:r>
            <a:r>
              <a:rPr sz="800" b="1" i="0" u="none" cap="none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 한계 · </a:t>
            </a:r>
            <a:r>
              <a:rPr sz="800" b="1" i="0" u="none" cap="none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향후</a:t>
            </a:r>
            <a:r>
              <a:rPr sz="800" b="1" i="0" u="none" cap="none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 개선 방향</a:t>
            </a:r>
          </a:p>
        </p:txBody>
      </p:sp>
      <p:sp>
        <p:nvSpPr>
          <p:cNvPr id="15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09A9C95F-49D4-116E-9FCB-455C791F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3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 i="0" u="none" cap="none">
                <a:solidFill>
                  <a:srgbClr val="4F9D55"/>
                </a:solidFill>
              </a:defRPr>
            </a:pPr>
            <a:r>
              <a:rPr sz="1650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구현 결과</a:t>
            </a:r>
          </a:p>
        </p:txBody>
      </p:sp>
      <p:sp>
        <p:nvSpPr>
          <p:cNvPr id="16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B1C2FF2D-74B4-3774-99BE-E183B53D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8"/>
            <a:ext cx="3286125" cy="18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• Backbone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공통 출력 계약과 재사용 가능한 추론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stack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• Parent/Fine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독립 증거와 선택적 재관측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• OOF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위험 감지와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utility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기반 전환 승인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• label-free runtime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과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truth audit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의 물리적 분리</a:t>
            </a:r>
          </a:p>
        </p:txBody>
      </p:sp>
      <p:sp>
        <p:nvSpPr>
          <p:cNvPr id="17" name="직선 연결선 15">
            <a:extLst xmlns:a="http://schemas.openxmlformats.org/drawingml/2006/main">
              <a:ext uri="{FF2B5EF4-FFF2-40B4-BE49-F238E27FC236}">
                <a16:creationId xmlns:a16="http://schemas.microsoft.com/office/drawing/2014/main" id="{D633BB16-93FD-4318-7640-70C8AF8E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49" y="1771649"/>
            <a:ext cx="0" cy="314325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8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A9D087BF-CC26-0C8C-322C-09B82769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3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 i="0" u="none" cap="none">
                <a:solidFill>
                  <a:srgbClr val="C84C4C"/>
                </a:solidFill>
              </a:defRPr>
            </a:pPr>
            <a:r>
              <a:rPr sz="1650" b="1" i="0" u="none" cap="none">
                <a:solidFill>
                  <a:srgbClr val="C84C4C"/>
                </a:solidFill>
                <a:latin typeface="Calibri"/>
                <a:ea typeface="Calibri"/>
                <a:cs typeface="Calibri"/>
              </a:rPr>
              <a:t>확인된 한계</a:t>
            </a:r>
          </a:p>
        </p:txBody>
      </p:sp>
      <p:sp>
        <p:nvSpPr>
          <p:cNvPr id="19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3FE80B3A-4FCB-D1D1-684C-678CA927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38378"/>
            <a:ext cx="3361782" cy="18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작은 객체와 심한 가림에서는 관측 후보 품질이 낮음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재관측 후보가 있어도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selector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가 모두 복구하지는 못함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• REVIEW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경로는 정확도와 교환되는 추가 지연을 발생시킴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• 10-class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중심 검증으로 도메인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클래스 확장 검증이 필요함</a:t>
            </a:r>
          </a:p>
        </p:txBody>
      </p:sp>
      <p:sp>
        <p:nvSpPr>
          <p:cNvPr id="20" name="직선 연결선 18">
            <a:extLst xmlns:a="http://schemas.openxmlformats.org/drawingml/2006/main">
              <a:ext uri="{FF2B5EF4-FFF2-40B4-BE49-F238E27FC236}">
                <a16:creationId xmlns:a16="http://schemas.microsoft.com/office/drawing/2014/main" id="{2C4375DF-0F20-8D4F-7833-83215179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71649"/>
            <a:ext cx="0" cy="314325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1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46B84C81-F081-0275-9CCC-A99D86A3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3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 i="0" u="none" cap="none">
                <a:solidFill>
                  <a:srgbClr val="9256B2"/>
                </a:solidFill>
              </a:defRPr>
            </a:pPr>
            <a:r>
              <a:rPr sz="1650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향후 개선 방향</a:t>
            </a:r>
          </a:p>
        </p:txBody>
      </p:sp>
      <p:sp>
        <p:nvSpPr>
          <p:cNvPr id="22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AFD32122-D41A-7F1D-6204-032F0046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38378"/>
            <a:ext cx="3162296" cy="18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객체 크기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가림 수준을 반영한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view planner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• early-exit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와 동적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REVIEW budget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으로 지연 제어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외부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/OOD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데이터 기반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calibration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및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class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확장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• API·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배치 추론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실험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manifest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를 포함한 배포 패키징</a:t>
            </a:r>
          </a:p>
        </p:txBody>
      </p:sp>
      <p:sp>
        <p:nvSpPr>
          <p:cNvPr id="23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5BC8ACB5-AD4C-97FE-FC9D-99F50C53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396" cy="742950"/>
          </a:xfrm>
          <a:custGeom xmlns:a="http://schemas.openxmlformats.org/drawingml/2006/main">
            <a:avLst>
              <a:gd name="f0" fmla="val 5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4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5495F2E5-8A4C-B558-6E65-A6E81303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44" y="5525508"/>
            <a:ext cx="1381128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1" i="0" u="none" cap="none">
                <a:solidFill>
                  <a:srgbClr val="101827"/>
                </a:solidFill>
              </a:defRPr>
            </a:pPr>
            <a:r>
              <a:rPr sz="127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핵심 과제</a:t>
            </a:r>
          </a:p>
        </p:txBody>
      </p:sp>
      <p:sp>
        <p:nvSpPr>
          <p:cNvPr id="25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92997FC9-6714-4436-337D-DDCB5D0F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549" y="5509296"/>
            <a:ext cx="8858250" cy="304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101827"/>
                </a:solidFill>
              </a:defRPr>
            </a:pPr>
            <a:r>
              <a:rPr sz="12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오답 후보를 더 많이 만드는 것보다</a:t>
            </a:r>
            <a:r>
              <a:rPr sz="12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2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제한된 연산 예산 안에서 언제 다시 보고 언제 전환할지를 안정적으로 결정하는 것</a:t>
            </a:r>
          </a:p>
        </p:txBody>
      </p:sp>
    </p:spTree>
    <p:extLst>
      <p:ext uri="{BB962C8B-B14F-4D97-AF65-F5344CB8AC3E}">
        <p14:creationId xmlns:p14="http://schemas.microsoft.com/office/powerpoint/2010/main" val="10165648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09DA32-5495-4597-BE8B-29BC9CAE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검증 설계와 누수 통제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295F5-516E-4FC0-A973-93249671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EVIDENCE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C7DB4-649C-41B8-8E5B-76EA5B67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CCA0A-D0BF-4F0B-BCD3-8AA41340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D8E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C897C-57BC-4CDE-B046-D78A2CFA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F417D-873D-4D41-8D37-844C741D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3D44C-27A2-4471-8378-DB39E316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</a:defRPr>
            </a:pPr>
            <a:r>
              <a:rPr sz="1350" b="0">
                <a:solidFill>
                  <a:srgbClr val="5D6675"/>
                </a:solidFill>
              </a:rPr>
              <a:t>모델 성능뿐 아니라 선택·전환 과정의 재현성과 서비스 가능 조건을 분리해 검증했습니다.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FB638-8259-41FE-9E16-D5183895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3431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F1BE4-7E88-43F5-B722-3564E7C4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5524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3D8EDB"/>
          </a:solidFill>
          <a:ln xmlns:a="http://schemas.openxmlformats.org/drawingml/2006/main" w="9525">
            <a:solidFill>
              <a:srgbClr val="3D8E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B9298-4D56-4621-AA44-C9C0E13D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13740-6147-47DE-87CC-3077C9F5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</a:defRPr>
            </a:pPr>
            <a:r>
              <a:rPr sz="1275" b="1">
                <a:solidFill>
                  <a:srgbClr val="101827"/>
                </a:solidFill>
              </a:rPr>
              <a:t>TRAIN / 5-Fold 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CC631-B76E-4271-BFD4-20FBEFE0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임계값·정상 상태·보정 정책 학습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6B873-B10D-41F9-9F82-0B512B0E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03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94A3"/>
                </a:solidFill>
              </a:defRPr>
            </a:pPr>
            <a:r>
              <a:rPr sz="1650" b="1">
                <a:solidFill>
                  <a:srgbClr val="8B94A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83744-956E-4622-9FB1-6855F828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14550"/>
            <a:ext cx="23431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64A05-D7DD-4B56-AECD-85C0337A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5524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EA35A"/>
          </a:solidFill>
          <a:ln xmlns:a="http://schemas.openxmlformats.org/drawingml/2006/main" w="9525">
            <a:solidFill>
              <a:srgbClr val="4EA3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7BD82-F3E1-431D-A911-29AB84FA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76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B7F72-18FC-4C0E-82B4-E18FED33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</a:defRPr>
            </a:pPr>
            <a:r>
              <a:rPr sz="1275" b="1">
                <a:solidFill>
                  <a:srgbClr val="101827"/>
                </a:solidFill>
              </a:rPr>
              <a:t>고정 TEST1000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C09C1-EB7C-4881-A42B-0B4369A6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28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동일 후보 풀·동일 백본·Fixed/Broken 감사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5DB975-AD10-4C8A-BB34-BA59C98C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03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94A3"/>
                </a:solidFill>
              </a:defRPr>
            </a:pPr>
            <a:r>
              <a:rPr sz="1650" b="1">
                <a:solidFill>
                  <a:srgbClr val="8B94A3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1C0407-8A2B-4051-BC2A-4201430F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14550"/>
            <a:ext cx="23431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BFA85A-6DFB-4F55-84AF-1344BC94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524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5A612"/>
          </a:solidFill>
          <a:ln xmlns:a="http://schemas.openxmlformats.org/drawingml/2006/main" w="9525">
            <a:solidFill>
              <a:srgbClr val="D5A61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70D6D8-0588-4E15-826A-CAEBC47D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76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139A8F-0BF5-43EE-AD05-84C2A8CF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</a:defRPr>
            </a:pPr>
            <a:r>
              <a:rPr sz="1275" b="1">
                <a:solidFill>
                  <a:srgbClr val="101827"/>
                </a:solidFill>
              </a:rPr>
              <a:t>외부 데이터 3종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BDCF22-BC94-4529-91C4-16FE92A6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HF90·AWA holdout·AWA wild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BFD2D3-18D7-4AEF-8D0D-CF5CE1CA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03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94A3"/>
                </a:solidFill>
              </a:defRPr>
            </a:pPr>
            <a:r>
              <a:rPr sz="1650" b="1">
                <a:solidFill>
                  <a:srgbClr val="8B94A3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389143-D027-4A9E-AF1A-B34FB539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3431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773DD0-264B-43CD-843D-DFEB2606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5524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9B55BD"/>
          </a:solidFill>
          <a:ln xmlns:a="http://schemas.openxmlformats.org/drawingml/2006/main" w="9525">
            <a:solidFill>
              <a:srgbClr val="9B55B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2FFB19-7412-4CC0-A097-F32A9AE7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76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A2933D-1474-42F2-95E8-71BD43A3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</a:defRPr>
            </a:pPr>
            <a:r>
              <a:rPr sz="1275" b="1">
                <a:solidFill>
                  <a:srgbClr val="101827"/>
                </a:solidFill>
              </a:rPr>
              <a:t>신규 Final Holdout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17E3E3-428F-40AB-BDA2-49F20199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Wikimedia 300장·SHA 동결·중복 제거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B4A0A0-58F4-471B-B9F5-4B336FC0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24D4D9-F6B7-477A-860D-31015333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EDB"/>
                </a:solidFill>
              </a:defRPr>
            </a:pPr>
            <a:r>
              <a:rPr sz="1350" b="1">
                <a:solidFill>
                  <a:srgbClr val="3D8EDB"/>
                </a:solidFill>
              </a:rPr>
              <a:t>검증 계약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1C4695-BE37-4F00-B185-C627ABEF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0075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TEST 라벨은 모든 런타임 결정이 끝난 뒤 감사 단계에서만 결합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TRAIN-OOF에서 임계값과 선택 정책을 고정하고 TEST에서 재조정하지 않음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Independent / Full Dual-Line 비교는 각자 서비스 가능한 임계값으로 실행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동일 백본·동일 후보 풀·동일 REVIEW 예산 비교를 별도로 수행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0DFBE-AFF6-424F-A861-5FCCEB34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43375"/>
            <a:ext cx="1809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75C017-6422-401C-95E9-82869D25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43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35A"/>
          </a:solidFill>
          <a:ln xmlns:a="http://schemas.openxmlformats.org/drawingml/2006/main" w="0">
            <a:solidFill>
              <a:srgbClr val="4EA35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1BFC09-A938-4C48-9683-B8A28B37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672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반복 학습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A50A21-17C9-4F72-A5E5-66780ADA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148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3 seeds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83E37F-E440-4E23-8FB0-70D414EB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672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310 / 311 / 312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9724E5-57C8-4801-A0AD-7334CDFF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43375"/>
            <a:ext cx="1809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7D12ED-9332-452A-A365-CEC9B199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43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5BD"/>
          </a:solidFill>
          <a:ln xmlns:a="http://schemas.openxmlformats.org/drawingml/2006/main" w="0">
            <a:solidFill>
              <a:srgbClr val="9B55B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DE87A8-ECF7-4A26-9D15-39DB2AE5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672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최종 holdout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B62FA6-AAE4-4770-9E20-7D7192FF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148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300장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A83658-07AE-4AE2-9678-37C3DB9C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672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10 classes × 30</a:t>
            </a:r>
          </a:p>
        </p:txBody>
      </p:sp>
    </p:spTree>
    <p:extLst>
      <p:ext uri="{BB962C8B-B14F-4D97-AF65-F5344CB8AC3E}">
        <p14:creationId xmlns:p14="http://schemas.microsoft.com/office/powerpoint/2010/main" val="6559354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A43F605-8FAC-410E-9A9A-0B070501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Risk와 Selector의 기여도 분해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5B620-A753-4A59-8DD0-D52C4DBA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2×2 FACTORIAL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47CAB-BF23-4B0A-977E-4B4768E0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E388C-6FC0-4ED6-9D61-18E162F2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4EA3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6D9E7-4B6B-43B3-A05C-627625E3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36209-E22F-4F89-87D0-36F4B2BD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D4317-9C3A-43C2-B408-4B499F36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5"/>
                </a:solidFill>
              </a:defRPr>
            </a:pPr>
            <a:r>
              <a:rPr sz="1275" b="0">
                <a:solidFill>
                  <a:srgbClr val="5D6675"/>
                </a:solidFill>
              </a:rPr>
              <a:t>동일 ResNet18, 동일 base prediction, 동일 7,553개 후보 풀에서 두 판단축만 교차했습니다.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6ADCB-EB8B-4072-9A12-525E4656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9D6D7-23CB-4F8E-92A1-08430A8C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120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B54CE-5B2B-4463-81FA-A450E579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61A02-49C6-4B9D-B5C3-179264B4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812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Selector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4AD87-32AF-4533-A6BC-45FCFD37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83722-3D2A-462E-A4B3-C0477B79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812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0E5DC-6384-4931-BF66-9D5FF1EA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ADC34-1695-45D4-B1A2-B52CF0ED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812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오답 밀도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23E89-0ED3-4672-9909-FE814239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0E5716-F3CB-4DB3-9EC2-E67FCF86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812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Final Joint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00CCF-97D5-4DB8-8277-DBEB1983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216D17-124B-4111-A21E-F5DBE17E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81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133DC-7238-4AD4-A8D2-C1A69DF0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52625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2D6877-FC7C-4151-83CB-8574790E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9812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Broken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3B4022-4E6A-46CC-A6B9-EB4A70C7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2171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B97B4-646F-47F1-9474-103D4511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574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Independent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B46ADF-EBC9-416B-8F38-82513D7E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9825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A179AC-DB26-4954-B586-5C1BC2E6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574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Independent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CA3A77-1D2F-4F96-8AA9-4EC42FD1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98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984E57-D33A-48C0-B4D0-F1472575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191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59E207-DBDE-4F33-B2FD-A80ECBBF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98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B430EE-1F69-4B38-90BA-72CC2EAD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36.1%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3F97EB-3828-46F4-B015-8A817A04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98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C62699-E8DF-4D4B-BF2F-BEE26E8A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93.1%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010263-D292-4137-AF17-7A22041D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982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72E34B-EFFE-47BB-8A4E-292CFCA7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574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569ED2-9595-4F44-8944-132CD5F6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09825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A45C23-8B32-4DC8-A68C-E7BA0B3D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4574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86EB71-F585-40B5-B2B3-92C42E11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171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312360-E428-4A41-A577-A34567CE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527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Independent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358FAA-5D8F-4549-9278-12CC97E1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05125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6FA42E-57A1-41A9-B3FB-7238B4FC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52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Joint pair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97A847-DD85-4C61-83DD-09B9B0E4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051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5A5B30-2FAB-4B64-ADFC-59BEDF00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52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191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0D7B74-24C4-42B9-B0B5-E6F18472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0276FE-F3A8-4C8B-82C2-9C19427B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52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36.1%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9ED3A0-B3E7-4632-AFC8-E3BA734A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051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635A55-885B-4381-BB0A-16A0900A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52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95.8%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9F8AE0-BE5F-40D4-90C2-1C5EDE0A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0512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A16653-A027-4C56-A763-65D055F6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39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301ED9-CA79-4774-9073-573A519A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05125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9FF285-E0D5-4711-B083-DAA55243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527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D9F736-3795-4DD2-ADC2-D002D89C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2171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25419D-855E-46A6-944F-AE4F6E30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480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Dual v233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391DC8-4C93-42FE-9703-1624F745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0425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6FD80C-1EE7-443A-9DFF-8ACC66B0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480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Independent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4C8324-A97E-426A-B627-1C7AC507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004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48F3C78-550D-42ED-BE03-34E12362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480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103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84A9E2-939E-4868-AF4C-BC92DA4E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04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CBBA9B-58F5-4A35-8156-E9A2319E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480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62.1%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47C6CB-D8AD-4BFD-A4F6-032E0E1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04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B4739B-2DF5-429C-A517-E8581962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480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93.3%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560D03-FB4D-400D-9A1F-0561BA4F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042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6CE6C3-D028-4B0C-A368-DEE2703F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480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B1E220-7F43-4F38-BF31-41AB256A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00425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795EC68-365F-4E83-92C7-CA7454BD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4480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33BF5BF-77D8-4B4C-B14A-0989A1B3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2171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90626A-3C67-4455-8407-50F4F5E7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433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Dual v233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42D0304-C6DC-4501-B287-E028A56E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95725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7F3C120-25E1-454A-A82C-861567FF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433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Joint v234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6362931-25B1-46BF-A976-079D635C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957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265D95-33C1-4DCB-AA13-6C410E36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433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103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DE4B418-6A24-4FAD-B0F2-60B6F43C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957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E8EDA15-9ECE-4742-A6A6-210DF077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433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62.1%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D2AD76-04B7-4ACB-AECD-DC2C83C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957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09A043-4C9A-4686-8997-9CE95B39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433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A35A"/>
                </a:solidFill>
              </a:defRPr>
            </a:pPr>
            <a:r>
              <a:rPr sz="975" b="1">
                <a:solidFill>
                  <a:srgbClr val="4EA35A"/>
                </a:solidFill>
              </a:rPr>
              <a:t>96.0%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6160F6-064D-4EA8-B2DE-4B31EA70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9572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BD93892-4800-4601-B2C7-F8941174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433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A35A"/>
                </a:solidFill>
              </a:defRPr>
            </a:pPr>
            <a:r>
              <a:rPr sz="975" b="1">
                <a:solidFill>
                  <a:srgbClr val="4EA35A"/>
                </a:solidFill>
              </a:rPr>
              <a:t>40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54F88B6-5C07-48F0-86F6-BE6CB1B3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95725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B2B6D0D-D5ED-4674-84D6-13B3CD50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433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A35A"/>
                </a:solidFill>
              </a:defRPr>
            </a:pPr>
            <a:r>
              <a:rPr sz="975" b="1">
                <a:solidFill>
                  <a:srgbClr val="4EA35A"/>
                </a:solidFill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73B4DD8-6AEB-4DC9-848D-7A28FA5C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32385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B76C6CD-8290-4C3E-98FF-E87DBECF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12"/>
          </a:solidFill>
          <a:ln xmlns:a="http://schemas.openxmlformats.org/drawingml/2006/main" w="0">
            <a:solidFill>
              <a:srgbClr val="D5A61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9E93065-E638-4F64-B3E2-58664799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Dual Risk의 역할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C9DCB3C-286B-41A6-AFAA-D9234781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191 → 103 REVIEW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1122F92-7260-46A9-B588-1BEEA987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3402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오답 밀도 36.1% → 62.1%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BA0CB4C-AA7E-4127-A433-C8389A58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0125"/>
            <a:ext cx="32385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ED36B1C-9D7F-43F3-88B3-ADFAE0A4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012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35A"/>
          </a:solidFill>
          <a:ln xmlns:a="http://schemas.openxmlformats.org/drawingml/2006/main" w="0">
            <a:solidFill>
              <a:srgbClr val="4EA35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31611D-9F5F-403E-A989-4D8E30D4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339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Joint Selector의 역할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50FDC39-288D-475C-9C38-12FB4B36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81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+2.7%p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B6C1985-9069-43B4-A189-DAB25A38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3402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고정 Risk에서 Final Joint 향상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2312CDF-86A4-4CE5-A8F8-AF8A8DB5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10125"/>
            <a:ext cx="40005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2E8B0CE-4002-4F05-BD08-BDA6EB72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1012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5BD"/>
          </a:solidFill>
          <a:ln xmlns:a="http://schemas.openxmlformats.org/drawingml/2006/main" w="0">
            <a:solidFill>
              <a:srgbClr val="9B55BD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5716925-2C36-441C-9BE3-AA4FBC81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339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Full Dual-Line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47B4BE0-F904-4B5E-8C4D-8F8E7795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816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96.0% · 40 / 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3B25DE0-ADAE-4A16-BC1E-1124F11E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34025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탐지는 예산 효율, 선택기는 최종 정확도 담당</a:t>
            </a:r>
          </a:p>
        </p:txBody>
      </p:sp>
    </p:spTree>
    <p:extLst>
      <p:ext uri="{BB962C8B-B14F-4D97-AF65-F5344CB8AC3E}">
        <p14:creationId xmlns:p14="http://schemas.microsoft.com/office/powerpoint/2010/main" val="19390617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AC8F85-0C87-4025-9A1B-8DEF1035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독립 실행과 Full Dual-Line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D8AAE-A561-454E-B9F5-295370B0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INTERACTION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1282C-26CE-4ABB-87D0-1D10DE0B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320D6-D5F2-4520-9D0A-B9E8762B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9B55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555A8-D0DA-469F-A5E6-376E823A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B010D-2E53-4733-BD11-DD4D3217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911F2-51B4-465C-865B-199E5AF0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5"/>
                </a:solidFill>
              </a:defRPr>
            </a:pPr>
            <a:r>
              <a:rPr sz="1200" b="0">
                <a:solidFill>
                  <a:srgbClr val="5D6675"/>
                </a:solidFill>
              </a:rPr>
              <a:t>Parent/Fine을 각각 서비스 가능한 파이프라인으로 실행한 뒤 교집합을 낸 경우와 공동 상태를 해석한 경우를 비교했습니다.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29148-3CC8-48B2-8E0D-3F542646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TEST1000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F7ABE-2553-4B37-850D-A93E60B3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Independent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E3A9E-0AFC-4903-8EEE-7A67CE38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33600"/>
            <a:ext cx="3768471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B94A3"/>
          </a:solidFill>
          <a:ln xmlns:a="http://schemas.openxmlformats.org/drawingml/2006/main" w="9525">
            <a:solidFill>
              <a:srgbClr val="8B94A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A3660-2BBD-480B-B3BC-3BB5CCD5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859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7"/>
                </a:solidFill>
              </a:defRPr>
            </a:pPr>
            <a:r>
              <a:rPr sz="1050" b="1">
                <a:solidFill>
                  <a:srgbClr val="101827"/>
                </a:solidFill>
              </a:rPr>
              <a:t>94.2%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D42F3-5B7D-4253-A658-25E63A69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6697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55BD"/>
                </a:solidFill>
              </a:defRPr>
            </a:pPr>
            <a:r>
              <a:rPr sz="900" b="0">
                <a:solidFill>
                  <a:srgbClr val="9B55BD"/>
                </a:solidFill>
              </a:rPr>
              <a:t>Full Dual-Line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AEC3E-5D49-4927-A43F-5207BB59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05075"/>
            <a:ext cx="384048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B55BD"/>
          </a:solidFill>
          <a:ln xmlns:a="http://schemas.openxmlformats.org/drawingml/2006/main" w="9525">
            <a:solidFill>
              <a:srgbClr val="9B55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A4E71-F583-4918-99E9-E34EEE77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479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B55BD"/>
                </a:solidFill>
              </a:defRPr>
            </a:pPr>
            <a:r>
              <a:rPr sz="1050" b="1">
                <a:solidFill>
                  <a:srgbClr val="9B55BD"/>
                </a:solidFill>
              </a:rPr>
              <a:t>96%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D3741-3291-46BA-8418-42D6574A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A35A"/>
                </a:solidFill>
              </a:defRPr>
            </a:pPr>
            <a:r>
              <a:rPr sz="1350" b="1">
                <a:solidFill>
                  <a:srgbClr val="4EA35A"/>
                </a:solidFill>
              </a:rPr>
              <a:t>REVIEW 191 → 103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85F33-1642-435B-8E6B-CFFA8E6D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HF90 mixed 600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A3FE3-93C5-4C65-B132-B0A71D29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385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Independent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5D10A-AA6E-4347-8E1E-C6B4F598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76600"/>
            <a:ext cx="3827278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B94A3"/>
          </a:solidFill>
          <a:ln xmlns:a="http://schemas.openxmlformats.org/drawingml/2006/main" w="9525">
            <a:solidFill>
              <a:srgbClr val="8B94A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B6A29-7AD3-4114-85F6-8261DBB1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289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7"/>
                </a:solidFill>
              </a:defRPr>
            </a:pPr>
            <a:r>
              <a:rPr sz="1050" b="1">
                <a:solidFill>
                  <a:srgbClr val="101827"/>
                </a:solidFill>
              </a:rPr>
              <a:t>95.67%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0FB43-744F-4202-80A9-DE3B8172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0997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55BD"/>
                </a:solidFill>
              </a:defRPr>
            </a:pPr>
            <a:r>
              <a:rPr sz="900" b="0">
                <a:solidFill>
                  <a:srgbClr val="9B55BD"/>
                </a:solidFill>
              </a:rPr>
              <a:t>Full Dual-Line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2965E-3ADE-4907-90C3-BBDCE36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48075"/>
            <a:ext cx="3880485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B55BD"/>
          </a:solidFill>
          <a:ln xmlns:a="http://schemas.openxmlformats.org/drawingml/2006/main" w="9525">
            <a:solidFill>
              <a:srgbClr val="9B55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1AEB9E-FF3A-4378-9193-BBB27EC8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909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B55BD"/>
                </a:solidFill>
              </a:defRPr>
            </a:pPr>
            <a:r>
              <a:rPr sz="1050" b="1">
                <a:solidFill>
                  <a:srgbClr val="9B55BD"/>
                </a:solidFill>
              </a:rPr>
              <a:t>97%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6A3530-8A97-4BE9-8458-224547ED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52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A35A"/>
                </a:solidFill>
              </a:defRPr>
            </a:pPr>
            <a:r>
              <a:rPr sz="1350" b="1">
                <a:solidFill>
                  <a:srgbClr val="4EA35A"/>
                </a:solidFill>
              </a:rPr>
              <a:t>REVIEW 98 → 57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7C67B1-9C59-4FDC-82E7-305D3C9B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AWA holdout 800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A7A6BC-AB2D-4B01-A179-3AB378C6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815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Independent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ECDD91-44D3-4A44-8B6D-F9AC2BBE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19600"/>
            <a:ext cx="3905688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B94A3"/>
          </a:solidFill>
          <a:ln xmlns:a="http://schemas.openxmlformats.org/drawingml/2006/main" w="9525">
            <a:solidFill>
              <a:srgbClr val="8B94A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135D98-CCB8-49A0-880F-0A8C0F80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719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7"/>
                </a:solidFill>
              </a:defRPr>
            </a:pPr>
            <a:r>
              <a:rPr sz="1050" b="1">
                <a:solidFill>
                  <a:srgbClr val="101827"/>
                </a:solidFill>
              </a:rPr>
              <a:t>97.63%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7F289F-3350-48C0-8547-6934DF58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5297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55BD"/>
                </a:solidFill>
              </a:defRPr>
            </a:pPr>
            <a:r>
              <a:rPr sz="900" b="0">
                <a:solidFill>
                  <a:srgbClr val="9B55BD"/>
                </a:solidFill>
              </a:rPr>
              <a:t>Full Dual-Line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058774-59D5-45C1-809A-5BFB7737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91075"/>
            <a:ext cx="3930491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B55BD"/>
          </a:solidFill>
          <a:ln xmlns:a="http://schemas.openxmlformats.org/drawingml/2006/main" w="9525">
            <a:solidFill>
              <a:srgbClr val="9B55B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C1B1E9-6B39-422E-A8D9-72A30AE7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339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B55BD"/>
                </a:solidFill>
              </a:defRPr>
            </a:pPr>
            <a:r>
              <a:rPr sz="1050" b="1">
                <a:solidFill>
                  <a:srgbClr val="9B55BD"/>
                </a:solidFill>
              </a:rPr>
              <a:t>98.25%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3EDE37-47D0-48C3-94A4-6A86B1F6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95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A35A"/>
                </a:solidFill>
              </a:defRPr>
            </a:pPr>
            <a:r>
              <a:rPr sz="1350" b="1">
                <a:solidFill>
                  <a:srgbClr val="4EA35A"/>
                </a:solidFill>
              </a:rPr>
              <a:t>REVIEW 79 → 38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B86245-CDA2-4272-AD47-496C3766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6EAFB"/>
          </a:solidFill>
          <a:ln xmlns:a="http://schemas.openxmlformats.org/drawingml/2006/main" w="9525">
            <a:solidFill>
              <a:srgbClr val="9B55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7BF7A8-FD40-442B-B821-725EB0A8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3575"/>
            <a:ext cx="10363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B55BD"/>
                </a:solidFill>
              </a:defRPr>
            </a:pPr>
            <a:r>
              <a:rPr sz="1275" b="1">
                <a:solidFill>
                  <a:srgbClr val="9B55BD"/>
                </a:solidFill>
              </a:rPr>
              <a:t>두 분류기를 단순 병렬로 두는 것보다, 서로 다른 판단 상태를 공동 해석할 때 더 적게 다시 보고 더 많이 맞혔습니다.</a:t>
            </a:r>
          </a:p>
        </p:txBody>
      </p:sp>
    </p:spTree>
    <p:extLst>
      <p:ext uri="{BB962C8B-B14F-4D97-AF65-F5344CB8AC3E}">
        <p14:creationId xmlns:p14="http://schemas.microsoft.com/office/powerpoint/2010/main" val="3550401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638B7F-BA0F-4BF8-BABD-54B56E50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제한된 REVIEW 예산의 오류 집중도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C492E-4C83-4664-98A3-0DAC1BCD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RISK BASELINES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F4DA8-CD49-4C52-A3F6-942B8871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0383A-870E-40C1-80C1-B056623E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5A61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03AA5-10F5-4939-B892-632D83D4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86124-4ACD-4EA2-96B6-6E90F6AB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3B6C0-23DF-4AEC-B4BF-BC8DB16D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5"/>
                </a:solidFill>
              </a:defRPr>
            </a:pPr>
            <a:r>
              <a:rPr sz="1275" b="0">
                <a:solidFill>
                  <a:srgbClr val="5D6675"/>
                </a:solidFill>
              </a:rPr>
              <a:t>TEST1000의 상위 10%만 다시 볼 수 있다는 동일 예산에서 오류 탐지 성능을 비교했습니다.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656C4-A9A0-4D1A-B39E-EBA1E2BE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Review 10% 오답 탐지율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8DE1B-804F-4183-B6D5-B4AF5E1A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Confidence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23B5D-29C8-4BEF-A03E-70EBAEBB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428875"/>
            <a:ext cx="304800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A9D29-3FF5-4BA4-85F0-09B9C07D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428875"/>
            <a:ext cx="2266493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B94A3"/>
          </a:solidFill>
          <a:ln xmlns:a="http://schemas.openxmlformats.org/drawingml/2006/main" w="9525">
            <a:solidFill>
              <a:srgbClr val="8B94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02D02-AE95-4AB2-9FE5-E0128BAF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39077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74.36%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EBB2E-BC70-4C36-84E0-03F3848A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Margin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F9E13-80A3-4435-A459-1C975B0F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05125"/>
            <a:ext cx="304800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B01FB-470D-4050-883D-BE95A2C9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05125"/>
            <a:ext cx="218815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B94A3"/>
          </a:solidFill>
          <a:ln xmlns:a="http://schemas.openxmlformats.org/drawingml/2006/main" w="9525">
            <a:solidFill>
              <a:srgbClr val="8B94A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7AB13-75DB-43E6-82E5-9DB1CCC5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670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71.79%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D4F8C-8BBA-40E8-A031-4CC20D45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Entropy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E2027-8524-44B3-88A2-81E24FE4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381375"/>
            <a:ext cx="304800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95378-B8DA-4062-8E5D-CAB8878D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381375"/>
            <a:ext cx="2071116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B94A3"/>
          </a:solidFill>
          <a:ln xmlns:a="http://schemas.openxmlformats.org/drawingml/2006/main" w="9525">
            <a:solidFill>
              <a:srgbClr val="8B94A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C07E70-62C6-4F21-AB97-1A3E1DF5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34327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67.95%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6F9E88-42BB-4427-A7B0-117ADED1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Dual-Line v233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2AF31D-F083-4390-BAEC-AA83D23B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857625"/>
            <a:ext cx="304800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B9186-198A-4AA6-A843-2F5779AC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857625"/>
            <a:ext cx="246187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5A612"/>
          </a:solidFill>
          <a:ln xmlns:a="http://schemas.openxmlformats.org/drawingml/2006/main" w="9525">
            <a:solidFill>
              <a:srgbClr val="D5A6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360D4-6470-4607-B4D7-19907DB6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8195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80.77%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584C5D-7792-4C4A-B19D-FFC6BF13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43624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9525">
            <a:solidFill>
              <a:srgbClr val="D5A61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B966C5-D287-463E-88B5-0A15A836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90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5A612"/>
                </a:solidFill>
              </a:defRPr>
            </a:pPr>
            <a:r>
              <a:rPr sz="1800" b="1">
                <a:solidFill>
                  <a:srgbClr val="D5A612"/>
                </a:solidFill>
              </a:rPr>
              <a:t>v233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18C74A-561B-406C-AFD5-4B5563AE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371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AUROC  0.9584</a:t>
            </a:r>
          </a:p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AUPR     0.6780</a:t>
            </a:r>
          </a:p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오답 탐지 80.77%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7E013F-70B7-4B27-AF2A-DBD07061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671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5"/>
                </a:solidFill>
              </a:defRPr>
            </a:pPr>
            <a:r>
              <a:rPr sz="1275" b="0">
                <a:solidFill>
                  <a:srgbClr val="5D6675"/>
                </a:solidFill>
              </a:rPr>
              <a:t>최고 confidence 대조군보다</a:t>
            </a:r>
          </a:p>
          <a:p xmlns:a="http://schemas.openxmlformats.org/drawingml/2006/main">
            <a:pPr algn="l">
              <a:defRPr sz="1275" b="0">
                <a:solidFill>
                  <a:srgbClr val="5D6675"/>
                </a:solidFill>
              </a:defRPr>
            </a:pPr>
            <a:r>
              <a:rPr sz="1275" b="0">
                <a:solidFill>
                  <a:srgbClr val="5D6675"/>
                </a:solidFill>
              </a:rPr>
              <a:t>오답 탐지율 +6.41%p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C827B6-1C6B-435F-A8CE-5CE7A27B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5E8D4E-1007-4379-AC4A-16794108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5A612"/>
                </a:solidFill>
              </a:defRPr>
            </a:pPr>
            <a:r>
              <a:rPr sz="1275" b="1">
                <a:solidFill>
                  <a:srgbClr val="D5A612"/>
                </a:solidFill>
              </a:rPr>
              <a:t>해석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2E9495-F51E-46C6-9532-3D60CC16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v233은 단순 confidence 저하뿐 아니라 Parent/Fine 판단 상태와 TRAIN-OOF 정상 상태로부터의 이탈을 함께 사용해, 같은 예산에서 더 높은 오류 밀도를 만들었습니다.</a:t>
            </a:r>
          </a:p>
        </p:txBody>
      </p:sp>
    </p:spTree>
    <p:extLst>
      <p:ext uri="{BB962C8B-B14F-4D97-AF65-F5344CB8AC3E}">
        <p14:creationId xmlns:p14="http://schemas.microsoft.com/office/powerpoint/2010/main" val="20031688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8BAD03F-EF4C-4FB6-88D7-3EC616D4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동일 ResNet18 기반 TTA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D001A-6FD7-49B0-9D67-2A9CD73A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SAME-BACKBONE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ADADA-3EC9-4FC5-A0AF-51D7F884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55274-E92B-467B-8DD8-E5A9BD2F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D8E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72B30-573E-49CB-8241-1A34CDF6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61D75-4F1F-46F5-B0B2-AB1F94E4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C3FDC-B760-41C6-B5B3-03C7E9AB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5"/>
                </a:solidFill>
              </a:defRPr>
            </a:pPr>
            <a:r>
              <a:rPr sz="1275" b="0">
                <a:solidFill>
                  <a:srgbClr val="5D6675"/>
                </a:solidFill>
              </a:rPr>
              <a:t>백본 교체 효과를 배제하기 위해 모든 비교군을 동일 ResNet18 조건으로 맞췄습니다.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840CD-99A3-4060-BB44-13F25DE7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600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CDD1D-BC23-4481-B080-44E3316A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1200"/>
            <a:ext cx="350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방식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D3BB2-4475-41FF-8B52-BB1A99B7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06DF9-AB40-42F4-9940-1EA3740F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812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4733F-F95D-4FEF-8078-CCBA1D92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3A6C8-895E-4B93-98C1-E13F9F0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9812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추가 forward / image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D6A1A-4692-40B4-847B-22D81FC0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D9D89-C1CE-426A-8574-B6D2BF2F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812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Fine / Joint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66258-C0B1-497B-8FCA-4369C292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885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E9D6AE-1CA8-4A35-BFE3-ABA0DCCE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812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Fixed / Broken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5E9FC-850E-4489-BE35-54EF6EC8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3600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0199A2-7F1C-491F-83A0-1BE08F46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ResNet18 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5A6BA-D123-40BC-8E37-5C0BC9D9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907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A429B0-E3D0-4B1C-9020-65F51196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25C28-6E0A-4E8F-AE98-88ECD949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907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579C39-8B0E-429A-BAA4-3540C856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384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123D10-507A-465B-A4AE-21D2629F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9077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B98D8-F9E9-45B6-B305-4EA52997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384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94.1% Fine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869C7-E7EE-46E9-8F0F-45A5E122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90775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15FC7C-97A0-40C3-A078-9223DE32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384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AD4275-B969-4A9A-B62E-D3AD2994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3600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50AADA-67DA-42C5-B887-674B62D3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Uniform TTA 30-view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FF5370-7016-490E-BD67-A64D8725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860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B7A977-1F02-46AD-BFCC-56976EA7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3370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30EC5-A95C-4D2F-A560-A4618B9B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860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D91F67-F5BB-49C7-8F00-12B115E2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337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+29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7E1B3A-3CA4-4D72-AA5E-F20C236C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8607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84C76D-D64B-432C-9061-8E025A89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337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95.0% Fine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235880-9903-4FEE-824B-0BC0EF97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86075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EDFE74-B7D7-40A1-A57D-CB6F6846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337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18 / 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FB3CAB-9C0F-42F1-8A50-88E65489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600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C2027F-BA0A-4BB6-BDF3-293954D4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Learned TTA aggregation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804ABB-4700-4B33-8912-9BDB2981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3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3553A3-3F63-4282-A65C-DFBDBD36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2900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1000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B3D1B0-6D03-477D-83A5-96C2AA5A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813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A57D76-2575-4D15-BB02-F338D6B4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290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+29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02E46E-C3E4-459C-83E4-7EE0F765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8137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F9F645-86C7-428F-8B7E-E61887A1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94.4% Fine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A01DE4-1330-40AB-916C-7B53D24C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81375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0FA3D3-C670-42BB-987B-4542C737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290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16 / 13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481F36-91EA-4C04-B4B2-081CE5CB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3600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F778D8-6D16-4D0C-8491-9A1912D9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Selective Uniform TTA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A169D1-EFDC-45E4-81D5-711A6BF0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766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ACC676-5EAF-453C-B3FF-B366D8FA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2430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112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BC7E2C-2653-4F72-8AE7-E1E8B189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766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DC2497-5426-4DA3-BE63-E81BB741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24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+3.248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9D7207-9AA7-42C8-8AEE-054CA18D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7667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FCA89E-9C0C-48A0-A16D-EC549611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43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94.9% Fine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FF2B9DE-9130-4793-9A9F-33F34F29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76675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C539DF6-4C5A-4215-ACCE-CBA681E8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243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16 / 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ECA0ED-CB60-43F9-B1A3-ECF0B1B1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3600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E798ED-10C5-45CB-AAC7-903361D9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Selective Learned TTA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546631-A22C-4C6B-948F-258AE76E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719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87141E-3007-4FC0-A366-C8E0E35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1960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112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EBD0F5C-596C-453F-9ABF-8E8CD5BE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719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EFD1646-A119-4948-8D57-02C03FB2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196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+3.248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53DCD0D-2F43-4A72-9FAE-726F0090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7197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5DAAC3-162F-4349-B7A3-FFBD4BBE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196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94.5% Fine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28D9F6F-C8B9-47FE-AC30-CF3DBD5D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71975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5FD6D0F-A2F2-4496-986D-2C0A0E56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196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16 / 12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DFD5928-C9D7-41A7-B811-61FF033B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3600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5778E1F-843C-468A-9242-8E8280C8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EDB"/>
                </a:solidFill>
              </a:defRPr>
            </a:pPr>
            <a:r>
              <a:rPr sz="975" b="1">
                <a:solidFill>
                  <a:srgbClr val="3D8EDB"/>
                </a:solidFill>
              </a:rPr>
              <a:t>Dual-Line v233 + v234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FAFA158-11C4-4700-A05F-F757FC2B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672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0B7433F-5167-452A-B3CA-1D1487DB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1490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EDB"/>
                </a:solidFill>
              </a:defRPr>
            </a:pPr>
            <a:r>
              <a:rPr sz="975" b="1">
                <a:solidFill>
                  <a:srgbClr val="3D8EDB"/>
                </a:solidFill>
              </a:rPr>
              <a:t>103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E36455F-2C87-47E9-A3A6-68EB4B28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672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A44F193-948A-4785-AF19-C56492F2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149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EDB"/>
                </a:solidFill>
              </a:defRPr>
            </a:pPr>
            <a:r>
              <a:rPr sz="975" b="1">
                <a:solidFill>
                  <a:srgbClr val="3D8EDB"/>
                </a:solidFill>
              </a:rPr>
              <a:t>selective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292D5B-D74A-4538-A8FB-E4B86566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6727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0313F87-5A9A-4C07-ADD3-5D3ABDFB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149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EDB"/>
                </a:solidFill>
              </a:defRPr>
            </a:pPr>
            <a:r>
              <a:rPr sz="975" b="1">
                <a:solidFill>
                  <a:srgbClr val="3D8EDB"/>
                </a:solidFill>
              </a:rPr>
              <a:t>96.0% Joint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8C97BA0-B339-430A-AAD8-C5092BCC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67275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68BAFD8-DCA4-40D0-B896-C1D4BC0B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149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EDB"/>
                </a:solidFill>
              </a:defRPr>
            </a:pPr>
            <a:r>
              <a:rPr sz="975" b="1">
                <a:solidFill>
                  <a:srgbClr val="3D8EDB"/>
                </a:solidFill>
              </a:rPr>
              <a:t>40 / 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8BD0C45-FD70-4C25-B1D8-FF8811B1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주: Dual-Line은 Parent/Fine 공동 정답 과제이며, Fine top-1은 동일 클래스 예측 축으로 별도 비교했습니다.</a:t>
            </a:r>
          </a:p>
        </p:txBody>
      </p:sp>
    </p:spTree>
    <p:extLst>
      <p:ext uri="{BB962C8B-B14F-4D97-AF65-F5344CB8AC3E}">
        <p14:creationId xmlns:p14="http://schemas.microsoft.com/office/powerpoint/2010/main" val="11403958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EFC310-DAA0-46F0-A032-D7EB8B6B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3개 시드 반복과 통계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F98BB-FCB1-4CD4-840A-1B707FFA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9F2E9-FB14-4C53-A28E-54AC4648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BFD35-1B8E-45DA-9ED3-2A41B791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4EA3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02C07-B6B2-4C33-AA5E-6664E50D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A7A54-AAFF-4D10-B97A-B84EE7D6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39712-DC26-475F-B790-977AFC78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5"/>
                </a:solidFill>
              </a:defRPr>
            </a:pPr>
            <a:r>
              <a:rPr sz="1275" b="0">
                <a:solidFill>
                  <a:srgbClr val="5D6675"/>
                </a:solidFill>
              </a:rPr>
              <a:t>각 시드에서 전체 학습과 OOF 정책 생성을 다시 수행했습니다.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18AF1-B417-4AC8-940B-05FAC7BA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2385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4D727-51FF-4B57-AA0B-34A05797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857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EA35A"/>
          </a:solidFill>
          <a:ln xmlns:a="http://schemas.openxmlformats.org/drawingml/2006/main" w="9525">
            <a:solidFill>
              <a:srgbClr val="4EA3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F7CA3-CCF7-47B6-BA3C-EDB0898B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704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SEED 310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B815A-AF15-42CA-9365-2E2A4202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62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B94A3"/>
                </a:solidFill>
              </a:defRPr>
            </a:pPr>
            <a:r>
              <a:rPr sz="2025" b="1">
                <a:solidFill>
                  <a:srgbClr val="8B94A3"/>
                </a:solidFill>
              </a:rPr>
              <a:t>91.7%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51BD3-FE0A-4373-98FF-12FF7067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762250"/>
            <a:ext cx="33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EA35A"/>
                </a:solidFill>
              </a:defRPr>
            </a:pPr>
            <a:r>
              <a:rPr sz="1800" b="1">
                <a:solidFill>
                  <a:srgbClr val="4EA35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DDDE7-B2D4-48C0-A2E2-DE84D8DF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62250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4EA35A"/>
                </a:solidFill>
              </a:defRPr>
            </a:pPr>
            <a:r>
              <a:rPr sz="2025" b="1">
                <a:solidFill>
                  <a:srgbClr val="4EA35A"/>
                </a:solidFill>
              </a:rPr>
              <a:t>96.6%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31CAD-1DAC-4BB4-AEF7-A0C554D3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81375"/>
            <a:ext cx="271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개선 +4.9%p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Fixed / Broken 50 / 1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McNemar p = 4.62e-14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FCC88-E308-45F6-9F5B-97B34A29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47875"/>
            <a:ext cx="32385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5B584-A267-4CE6-AC31-37FEE4DF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38375"/>
            <a:ext cx="857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EA35A"/>
          </a:solidFill>
          <a:ln xmlns:a="http://schemas.openxmlformats.org/drawingml/2006/main" w="9525">
            <a:solidFill>
              <a:srgbClr val="4EA3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BCDDF-9FB4-41D6-A6AB-602E72E4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47900"/>
            <a:ext cx="704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SEED 311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3A62F-9838-4755-B089-BA5E752F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62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B94A3"/>
                </a:solidFill>
              </a:defRPr>
            </a:pPr>
            <a:r>
              <a:rPr sz="2025" b="1">
                <a:solidFill>
                  <a:srgbClr val="8B94A3"/>
                </a:solidFill>
              </a:rPr>
              <a:t>93.2%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249BC-6208-4EA3-ADFA-0CF81DF4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762250"/>
            <a:ext cx="33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EA35A"/>
                </a:solidFill>
              </a:defRPr>
            </a:pPr>
            <a:r>
              <a:rPr sz="1800" b="1">
                <a:solidFill>
                  <a:srgbClr val="4EA35A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B50AA-C951-4E73-BBC9-C507BE63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62250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4EA35A"/>
                </a:solidFill>
              </a:defRPr>
            </a:pPr>
            <a:r>
              <a:rPr sz="2025" b="1">
                <a:solidFill>
                  <a:srgbClr val="4EA35A"/>
                </a:solidFill>
              </a:rPr>
              <a:t>96%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6DC300-13C2-459E-AE6E-8779B192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81375"/>
            <a:ext cx="271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개선 +2.8%p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Fixed / Broken 31 / 3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McNemar p = 7.66e-7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856F8-7629-47E6-ABDF-3C6889F9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47875"/>
            <a:ext cx="32385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C065DC-BF09-4E95-B9AF-7388C130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38375"/>
            <a:ext cx="857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EA35A"/>
          </a:solidFill>
          <a:ln xmlns:a="http://schemas.openxmlformats.org/drawingml/2006/main" w="9525">
            <a:solidFill>
              <a:srgbClr val="4EA3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D5C718-DFB2-41E4-91B3-0668358F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704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SEED 312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91A7C9-2203-44CD-93E4-14CEB78B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762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B94A3"/>
                </a:solidFill>
              </a:defRPr>
            </a:pPr>
            <a:r>
              <a:rPr sz="2025" b="1">
                <a:solidFill>
                  <a:srgbClr val="8B94A3"/>
                </a:solidFill>
              </a:rPr>
              <a:t>92.1%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91F50D-D98B-4A28-9104-86EACB72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62250"/>
            <a:ext cx="33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EA35A"/>
                </a:solidFill>
              </a:defRPr>
            </a:pPr>
            <a:r>
              <a:rPr sz="1800" b="1">
                <a:solidFill>
                  <a:srgbClr val="4EA35A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FB71F6-6EA4-4A32-BF4D-46AFA595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4EA35A"/>
                </a:solidFill>
              </a:defRPr>
            </a:pPr>
            <a:r>
              <a:rPr sz="2025" b="1">
                <a:solidFill>
                  <a:srgbClr val="4EA35A"/>
                </a:solidFill>
              </a:rPr>
              <a:t>95.4%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8E4FC4-5067-40AD-9EC1-777BFBA8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381375"/>
            <a:ext cx="271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개선 +3.3%p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Fixed / Broken 34 / 1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McNemar p = 2.10e-9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6F642D-F5B7-4967-8297-E9A35020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3333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032EE0-BC18-4883-8AB0-2412DEE0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35A"/>
          </a:solidFill>
          <a:ln xmlns:a="http://schemas.openxmlformats.org/drawingml/2006/main" w="0">
            <a:solidFill>
              <a:srgbClr val="4EA3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DBBADB-DD4E-4694-B98A-D1F22350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평균 Final Joint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BBDA97-CF7F-4E2F-A964-D5710C7E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96.00 ± 0.60%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795579-D7A7-4D3C-8A55-59F7E09F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2927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세 시드 모두 개선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E7EA5F-E39F-416B-A3AD-41B12268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05375"/>
            <a:ext cx="3333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C6CCEB-7B8B-44E9-A5E0-3B5ED7A5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05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EDB"/>
          </a:solidFill>
          <a:ln xmlns:a="http://schemas.openxmlformats.org/drawingml/2006/main" w="0">
            <a:solidFill>
              <a:srgbClr val="3D8E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78314F-2482-443B-B365-DE053D62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292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평균 개선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F086E-C9E3-42D6-AC71-C95EB987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768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+3.67 ± 1.10%p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A98BC5-A5A6-4521-8131-2D758BCD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2927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모든 CI가 0 초과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11F16-32E4-466F-8A2A-BDE3779C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05375"/>
            <a:ext cx="35814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E14BA1-8B9E-44FE-8EA0-27C34F39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05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5BD"/>
          </a:solidFill>
          <a:ln xmlns:a="http://schemas.openxmlformats.org/drawingml/2006/main" w="0">
            <a:solidFill>
              <a:srgbClr val="9B55B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2958FF-3DD3-468C-98F7-93E3AB95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292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안전성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FEA521-C335-4465-A031-66FCEE0E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768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Broken 1 / 3 / 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D4B2FF-6F4B-4587-AA41-C2D55D6B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29275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정답 보호 경향 반복</a:t>
            </a:r>
          </a:p>
        </p:txBody>
      </p:sp>
    </p:spTree>
    <p:extLst>
      <p:ext uri="{BB962C8B-B14F-4D97-AF65-F5344CB8AC3E}">
        <p14:creationId xmlns:p14="http://schemas.microsoft.com/office/powerpoint/2010/main" val="18309457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FE3475-D03F-44B4-AEED-4081206E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미사용 Wikimedia 최종 Holdout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925C1-6E89-41CC-B17C-4C9321B6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FROZEN HOLDOUT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0FB26-95EF-46F8-82AC-CEFBC307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3787D-627A-4C72-BA33-16210F9F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9B55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54232-572D-4F32-9DA1-B7151D75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7F732-7E33-4D8F-A1F1-7D7F1217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5FC8F-95F8-4E40-B26B-BE7696D7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5"/>
                </a:solidFill>
              </a:defRPr>
            </a:pPr>
            <a:r>
              <a:rPr sz="1275" b="0">
                <a:solidFill>
                  <a:srgbClr val="5D6675"/>
                </a:solidFill>
              </a:rPr>
              <a:t>결과를 본 뒤 고르지 않은 신규 300장을 source·license·SHA와 함께 동결해 평가했습니다.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20353-AE34-46DF-81BF-0CC43AE2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40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1CEC9-1D84-4D2F-AC9A-10AC3341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4D234-519F-4CAA-B9C0-337D7B87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478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B34BB-5DFF-4CEB-93C2-BDDA0522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85975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Base Joint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ADCA9-840F-48AD-BE69-D8210751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478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39E12-18BB-439E-A223-E34F62C5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85975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Final Joint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9DA36-791D-4012-8F4F-1F05331C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478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95AB3-9BDE-428C-A6D3-366F85AE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85975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개선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E82ED-61F5-4FDD-A994-0F35B62A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4787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25CE1-5C5F-4F90-841C-0BBCC91B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85975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Fixed / Broken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020EA-40FF-4592-89FF-421BCD11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47875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D7621-5668-4415-A1C2-BEAA20D8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859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3CE20-9D01-416C-B7A1-E3AB5D77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9CF47-C3A8-4D75-9F12-F4263624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71750"/>
            <a:ext cx="131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310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82A14-9008-4635-A530-738CC622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050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7D0A7F-9DD6-4C87-A771-B01E6460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717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75.67%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3C2117-5207-4995-8D1E-064A17C5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050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A17966-C74F-4C70-AB4A-B6175744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717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B55BD"/>
                </a:solidFill>
              </a:defRPr>
            </a:pPr>
            <a:r>
              <a:rPr sz="1125" b="1">
                <a:solidFill>
                  <a:srgbClr val="9B55BD"/>
                </a:solidFill>
              </a:rPr>
              <a:t>86.67%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56A9AC-9A5B-48FA-840A-6AFDA957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050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06C1F2-23E9-4A78-90F6-E6F4C08E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717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B55BD"/>
                </a:solidFill>
              </a:defRPr>
            </a:pPr>
            <a:r>
              <a:rPr sz="1125" b="1">
                <a:solidFill>
                  <a:srgbClr val="9B55BD"/>
                </a:solidFill>
              </a:rPr>
              <a:t>+11.00%p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0C0D69-BA85-4259-83F2-2C4F1540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0507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DE3BDC-D536-4ED4-9116-F51A58F7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36 / 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C46E09-DF2A-4EE3-A148-816DCD07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05075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7F75D1-0074-43FF-B329-92A73DD4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71750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97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439786-4683-4282-B2E4-12EDDE5F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9F6BD1-D1FC-4D7E-8C5F-FA000927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62300"/>
            <a:ext cx="131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311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6E5B04-CEDD-4784-9B4B-E85EA95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956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0312E7-4108-4088-A0F9-A529E3A8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6230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76.67%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A0BCBC-C380-4928-949F-DE354DCB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D63643-35D6-4DFB-9426-ECC750AF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6230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B55BD"/>
                </a:solidFill>
              </a:defRPr>
            </a:pPr>
            <a:r>
              <a:rPr sz="1125" b="1">
                <a:solidFill>
                  <a:srgbClr val="9B55BD"/>
                </a:solidFill>
              </a:rPr>
              <a:t>84.33%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C5E371-0D63-44FF-81A5-7DB35E6B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A04291-755C-42EE-90B0-84D0F33C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6230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B55BD"/>
                </a:solidFill>
              </a:defRPr>
            </a:pPr>
            <a:r>
              <a:rPr sz="1125" b="1">
                <a:solidFill>
                  <a:srgbClr val="9B55BD"/>
                </a:solidFill>
              </a:rPr>
              <a:t>+7.67%p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235899-A8F1-4F70-83A8-4E854D9F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0D6E0B-7225-4848-BC2C-C48A14C9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623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25 / 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6B565D-3C95-4E3D-90DF-68950734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95625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1E0600-051E-44BA-89AF-0CEB31AB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62300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92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445BEA-C1F0-4194-9F29-5891285F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60AC8A-D3ED-44CC-AE62-A2073115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52850"/>
            <a:ext cx="131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312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C1E7AC-1C97-4295-AAE0-ABAD0807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861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00F82D-A31A-4FC7-8BCE-E9629A26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528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77.00%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3AB95F-FBFB-441E-972F-E6E81347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B22A3B-C41A-4D03-AFD9-D9DF356D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528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B55BD"/>
                </a:solidFill>
              </a:defRPr>
            </a:pPr>
            <a:r>
              <a:rPr sz="1125" b="1">
                <a:solidFill>
                  <a:srgbClr val="9B55BD"/>
                </a:solidFill>
              </a:rPr>
              <a:t>84.67%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3C4324-7028-4428-A0E1-BC0BE4FD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861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095523-4481-447B-96CD-D317CB8E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528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B55BD"/>
                </a:solidFill>
              </a:defRPr>
            </a:pPr>
            <a:r>
              <a:rPr sz="1125" b="1">
                <a:solidFill>
                  <a:srgbClr val="9B55BD"/>
                </a:solidFill>
              </a:rPr>
              <a:t>+7.67%p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2A2963-D4DC-4B68-BBBC-B66CB3CE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8617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26E98C-126C-4C48-AD73-9871BFA2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528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24 / 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97AE03-E27A-43EC-AADE-95A26B39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86175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6E24F2-D115-437D-8682-FC7EEEC2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52850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96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E0D3DB-F9DE-406D-AE3A-BA758A60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333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6E765E-3FDF-40EA-BA7E-112FC77A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5BD"/>
          </a:solidFill>
          <a:ln xmlns:a="http://schemas.openxmlformats.org/drawingml/2006/main" w="0">
            <a:solidFill>
              <a:srgbClr val="9B55B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53FDE2-B2D0-4FF9-A6D9-0188F7C9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8632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평균 Final Joint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1BC60B0-BCF4-449C-B2EC-EFA9CC21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85.22%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A12649F-5E13-41CA-AD81-358EBA32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864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Base 76.44%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613BF5-289B-4973-A554-E13D229F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3333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65F2DD8-F0EF-45F9-B47D-789C3579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35A"/>
          </a:solidFill>
          <a:ln xmlns:a="http://schemas.openxmlformats.org/drawingml/2006/main" w="0">
            <a:solidFill>
              <a:srgbClr val="4EA35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BDC5382-2DBE-48C9-A348-575DD076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8632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평균 개선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5E127B-DD6B-4024-A348-F2CF09AF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339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+8.78%p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C9AD0C3-9C79-4D79-84C6-9BEC3D5E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864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세 시드 CI 모두 0 초과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8DECE0F-9308-4DDF-8960-38DF46D7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62500"/>
            <a:ext cx="35814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06AFFFD-F568-4CFD-929D-409B4943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62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12"/>
          </a:solidFill>
          <a:ln xmlns:a="http://schemas.openxmlformats.org/drawingml/2006/main" w="0">
            <a:solidFill>
              <a:srgbClr val="D5A61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FFDA178-FB5D-450F-8415-732154F7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86325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배포 시 관찰점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7DDF957-D650-466C-985C-04B8D30D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339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REVIEW 약 31.7%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AA8F491-CFA6-49B3-A3B3-D9B58E4D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86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분포 이동에서 검토 비용 증가</a:t>
            </a:r>
          </a:p>
        </p:txBody>
      </p:sp>
    </p:spTree>
    <p:extLst>
      <p:ext uri="{BB962C8B-B14F-4D97-AF65-F5344CB8AC3E}">
        <p14:creationId xmlns:p14="http://schemas.microsoft.com/office/powerpoint/2010/main" val="64390171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73086E-C8EC-4F8C-9A3D-493FDACB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두 판단이 함께 틀린 사례의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7DFBF-3B20-46FF-8803-31D98F91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JOINT-ERROR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E3129-9B92-4BDA-A304-205BA35E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E04FC-E147-4170-9297-6CD1EF06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9B55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753CE-BC65-4427-9441-ADDFD70D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EB5DA-9F2C-425D-99C6-742E614E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A5A65-B657-4CB1-8A77-F234EA3D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71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5"/>
                </a:solidFill>
              </a:defRPr>
            </a:pPr>
            <a:r>
              <a:rPr sz="1200" b="0">
                <a:solidFill>
                  <a:srgbClr val="5D6675"/>
                </a:solidFill>
              </a:rPr>
              <a:t>Fixed 40장 중 10장은 Parent와 Fine이 동시에 틀렸지만, 라벨 불일치가 아닌 위험 상태 탐지와 새 관측으로 복구했습니다.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805FF-B887-49BA-A566-A9B3F6F2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333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90014795440bc"/>
          <a:srcRect xmlns:a="http://schemas.openxmlformats.org/drawingml/2006/main" l="0" t="9426" r="0" b="94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2114550"/>
            <a:ext cx="3105150" cy="1695450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07E0A-6489-42F3-9EE7-EA7B839D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4A4A"/>
                </a:solidFill>
              </a:defRPr>
            </a:pPr>
            <a:r>
              <a:rPr sz="900" b="0">
                <a:solidFill>
                  <a:srgbClr val="C84A4A"/>
                </a:solidFill>
              </a:rPr>
              <a:t>기존  dog / german shepherd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DC17F-2C00-4F27-B820-9112C973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A35A"/>
                </a:solidFill>
              </a:defRPr>
            </a:pPr>
            <a:r>
              <a:rPr sz="1200" b="1">
                <a:solidFill>
                  <a:srgbClr val="4EA35A"/>
                </a:solidFill>
              </a:rPr>
              <a:t>최종  horse/horse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2664B-8123-4564-ACAE-49EBEF71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joint_tight · support 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9FE9A-CD59-451D-BD9D-C61392AF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3333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59ec8b45a4aef"/>
          <a:srcRect xmlns:a="http://schemas.openxmlformats.org/drawingml/2006/main" l="0" t="9131" r="0" b="91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2114550"/>
            <a:ext cx="3105150" cy="1695450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16B15-EBDB-4AEF-A530-37C048E0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4A4A"/>
                </a:solidFill>
              </a:defRPr>
            </a:pPr>
            <a:r>
              <a:rPr sz="900" b="0">
                <a:solidFill>
                  <a:srgbClr val="C84A4A"/>
                </a:solidFill>
              </a:rPr>
              <a:t>기존  dog / german shepherd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C95EC-C071-4DA6-A027-B0DE0002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386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A35A"/>
                </a:solidFill>
              </a:defRPr>
            </a:pPr>
            <a:r>
              <a:rPr sz="1200" b="1">
                <a:solidFill>
                  <a:srgbClr val="4EA35A"/>
                </a:solidFill>
              </a:rPr>
              <a:t>최종  dog_like/fox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E1FD0-3F5F-4FCA-A984-8A77E293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910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fine_disagreement · support 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37018-B521-461C-8D63-E24DEBD8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3333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3f6ff426b4dea"/>
          <a:srcRect xmlns:a="http://schemas.openxmlformats.org/drawingml/2006/main" l="0" t="4395" r="0" b="43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2114550"/>
            <a:ext cx="3105150" cy="1695450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C1BB8-59F7-4429-8E18-FC776D78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4A4A"/>
                </a:solidFill>
              </a:defRPr>
            </a:pPr>
            <a:r>
              <a:rPr sz="900" b="0">
                <a:solidFill>
                  <a:srgbClr val="C84A4A"/>
                </a:solidFill>
              </a:rPr>
              <a:t>기존  dog / fox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60747-12B0-4B6B-BD4F-419250D0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386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A35A"/>
                </a:solidFill>
              </a:defRPr>
            </a:pPr>
            <a:r>
              <a:rPr sz="1200" b="1">
                <a:solidFill>
                  <a:srgbClr val="4EA35A"/>
                </a:solidFill>
              </a:rPr>
              <a:t>최종  deer/deer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773AF0-14DE-4009-A893-4C515F71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910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parent_disagreement · support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4CD53C-F5F6-427A-9B47-09EE17CB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EAFB"/>
          </a:solidFill>
          <a:ln xmlns:a="http://schemas.openxmlformats.org/drawingml/2006/main" w="9525">
            <a:solidFill>
              <a:srgbClr val="9B55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8326ED-8964-45FC-B5D5-CD1C1A33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B55BD"/>
                </a:solidFill>
              </a:defRPr>
            </a:pPr>
            <a:r>
              <a:rPr sz="1275" b="1">
                <a:solidFill>
                  <a:srgbClr val="9B55BD"/>
                </a:solidFill>
              </a:rPr>
              <a:t>Parent-only 복구 14장  ·  Fine-only 복구 16장  ·  Parent/Fine 공동 오답 복구 10장  ·  전체 Fixed 40장</a:t>
            </a:r>
          </a:p>
        </p:txBody>
      </p:sp>
    </p:spTree>
    <p:extLst>
      <p:ext uri="{BB962C8B-B14F-4D97-AF65-F5344CB8AC3E}">
        <p14:creationId xmlns:p14="http://schemas.microsoft.com/office/powerpoint/2010/main" val="2822232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328BCA-5C42-4C77-8EF9-AB421F2E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검증된 주장과 확장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4EA1A-308E-47CD-9761-8EECC324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CLAIMS &amp;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A5473-A757-4F24-B1BF-C178A30B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4FB51-AA2C-4976-9FA6-E3868A19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B94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54443-98FC-45CA-AF32-18FDB3D6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5B319-3F9F-41F0-8BAE-E6D2B2A5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FE540-CBC3-4D3D-8A5D-04AA0E9A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276600" cy="3429000"/>
          </a:xfrm>
          <a:prstGeom xmlns:a="http://schemas.openxmlformats.org/drawingml/2006/main" prst="roundRect">
            <a:avLst>
              <a:gd name="adj" fmla="val 17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357AC-7926-4C58-9B97-19F6C055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2766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4EA35A"/>
          </a:solidFill>
          <a:ln xmlns:a="http://schemas.openxmlformats.org/drawingml/2006/main" w="9525">
            <a:solidFill>
              <a:srgbClr val="4EA3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4D090-2AF8-4932-B2A8-4E2F309C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검증된 핵심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FB9E2-B6AC-44DB-A7FF-F8BCC341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2819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Dual risk는 적은 REVIEW로 높은 오류 밀도 구성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Joint selector는 동일 후보 풀에서 +2.7%p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독립 실행 대비 Full Dual-Line +1.8%p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공동 오답 10장 복구로 단순 일관성 보정과 구분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A38C6-7F5D-4C87-AAA5-B013F5DB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05000"/>
            <a:ext cx="3276600" cy="3429000"/>
          </a:xfrm>
          <a:prstGeom xmlns:a="http://schemas.openxmlformats.org/drawingml/2006/main" prst="roundRect">
            <a:avLst>
              <a:gd name="adj" fmla="val 17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06B90-B169-4006-A439-7F8D9916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05000"/>
            <a:ext cx="32766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5A612"/>
          </a:solidFill>
          <a:ln xmlns:a="http://schemas.openxmlformats.org/drawingml/2006/main" w="9525">
            <a:solidFill>
              <a:srgbClr val="D5A6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FBB1C-A5D4-4141-B44E-D4E1EF34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97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현재 한계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FBD5B-D9D9-4FB4-95F2-FCD78C8C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2819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분포 이동 시 REVIEW 비율 증가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외부셋별 절대 이득의 크기는 다름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강한 백본을 항상 능가한다는 주장은 하지 않음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후보 생성과 선택기의 오류를 완전히 분리하지 못함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69876-4761-4DBA-BFC8-21ABD43F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3276600" cy="3429000"/>
          </a:xfrm>
          <a:prstGeom xmlns:a="http://schemas.openxmlformats.org/drawingml/2006/main" prst="roundRect">
            <a:avLst>
              <a:gd name="adj" fmla="val 17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E846F-B893-4190-AE27-F1F0EFC0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32766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9B55BD"/>
          </a:solidFill>
          <a:ln xmlns:a="http://schemas.openxmlformats.org/drawingml/2006/main" w="9525">
            <a:solidFill>
              <a:srgbClr val="9B55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10950-F3FB-459E-85CF-BFC53E63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97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확장 실험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FD3B88-8AFE-4380-8281-0CCCF54D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19375"/>
            <a:ext cx="2819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Cross-branch activation steering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TEST1000 40/2 → 42/2, 96.2%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외부셋에서는 개선·유지·소폭 하락 혼재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본체가 아닌 검증 단계의 추가 모듈로 유지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1AB81-84FA-402C-9E90-554595FF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0DD203-3243-48CD-9146-64F647B0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결론: Dual-Line의 이득은 두 분류기를 보유하는 데서가 아니라, 서로 다른 판단 상태를 공동 해석해 재관측 예산과 전환 결정을 제어하는 데서 발생했습니다.</a:t>
            </a:r>
          </a:p>
        </p:txBody>
      </p:sp>
    </p:spTree>
    <p:extLst>
      <p:ext uri="{BB962C8B-B14F-4D97-AF65-F5344CB8AC3E}">
        <p14:creationId xmlns:p14="http://schemas.microsoft.com/office/powerpoint/2010/main" val="203865461"/>
      </p:ext>
    </p:extLst>
  </p:cSld>
</p:sld>
</file>

<file path=ppt/theme/theme1.xml><?xml version="1.0" encoding="utf-8"?>
<a:theme xmlns:a="http://schemas.openxmlformats.org/drawingml/2006/main" name="ChatGP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2026-08-05T09:03:10.1820000Z</dcterms:created>
  <dcterms:modified xsi:type="dcterms:W3CDTF">2026-08-05T09:03:10.1820000Z</dcterms:modified>
</coreProperties>
</file>