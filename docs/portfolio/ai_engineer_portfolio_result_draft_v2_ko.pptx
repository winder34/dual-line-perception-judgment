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2bd3077eb744cb" /><Relationship Type="http://schemas.openxmlformats.org/officeDocument/2006/relationships/extended-properties" Target="/docProps/app.xml" Id="Reb6cb01b16bc42d2" /><Relationship Type="http://schemas.openxmlformats.org/officeDocument/2006/relationships/officeDocument" Target="/ppt/presentation.xml" Id="R9e3f9555175c46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a56d5ab94d4c7f"/>
  </p:sldMasterIdLst>
  <p:notesMasterIdLst>
    <p:notesMasterId xmlns:r="http://schemas.openxmlformats.org/officeDocument/2006/relationships" r:id="Ra0d5a846c0b247ea"/>
  </p:notesMasterIdLst>
  <p:sldIdLst>
    <p:sldId xmlns:r="http://schemas.openxmlformats.org/officeDocument/2006/relationships" id="256" r:id="Rf4f97b2da0e940f7"/>
    <p:sldId xmlns:r="http://schemas.openxmlformats.org/officeDocument/2006/relationships" id="257" r:id="R661f37cf0ec84fd2"/>
    <p:sldId xmlns:r="http://schemas.openxmlformats.org/officeDocument/2006/relationships" id="258" r:id="R05a7c5010b714f9e"/>
    <p:sldId xmlns:r="http://schemas.openxmlformats.org/officeDocument/2006/relationships" id="259" r:id="R078299b8409247f6"/>
    <p:sldId xmlns:r="http://schemas.openxmlformats.org/officeDocument/2006/relationships" id="260" r:id="R59bcfbcb921e4817"/>
    <p:sldId xmlns:r="http://schemas.openxmlformats.org/officeDocument/2006/relationships" id="261" r:id="Rb03dd21128f04245"/>
    <p:sldId xmlns:r="http://schemas.openxmlformats.org/officeDocument/2006/relationships" id="262" r:id="Rf021da9fd9914d3f"/>
    <p:sldId xmlns:r="http://schemas.openxmlformats.org/officeDocument/2006/relationships" id="263" r:id="Rad3aca36c07342d5"/>
    <p:sldId xmlns:r="http://schemas.openxmlformats.org/officeDocument/2006/relationships" id="264" r:id="R899e811bda4d4f91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6a69356d28439c" /><Relationship Type="http://schemas.openxmlformats.org/officeDocument/2006/relationships/slideMaster" Target="/ppt/slideMasters/slideMaster1.xml" Id="R8fa56d5ab94d4c7f" /><Relationship Type="http://schemas.openxmlformats.org/officeDocument/2006/relationships/notesMaster" Target="/ppt/notesMasters/notesMaster1.xml" Id="Ra0d5a846c0b247ea" /><Relationship Type="http://schemas.openxmlformats.org/officeDocument/2006/relationships/presProps" Target="/ppt/presProps.xml" Id="R28733c00693744ed" /><Relationship Type="http://schemas.openxmlformats.org/officeDocument/2006/relationships/viewProps" Target="/ppt/viewProps.xml" Id="Rc7434f89258a4ed9" /><Relationship Type="http://schemas.openxmlformats.org/officeDocument/2006/relationships/tableStyles" Target="/ppt/tableStyles.xml" Id="R7bb307a528de4371" /><Relationship Type="http://schemas.openxmlformats.org/officeDocument/2006/relationships/slide" Target="/ppt/slides/slide1.xml" Id="Rf4f97b2da0e940f7" /><Relationship Type="http://schemas.openxmlformats.org/officeDocument/2006/relationships/slide" Target="/ppt/slides/slide2.xml" Id="R661f37cf0ec84fd2" /><Relationship Type="http://schemas.openxmlformats.org/officeDocument/2006/relationships/slide" Target="/ppt/slides/slide3.xml" Id="R05a7c5010b714f9e" /><Relationship Type="http://schemas.openxmlformats.org/officeDocument/2006/relationships/slide" Target="/ppt/slides/slide4.xml" Id="R078299b8409247f6" /><Relationship Type="http://schemas.openxmlformats.org/officeDocument/2006/relationships/slide" Target="/ppt/slides/slide5.xml" Id="R59bcfbcb921e4817" /><Relationship Type="http://schemas.openxmlformats.org/officeDocument/2006/relationships/slide" Target="/ppt/slides/slide6.xml" Id="Rb03dd21128f04245" /><Relationship Type="http://schemas.openxmlformats.org/officeDocument/2006/relationships/slide" Target="/ppt/slides/slide7.xml" Id="Rf021da9fd9914d3f" /><Relationship Type="http://schemas.openxmlformats.org/officeDocument/2006/relationships/slide" Target="/ppt/slides/slide8.xml" Id="Rad3aca36c07342d5" /><Relationship Type="http://schemas.openxmlformats.org/officeDocument/2006/relationships/slide" Target="/ppt/slides/slide9.xml" Id="R899e811bda4d4f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48fcead58848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3b98a5dc4048b0" /><Relationship Type="http://schemas.openxmlformats.org/officeDocument/2006/relationships/notesMaster" Target="/ppt/notesMasters/notesMaster1.xml" Id="Rf81aa0b2e68340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dc5176980342a6" /><Relationship Type="http://schemas.openxmlformats.org/officeDocument/2006/relationships/notesMaster" Target="/ppt/notesMasters/notesMaster1.xml" Id="Rdf36e1c8d7a948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b53a97f4cd4b3b" /><Relationship Type="http://schemas.openxmlformats.org/officeDocument/2006/relationships/notesMaster" Target="/ppt/notesMasters/notesMaster1.xml" Id="Rdad231c5adef43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5791bcfca4491b" /><Relationship Type="http://schemas.openxmlformats.org/officeDocument/2006/relationships/notesMaster" Target="/ppt/notesMasters/notesMaster1.xml" Id="R7b9a983877a545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5494270b834000" /><Relationship Type="http://schemas.openxmlformats.org/officeDocument/2006/relationships/notesMaster" Target="/ppt/notesMasters/notesMaster1.xml" Id="Re372bc41429348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1afc14beed4e51" /><Relationship Type="http://schemas.openxmlformats.org/officeDocument/2006/relationships/notesMaster" Target="/ppt/notesMasters/notesMaster1.xml" Id="R221190d11b3244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b4917f1cc04418" /><Relationship Type="http://schemas.openxmlformats.org/officeDocument/2006/relationships/notesMaster" Target="/ppt/notesMasters/notesMaster1.xml" Id="R4a44d480d67542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062b192ff94064" /><Relationship Type="http://schemas.openxmlformats.org/officeDocument/2006/relationships/notesMaster" Target="/ppt/notesMasters/notesMaster1.xml" Id="Rda5d0725435a42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11577785ca4077" /><Relationship Type="http://schemas.openxmlformats.org/officeDocument/2006/relationships/notesMaster" Target="/ppt/notesMasters/notesMaster1.xml" Id="Ra4fc4e7d09e04b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portfolio project and repository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docs/research_evidence_log_ko.md</a:t>
            </a:r>
          </a:p>
          <a:p xmlns:a="http://schemas.openxmlformats.org/drawingml/2006/main">
            <a:r>
              <a:t>- docs/validation_status_v244_ko.md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implementation and experiment artifacts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 and experiment logs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docs/research_evidence_log_ko.md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docs/related_work_comparison_v245_ko.md</a:t>
            </a:r>
          </a:p>
          <a:p xmlns:a="http://schemas.openxmlformats.org/drawingml/2006/main">
            <a:r>
              <a:t>- docs/research_evidence_log_ko.md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docs/core_module_ablation_v242_ko.md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docs/validation_status_v244_ko.md</a:t>
            </a:r>
          </a:p>
          <a:p xmlns:a="http://schemas.openxmlformats.org/drawingml/2006/main">
            <a:r>
              <a:t>- docs/core_module_ablation_v242_ko.md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 repository and local project artifacts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f31a6f8a0b43f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8f5da0da154edf" /><Relationship Type="http://schemas.openxmlformats.org/officeDocument/2006/relationships/slideLayout" Target="/ppt/slideLayouts/slideLayout1.xml" Id="R706b808893c343c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6b808893c343c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b9e3d47ee41b3" /><Relationship Type="http://schemas.openxmlformats.org/officeDocument/2006/relationships/notesSlide" Target="/ppt/notesSlides/notesSlide1.xml" Id="R2988191ab05642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8f2d3275c4a44" /><Relationship Type="http://schemas.openxmlformats.org/officeDocument/2006/relationships/notesSlide" Target="/ppt/notesSlides/notesSlide2.xml" Id="R906a7b5e2e6a47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9c35cc57c43bb" /><Relationship Type="http://schemas.openxmlformats.org/officeDocument/2006/relationships/notesSlide" Target="/ppt/notesSlides/notesSlide3.xml" Id="Re23076362f7c41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c02ed2598455c" /><Relationship Type="http://schemas.openxmlformats.org/officeDocument/2006/relationships/notesSlide" Target="/ppt/notesSlides/notesSlide4.xml" Id="Rd757a02f446a4b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2564862e647b9" /><Relationship Type="http://schemas.openxmlformats.org/officeDocument/2006/relationships/notesSlide" Target="/ppt/notesSlides/notesSlide5.xml" Id="Rb81a468ae34149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c61930ee243e2" /><Relationship Type="http://schemas.openxmlformats.org/officeDocument/2006/relationships/notesSlide" Target="/ppt/notesSlides/notesSlide6.xml" Id="Rf560488ef64041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97473387c4461" /><Relationship Type="http://schemas.openxmlformats.org/officeDocument/2006/relationships/notesSlide" Target="/ppt/notesSlides/notesSlide7.xml" Id="R072debc8fc3143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30ef1995b4494" /><Relationship Type="http://schemas.openxmlformats.org/officeDocument/2006/relationships/notesSlide" Target="/ppt/notesSlides/notesSlide8.xml" Id="R8b611c05dc244a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78fe2283041ab" /><Relationship Type="http://schemas.openxmlformats.org/officeDocument/2006/relationships/notesSlide" Target="/ppt/notesSlides/notesSlide9.xml" Id="Rc63fd8689df747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1C77732-A0F3-4E29-B6EA-08101C93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094A879-1F49-4581-9AD4-691CA775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0607338-DE03-4276-8C11-44E02429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14400"/>
            <a:ext cx="47548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0AE9ED4-D698-4620-9545-623903F9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52144"/>
            <a:ext cx="6583680" cy="1261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선택적 재관측 분류 시스템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0571D16-A30C-4CEB-87DE-358B6D1A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743200"/>
            <a:ext cx="6583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독립적인 Parent/Fine 판단과 위험 기반 재관측으로 오류를 줄인 Computer Vision 프로젝트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27C6733-8225-4D62-85EB-0B21FB0A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16752"/>
            <a:ext cx="5852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이준우  |  AI / Computer Vision Engineer  |  GitHub: winder34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45DD3AC-F2F8-42E0-9427-4D688867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658368"/>
            <a:ext cx="2331720" cy="2331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B">
              <a:alpha val="0"/>
            </a:srgbClr>
          </a:solidFill>
          <a:ln xmlns:a="http://schemas.openxmlformats.org/drawingml/2006/main" w="3810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2ABF03D-5ABD-410C-8C7B-18316374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840480"/>
            <a:ext cx="1234440" cy="1234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B">
              <a:alpha val="0"/>
            </a:srgbClr>
          </a:solidFill>
          <a:ln xmlns:a="http://schemas.openxmlformats.org/drawingml/2006/main" w="381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8775935-3BCE-4DB4-8503-05E4807D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89204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B">
              <a:alpha val="0"/>
            </a:srgbClr>
          </a:solidFill>
          <a:ln xmlns:a="http://schemas.openxmlformats.org/drawingml/2006/main" w="3175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B3A5DFE-9EE3-4FD1-9DB1-D35A990C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8308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A0FC077-7D4D-4979-8339-ED1B90BB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443484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D05A66B-B37F-4A52-9AEE-74DF4C02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4275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3FB101F-AC8F-43E2-B533-332A2EDF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53ECFD4-FBC3-4171-AA21-8E48CCC2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593CC2C-7472-4639-953D-10B8FB22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문제를 구조로 바꾸고, 결과로 검증합니다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E0285E8-85EB-4117-8750-F8461841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아이디어에 머무르지 않고 설계·구현·실험·문서화까지 직접 수행했습니다.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30F787C-32D8-4EAB-82B2-0D2E668F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61264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5652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모델을 단순히 학습하는 데서 멈추지 않고,</a:t>
            </a:r>
          </a:p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실패 조건을 분석해 판단 구조를 설계하고 검증합니다.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1148E3A-F958-45C9-B6C5-7FD0F583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97480"/>
            <a:ext cx="4846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E96588E-B015-4E56-A36D-1DE1AF43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971800"/>
            <a:ext cx="562356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문제 발견: 오답이 발생하는 조건과 계층 간 충돌을 분리해 분석</a:t>
            </a:r>
          </a:p>
          <a:p xmlns:a="http://schemas.openxmlformats.org/drawingml/2006/main">
            <a:r>
              <a:rPr sz="14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구조 설계: Parent/Fine 독립 표현, 위험 탐지, 선택적 재관측을 연결</a:t>
            </a:r>
          </a:p>
          <a:p xmlns:a="http://schemas.openxmlformats.org/drawingml/2006/main">
            <a:r>
              <a:rPr sz="14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검증 방식: Ablation, 외부 데이터셋, 누수 검사로 효과를 확인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061F38-AB30-41BB-BE71-F22638E5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298448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프로젝트 참여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7F24B12-54DE-47F3-93D0-DED4F205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618488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1명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A891CA7-E144-4627-AEC7-49FEA28B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148840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개인 프로젝트 · 전 과정 직접 수행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0CA1E7F-DF66-4D2E-9865-89FA29CC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2984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담당 범위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DE02158-87EB-4CCD-AF7F-3B0B56A9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18488"/>
            <a:ext cx="2148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7C3AED"/>
                </a:solidFill>
                <a:latin typeface="Noto Sans CJK KR"/>
                <a:ea typeface="Noto Sans CJK KR"/>
                <a:cs typeface="Noto Sans CJK KR"/>
              </a:rPr>
              <a:t>End-to-End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9226B21-70A8-437B-AF17-C54D67F2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148840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설계·구현·실험·최적화·문서화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1A4B452-E339-4467-B038-36904847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977640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통합 성과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CF0EF08-958B-47A4-81FF-EBC5285F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297680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+3.8%p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0CADF3A-1254-4197-92EF-AC7AC1BD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828032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공동 정답률 92.2% → 96.0%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7F22824-06C6-4FCF-9412-17D7764C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977640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외부 검증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6330EF2-4978-49B2-B3BA-0F5845BC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297680"/>
            <a:ext cx="2148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59E0B"/>
                </a:solidFill>
                <a:latin typeface="Noto Sans CJK KR"/>
                <a:ea typeface="Noto Sans CJK KR"/>
                <a:cs typeface="Noto Sans CJK KR"/>
              </a:rPr>
              <a:t>3개 셋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7291A1-5FCC-4CD7-B451-D8D4A50B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828032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HF90 · AWA holdout · AWA wild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0FF5507-39B2-4984-BAEE-102490E7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527865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414DFD-1F67-49B5-A18D-C0456CC4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594FFFC-A939-4DDF-A1F3-9598E358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12480A6-0B98-4844-BB5E-ED88E35B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핵심 역량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D72089-A1FF-4A35-AA77-5ED3185E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한 프로젝트 안에서 문제 정의, 모델링, 검증, 전달까지 연결했습니다.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1ADE0A7-BDFC-4021-B5F6-E15549AD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C791B4E-3F00-41D8-8223-82168E26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353312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문제 정의와 실패 분석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549C755-DC32-4AC6-95FC-CD697B6F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764792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오답 상태, branch 충돌, 데이터 오염과 분포 변화를 분리해 분석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146F787-59C6-4751-9A8D-12AD616E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414016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A17FB8D-02F1-415B-BD79-4F346C67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A3DCA41-D042-4B37-B22A-B8E14A20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1353312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Computer Vision 모델링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F084F11-EE41-47AC-86EE-CA4992AB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1764792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ResNet18/50, DINOv2, ROI·타일·attention 기반 표현 설계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577DF0E-F161-4A58-9ADE-FD03BEF2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414016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485A914-E8E8-48AD-A4F7-098D0611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4368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3C24354-C82F-4DAB-88F9-3D83C5AC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26080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선택적 추론 구조 설계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55C78EA-20CA-45DE-AD6E-4CAC82BB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33756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Parent/Fine 독립 판단, 위험 탐지, 재관측, 전환 승인 구현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AEE2D91-5FD9-4134-8934-4A0121F3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986784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4AD5017-C4AA-4716-B824-E344A6E3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44368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0AC54AA-0C20-4E83-BF3A-672D0749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926080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실험·Ablation 검증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7A72E95-B691-4E1A-9D34-714F01B7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33756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동일 예산 대조군, 외부셋, 누수 검사, fixed/broken 감사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EBB86DE-1E18-48A2-8E9B-4890C4C4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986784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87E691E-F7E7-49E4-8ACA-FC87F6E0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713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2CB0E1-0C46-48AB-870E-47FAE35C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498848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파이프라인 구현·최적화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BEB86EB-AA96-4610-9000-B18A38EA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910328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Python, PyTorch, OpenCV, NumPy, pandas, scikit-learn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F68ED77-8054-49C4-9C67-0EA3CD52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559552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7A861F5-C1A1-4F34-89DF-64BFB40D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713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648DC9B-3B6B-4852-98C1-68D6A26D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4498848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데모·기술 문서화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8025920-FDDB-47D0-A5A4-BA6A966E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4910328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라벨 없는 실행 데모, README, 실험 로그, 결과 시각화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E268AB1-AD92-423C-9F6F-1F529F96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5559552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ECD22DD-0DF2-446B-B994-091C527A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841989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A1D7248-EEE3-493D-BD5E-05B0AB57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4E08D4-BDC8-47C7-AA6F-16697307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273E690-8952-40C8-A98D-8745F4A4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프로젝트 수행 범위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3F2CA9E-B534-424F-BFB6-2C44D1D9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개인 프로젝트에서 문제 정의부터 검증 자료와 실행 데모까지 직접 완성했습니다.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D01C657-4F04-480C-B73E-E63C1ADF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298448"/>
            <a:ext cx="5669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92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 Selective Inference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A3C2104-290B-4AB6-BDB6-8F23BE51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4792"/>
            <a:ext cx="6400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Parent/Fine 독립 표현과 OOF 위험 탐지를 결합한 이미지 분류 시스템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697038D-5ED5-4EDA-9031-1740F548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41448"/>
            <a:ext cx="53035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작업기간  2026-05-21 ~ 2026-07-17</a:t>
            </a:r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작업인원  1명 / 개인 프로젝트</a:t>
            </a:r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작업툴    Python, PyTorch, torchvision, OpenCV, scikit-learn, NumPy, pandas, Git/GitHub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2D0199A-DABA-4EE4-A68F-503261DD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03320"/>
            <a:ext cx="576072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수행 절차  데이터 구성 → 베이스라인 → 오류 분석 → 모듈 설계 → 검증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주요 산출물  학습·추론 코드, 모듈형 런타임, 로컬 데모, 기술 문서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검증 기준  정확도뿐 아니라 Fixed, Broken, Review 예산, 외부 재현성 추적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35B6547-D84D-4D8F-93DD-295A88FD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25880"/>
            <a:ext cx="4023360" cy="438912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6DAF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E261D17-9CD8-45BB-B551-27FD0AC9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91640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8235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직접 수행한 파트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1CFCE4B-BCE8-45E6-9B81-CDFD1351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331720"/>
            <a:ext cx="315468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클래스별 split과 학습 데이터 구성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Parent/Fine 및 baseline 학습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OOF 위험 탐지와 재관측 정책 구현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전환 승인기와 평가 파이프라인 구현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속도 최적화, 데모, GitHub 문서화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52F2F34-D9B4-43DC-B30F-D106F848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983480"/>
            <a:ext cx="19659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563EB">
              <a:alpha val="92000"/>
            </a:srgbClr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01EC868-24F6-4BB6-9969-73E3C3AF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5056632"/>
            <a:ext cx="174650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1인 End-to-End 프로젝트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C723D07-D088-4083-8D4D-AE178B03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271110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687AFD1-B1AB-4418-B94B-1F06CC04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96AE2AD-2B9E-4374-9C0D-26CF0AE0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7EF12FF-92E0-4D60-BEA1-36888804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왜 Dual-Line인가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99E7F0F-FE28-480B-9594-43A0B8E4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상위와 하위 라벨은 계층이지만, 학습된 판단은 서로 다른 오류와 보완 신호를 만들었습니다.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985ACA-5F9C-4BF2-8139-7F098E34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F4444"/>
                </a:solidFill>
                <a:latin typeface="Noto Sans CJK KR"/>
                <a:ea typeface="Noto Sans CJK KR"/>
                <a:cs typeface="Noto Sans CJK KR"/>
              </a:rPr>
              <a:t>독립 Branch 결과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8E80A81-EF6A-4342-AE35-73478EA4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00200"/>
            <a:ext cx="132588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64748B">
              <a:alpha val="95000"/>
            </a:srgbClr>
          </a:solidFill>
          <a:ln xmlns:a="http://schemas.openxmlformats.org/drawingml/2006/main" w="12700">
            <a:solidFill>
              <a:srgbClr val="64748B">
                <a:alpha val="75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3762367-7B3D-4BD0-A660-14A47D57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751076"/>
            <a:ext cx="117957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Parent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8C69411-FFCB-4B75-A672-7985AE2B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1856232"/>
            <a:ext cx="777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7F2B935-DACF-49D5-A24A-1AFEF53F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600200"/>
            <a:ext cx="150876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4444">
              <a:alpha val="95000"/>
            </a:srgbClr>
          </a:solidFill>
          <a:ln xmlns:a="http://schemas.openxmlformats.org/drawingml/2006/main" w="12700">
            <a:solidFill>
              <a:srgbClr val="EF4444">
                <a:alpha val="75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857C076-9501-42D3-9267-F50FDCA8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751076"/>
            <a:ext cx="13624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27D4830-74E5-4A0E-9B02-7A08627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856232"/>
            <a:ext cx="777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E043030-F641-4E28-94B6-5F91D7F9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600200"/>
            <a:ext cx="96012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4444">
              <a:alpha val="95000"/>
            </a:srgbClr>
          </a:solidFill>
          <a:ln xmlns:a="http://schemas.openxmlformats.org/drawingml/2006/main" w="12700">
            <a:solidFill>
              <a:srgbClr val="EF4444">
                <a:alpha val="75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6CC454E-8A0C-41CC-9073-DD604E78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751076"/>
            <a:ext cx="8138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Joint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C63C245-C4ED-447A-8757-7D4F2378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423160"/>
            <a:ext cx="5669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 95.9% · Fine 93.8% · 공동 정답률 92.2%</a:t>
            </a:r>
          </a:p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한쪽 branch만 맞은 샘플이 53장 존재했습니다.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1E3BE45-70C0-4C38-B213-CB162FDF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18688"/>
            <a:ext cx="10698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E027F99-BBA3-48A9-8565-48639676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66160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설계 전환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3209012-92DD-4B67-9C77-ADE0D2E4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31920"/>
            <a:ext cx="123444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FD3A057-AA7C-41D0-9DBA-E65FB12C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082796"/>
            <a:ext cx="10881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Parent 증거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1733F93-C556-43F2-8D62-DC01B5BB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187952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D17C780-833A-477D-9A73-141A6131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3931920"/>
            <a:ext cx="155448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7C3AED">
              <a:alpha val="95000"/>
            </a:srgbClr>
          </a:solidFill>
          <a:ln xmlns:a="http://schemas.openxmlformats.org/drawingml/2006/main" w="12700">
            <a:solidFill>
              <a:srgbClr val="7C3AED">
                <a:alpha val="7500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39B23BF-19CA-44EB-9601-B848D9EF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082796"/>
            <a:ext cx="140817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Graph State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C3F71BD-1EBB-43A9-A680-5C3CEA6C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87952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00DA3C1-125F-408F-BC8A-65D6193F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12" y="3931920"/>
            <a:ext cx="160020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B981">
              <a:alpha val="95000"/>
            </a:srgbClr>
          </a:solidFill>
          <a:ln xmlns:a="http://schemas.openxmlformats.org/drawingml/2006/main" w="12700">
            <a:solidFill>
              <a:srgbClr val="10B981">
                <a:alpha val="7500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3ABD345-065A-4200-B8F6-26C21FB3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4082796"/>
            <a:ext cx="14538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Fine 증거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56583FAB-5C83-4CF5-9D52-37873039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187952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9A599C3-2AD3-4F84-B269-F0BA8372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931920"/>
            <a:ext cx="123444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9E0B">
              <a:alpha val="95000"/>
            </a:srgbClr>
          </a:solidFill>
          <a:ln xmlns:a="http://schemas.openxmlformats.org/drawingml/2006/main"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2BC8E80-7DB4-473C-8625-DC2938C5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082796"/>
            <a:ext cx="10881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Risk / Review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7C11DE0A-8811-4733-BEAD-8D4C38F8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87952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6B1FE73-CA49-4A3E-9975-82C6AF57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931920"/>
            <a:ext cx="82296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4C40F59-1790-4210-A9D4-44C4D7DD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082796"/>
            <a:ext cx="6766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Final Pair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B9C5BBA-2A75-429A-AD66-45DF466E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54880"/>
            <a:ext cx="6217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3168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두 판단을 강제로 접지 않고, 내부 품질과 상호보완성을 Gate에서 함께 평가했습니다.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6A34D5E-F774-447A-879D-D4684D46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010912"/>
            <a:ext cx="3063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상호보완 사례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F8A352E-2944-4818-9E3C-D561D200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330952"/>
            <a:ext cx="3063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53장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FC46F89-8238-4AEC-9807-7BFFE787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861304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Parent-only 37장 + Fine-only 16장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F39EAD6-ACA2-493D-A4B3-32E52DBB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562903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D8B80-7E4C-46C1-ACAA-C9398DD1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812B2A0-62B4-45FB-B737-EBC2AD83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B47F19-2C36-4EBF-997B-5F170F42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위험 탐지: Review 10%에서 오답 80.8% 포착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1301CB0-F0EB-4C53-B7BE-8DAE5EED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동일한 Review 예산에서 confidence 계열 대조군보다 더 많은 오류를 찾았습니다.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5C19023-7057-418E-A67B-4A2C7D95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46232D2-2052-4C0F-A13B-8B76BB87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07592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Confidence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5063568-D808-4F4A-A477-E8FA6E9A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27632"/>
            <a:ext cx="45720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0.9489 · Review 10% 오답 탐지율 74.36%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F0258FA-0249-480F-A408-6AFAE410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03704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9E5D694-D171-4999-98A4-F6B6F9FD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85416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Margin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B7F301A-8A73-4397-A06A-66B3506D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456"/>
            <a:ext cx="45720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0.9479 · Review 10% 오답 탐지율 71.79%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4329F13-018F-439F-8D84-C3B103B5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81528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667B4DB-96B3-4077-A52D-086075A1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63240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Entropy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E5CE5F8-C9B0-4E39-BE69-7737D6C9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83280"/>
            <a:ext cx="45720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0.9449 · Review 10% 오답 탐지율 67.95%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97A8B99-D0D8-4D09-B75F-E3D0DB05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59352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1FDF97D-D898-486C-9667-2CECE9E7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41064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 v233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D0BDAD6-B431-4C34-B017-1DD7F5C9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61104"/>
            <a:ext cx="45720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0.9584 · Review 10% 오답 탐지율 80.77%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AE6D412-511E-4CE8-8800-F5058637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37176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BEA8248-A1E3-46C6-A6E1-2A5E1CC4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1888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대조군 대비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40B7B5B-9969-4CF8-94FD-9E0291F4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38928"/>
            <a:ext cx="45720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최고 baseline보다 오답 탐지율 +6.41%p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47AAB67-5BC6-4F9F-913E-5C720063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325880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판단 흐름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79CAFFA7-B5EF-40AA-AAC2-E26A4CE1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783080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C3AED">
              <a:alpha val="95000"/>
            </a:srgbClr>
          </a:solidFill>
          <a:ln xmlns:a="http://schemas.openxmlformats.org/drawingml/2006/main" w="12700">
            <a:solidFill>
              <a:srgbClr val="7C3AED">
                <a:alpha val="7500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260D5E7-4C32-4FEB-8777-6DC3952F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901952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Parent 상태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2C2184A-86DE-4A4E-8221-2FB12EE7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37744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66140DC-23E1-4585-BC3D-F4D93FCF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267712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A8F52D0-8280-4C1A-8B14-D688E904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761488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1F81031-A7C7-4D76-A599-348F1C7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880360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Fine 상태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4F88D57-102F-49D6-8AA1-7BD0303A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246120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5C939B9-1CD4-47AA-BBDA-370F46D9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749040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B981">
              <a:alpha val="95000"/>
            </a:srgbClr>
          </a:solidFill>
          <a:ln xmlns:a="http://schemas.openxmlformats.org/drawingml/2006/main" w="12700">
            <a:solidFill>
              <a:srgbClr val="10B981">
                <a:alpha val="75000"/>
              </a:srgbClr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5DFA6E8-0296-4362-9E0C-05BC601C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867912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Normality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1691557-DDFD-48FC-A64B-F2C22CDD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233672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1F77218-55DA-4524-97D7-874613A6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727448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9E0B">
              <a:alpha val="95000"/>
            </a:srgbClr>
          </a:solidFill>
          <a:ln xmlns:a="http://schemas.openxmlformats.org/drawingml/2006/main"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EA23BD7-A8E9-4232-BD52-820DFD70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846320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Risk Ranking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7875E67-2E6A-4550-8723-EF6B8E18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920240"/>
            <a:ext cx="1554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검증 결과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7A4FC15-C4FC-4DBD-B963-0814933D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331720"/>
            <a:ext cx="20116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두 branch의 상태와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정상성 정보를 함께 보자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위험 순위가 개선됐습니다.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CC9DAA7B-B79C-4126-99FA-9B620633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353469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89CD2F-071F-4E59-9D6C-B6A8A312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6F0ACA-83B3-4403-A6FF-4FA787AF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45BA3CB-B7CF-4D34-A2C2-A7C77DD3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선택적 재관측: 적게 보고 같은 정확도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7378116-3C12-470C-BA69-5B80F67D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모든 후보를 계산하는 대신, 위험도와 attention으로 필요한 관측에 연산을 집중했습니다.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3BAB323-A215-4890-BCAF-13489680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34440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관측 정책 비교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B63FFAF-E3FF-4E75-AA2D-7355B0E3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9105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무작위 단일 view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D7644C2-FB68-4844-97FF-525E20D1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847088"/>
            <a:ext cx="22402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12700">
            <a:solidFill>
              <a:srgbClr val="E6EBF2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F43B24B-352B-47E0-9B71-C6B13D4F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847088"/>
            <a:ext cx="210810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5B722DD-4761-4517-BFBD-B58AC438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95.69%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8023E04-7155-49A2-B574-5F83C5A3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3113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Tight attention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D5796F2-A801-48F8-BF49-5B04CC23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487168"/>
            <a:ext cx="22402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12700">
            <a:solidFill>
              <a:srgbClr val="E6EBF2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A831B6D-725E-4077-980E-00569264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487168"/>
            <a:ext cx="215066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4132F8D-A013-4FFF-891D-ED109047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6888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97.00%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65E605E-ED68-4D8B-A065-D6AC00EE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980944"/>
            <a:ext cx="2560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무작위 관측 대비 +1.31%p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5BE3AF2-D771-493A-8032-64C79157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34440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C3AED"/>
                </a:solidFill>
                <a:latin typeface="Noto Sans CJK KR"/>
                <a:ea typeface="Noto Sans CJK KR"/>
                <a:cs typeface="Noto Sans CJK KR"/>
              </a:rPr>
              <a:t>동일 Review 예산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4D4EAE2-74BA-4793-8F2D-185605A4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01952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위험 기반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D727885-54C8-4AC9-B792-F6B34880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59152"/>
            <a:ext cx="1828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7C3AED"/>
                </a:solidFill>
                <a:latin typeface="Noto Sans CJK KR"/>
                <a:ea typeface="Noto Sans CJK KR"/>
                <a:cs typeface="Noto Sans CJK KR"/>
              </a:rPr>
              <a:t>97.00%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8934B3F-85A6-4A24-8360-6DB53FAD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032" y="3072384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무작위 평균 94.27% 대비 +2.73%p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8ABCC02-3C2C-4094-BADD-D6FF94D3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234440"/>
            <a:ext cx="1554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후보 연산 절감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6BA8BEB-5A94-4E0C-84B7-4B1BE99D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68249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전체 후보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E17DAEE-952F-496D-90BB-018453B6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1938528"/>
            <a:ext cx="13258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1FA5EEB-FB33-4E0B-B2A1-8F80177C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192024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445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E7F29AE-9AED-422F-BAAD-F49A04C1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32257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Tight 후보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BFD4134-7931-4238-8C0B-7D87BBE0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578608"/>
            <a:ext cx="13258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12700">
            <a:solidFill>
              <a:srgbClr val="E6EBF2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CECDAAC-B925-49F7-8DED-B133DA39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578608"/>
            <a:ext cx="28603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9614213-7ABB-4E5D-815B-5FD740EF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256032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96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55C1900-10E3-49EE-A9EF-D7302EF6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3072384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후보 78.4% 감소, 정확도 유지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BA5C123-A1CC-49C2-9CFE-899189C2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13632"/>
            <a:ext cx="10698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1A514C7-6607-425B-9777-A7607CE4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34840"/>
            <a:ext cx="822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결론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F4FB668-1B63-44DC-A132-15CE3C36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407408"/>
            <a:ext cx="7498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2156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후보 수를 늘리는 것보다, 오답 가능성이 높은 입력과 유효한 위치를 먼저 고르는 편이 효과적이었습니다.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4D50AAF-7EB2-4B1B-970C-96B7D312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4937760"/>
            <a:ext cx="6675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검증 조건: 외부 HF90 600장 · Review 57장 · TRAIN-OOF에서 고정한 threshold 사용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C6E770A-3F96-42E6-84E0-847ABA07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91384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5F8568A-8757-4A9A-9337-67EBE702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5363CE0-40DB-4333-B1F9-1185EA67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84137F0-04B3-495B-B044-70290802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전환 승인과 통합 검증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2C41064-4A9F-4C47-9589-E4877E63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좋은 후보를 찾는 것과 기존 판단을 실제로 바꾸는 결정을 분리해 평가했습니다.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BC28772-C6D0-4E51-A99C-254F5B88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2801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내부 TEST 1,000장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E510511-66F5-4D2E-B469-E32F375E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37360"/>
            <a:ext cx="5166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공동 정답률  92.2% → 96.0%  (+3.8%p)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Review 103장 · Switch 50장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Fixed 40장 · Broken 2장 · 순개선 +38장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398B014-8F52-44DE-83EF-B923FCC9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외부 데이터 검증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DCA2E34-5FD8-4BE2-B569-4B30DCD5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51960"/>
            <a:ext cx="52578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HF90 mixed       94.00% → 97.00%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AWA holdout     96.88% → 98.25%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AWA wild 6종    97.71% → 98.75%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643E73-B6C9-4FD5-92C0-537B5DDA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417320"/>
            <a:ext cx="3886200" cy="420624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2700">
            <a:solidFill>
              <a:srgbClr val="CFE3F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EDF6801-DE80-412C-ADA3-C10330AD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783080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완료한 검증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BDE7906-F33C-4E68-AE52-FB0A403A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423160"/>
            <a:ext cx="31089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동일 Review 예산 대조군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관측 정책 Ablation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외부 데이터 3종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라벨 없는 런타임 및 누수 점검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A2C2B15-DFD7-4FA1-A3E9-4E9E19BA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389120"/>
            <a:ext cx="2926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추가 검증 예정  클래스 확장 ______  ·  디바이스별 latency ______  ·  검사 데이터 적용 ______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74BE0EE-0A5A-4251-912F-46CB116C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897351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64A9704-62A4-4185-8914-AB825EF5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BE407D6-4251-4284-AB3D-CFC6720D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99F6E5-EB4B-43D8-B770-B7684002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결과물과 재현 자료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D350F04-67B6-4057-92AE-BD84C178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포트폴리오에서는 성과를 요약하고, 코드·데모·기술 문서에서 근거를 확인할 수 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C984CBF-D500-484B-97A8-889DDE74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25880"/>
            <a:ext cx="11887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제출 자료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15B262F-8EF7-4FC3-8C99-AFA07308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20240"/>
            <a:ext cx="114300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EDDAB9D-5989-4C25-BD7E-9D00D456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71116"/>
            <a:ext cx="9966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이력서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3611864-9C8E-4F79-89AE-B80DC8E3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176272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DA9E794-7B6A-41B7-97FA-DA2BDC6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20240"/>
            <a:ext cx="182880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7C3AED">
              <a:alpha val="95000"/>
            </a:srgbClr>
          </a:solidFill>
          <a:ln xmlns:a="http://schemas.openxmlformats.org/drawingml/2006/main" w="12700">
            <a:solidFill>
              <a:srgbClr val="7C3AED">
                <a:alpha val="75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05513F6-B084-45AE-81C3-64445BBA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2071116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Engineer Portfolio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9596877-EDA4-4AC6-9D39-F0A25B01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176272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FEFAB8C-8B2F-43A2-97FC-7E324FF3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1920240"/>
            <a:ext cx="182880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B981">
              <a:alpha val="95000"/>
            </a:srgbClr>
          </a:solidFill>
          <a:ln xmlns:a="http://schemas.openxmlformats.org/drawingml/2006/main" w="12700">
            <a:solidFill>
              <a:srgbClr val="10B981">
                <a:alpha val="75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869DF3E-A584-4DE3-B0AC-05E99E00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1116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Technical Document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65491C2-53CD-45CE-9E51-80F26FC9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176272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051C9D3-187B-4DF1-A6A9-887051C7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20240"/>
            <a:ext cx="164592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9E0B">
              <a:alpha val="95000"/>
            </a:srgbClr>
          </a:solidFill>
          <a:ln xmlns:a="http://schemas.openxmlformats.org/drawingml/2006/main"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76AFF11-76F8-4F85-9457-F97C51ED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71116"/>
            <a:ext cx="14996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GitHub / Demo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C0FDF25-98B8-463E-ACB4-69EBFDC9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182112"/>
            <a:ext cx="10424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7B8FD9C-256B-49EE-9D7B-2BF59867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연결 자료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91AE690-D225-4988-A727-005427D5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658368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GitHub  github.com/winder34/dual-line-perception-judgment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Demo  라벨 없는 이미지 입력 · Review/Switch 판단 과정 확인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Technical Document  구조, 수식, Ablation, 외부 검증 결과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Experiment Log  seed, threshold, fixed/broken 및 실행 명령 기록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010BC80-DF33-4904-9376-328BA6F3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65760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프로젝트 소유 범위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46A741B-FA84-468D-B656-50DCD0C8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187952"/>
            <a:ext cx="2514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참여 인원 1명</a:t>
            </a:r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문제 정의 → 설계 → 구현 → 검증 → 최적화 → 데모·문서화까지 직접 수행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17CD6CF-EC1B-47B8-9B56-C72CD7BD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98884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2026-07-27T07:36:25.9430000Z</dcterms:created>
  <dcterms:modified xsi:type="dcterms:W3CDTF">2026-07-27T07:36:25.9430000Z</dcterms:modified>
</coreProperties>
</file>