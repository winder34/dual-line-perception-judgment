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269a53eb34017" /><Relationship Type="http://schemas.openxmlformats.org/officeDocument/2006/relationships/extended-properties" Target="/docProps/app.xml" Id="R116ac5ab07cb4bde" /><Relationship Type="http://schemas.openxmlformats.org/officeDocument/2006/relationships/officeDocument" Target="/ppt/presentation.xml" Id="R6cf02c49f35b4b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1b3e333358493e"/>
  </p:sldMasterIdLst>
  <p:notesMasterIdLst>
    <p:notesMasterId xmlns:r="http://schemas.openxmlformats.org/officeDocument/2006/relationships" r:id="R59b054bde5e94f18"/>
  </p:notesMasterIdLst>
  <p:sldIdLst>
    <p:sldId xmlns:r="http://schemas.openxmlformats.org/officeDocument/2006/relationships" id="256" r:id="R1c05144d2be0445e"/>
    <p:sldId xmlns:r="http://schemas.openxmlformats.org/officeDocument/2006/relationships" id="257" r:id="R634f7df6a59d4e0f"/>
    <p:sldId xmlns:r="http://schemas.openxmlformats.org/officeDocument/2006/relationships" id="258" r:id="R1bf31cbc44ee4896"/>
    <p:sldId xmlns:r="http://schemas.openxmlformats.org/officeDocument/2006/relationships" id="259" r:id="Rb68d4f98e64949a6"/>
    <p:sldId xmlns:r="http://schemas.openxmlformats.org/officeDocument/2006/relationships" id="260" r:id="R8d6d42dd008c457b"/>
    <p:sldId xmlns:r="http://schemas.openxmlformats.org/officeDocument/2006/relationships" id="261" r:id="Re8dcc84cfa27456a"/>
    <p:sldId xmlns:r="http://schemas.openxmlformats.org/officeDocument/2006/relationships" id="262" r:id="Rd693b6030e7345bb"/>
    <p:sldId xmlns:r="http://schemas.openxmlformats.org/officeDocument/2006/relationships" id="263" r:id="R56fa42995ed847ed"/>
    <p:sldId xmlns:r="http://schemas.openxmlformats.org/officeDocument/2006/relationships" id="264" r:id="R8ac539b8b9564d11"/>
    <p:sldId xmlns:r="http://schemas.openxmlformats.org/officeDocument/2006/relationships" id="265" r:id="R2e2af7e6fe5d466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027bc9d0984f64" /><Relationship Type="http://schemas.openxmlformats.org/officeDocument/2006/relationships/slideMaster" Target="/ppt/slideMasters/slideMaster1.xml" Id="R9b1b3e333358493e" /><Relationship Type="http://schemas.openxmlformats.org/officeDocument/2006/relationships/notesMaster" Target="/ppt/notesMasters/notesMaster1.xml" Id="R59b054bde5e94f18" /><Relationship Type="http://schemas.openxmlformats.org/officeDocument/2006/relationships/presProps" Target="/ppt/presProps.xml" Id="R1e8eb910de3c46b0" /><Relationship Type="http://schemas.openxmlformats.org/officeDocument/2006/relationships/viewProps" Target="/ppt/viewProps.xml" Id="Ra3f247b0f4674e3e" /><Relationship Type="http://schemas.openxmlformats.org/officeDocument/2006/relationships/tableStyles" Target="/ppt/tableStyles.xml" Id="Rb1ab6eaa0fd24079" /><Relationship Type="http://schemas.openxmlformats.org/officeDocument/2006/relationships/slide" Target="/ppt/slides/slide1.xml" Id="R1c05144d2be0445e" /><Relationship Type="http://schemas.openxmlformats.org/officeDocument/2006/relationships/slide" Target="/ppt/slides/slide2.xml" Id="R634f7df6a59d4e0f" /><Relationship Type="http://schemas.openxmlformats.org/officeDocument/2006/relationships/slide" Target="/ppt/slides/slide3.xml" Id="R1bf31cbc44ee4896" /><Relationship Type="http://schemas.openxmlformats.org/officeDocument/2006/relationships/slide" Target="/ppt/slides/slide4.xml" Id="Rb68d4f98e64949a6" /><Relationship Type="http://schemas.openxmlformats.org/officeDocument/2006/relationships/slide" Target="/ppt/slides/slide5.xml" Id="R8d6d42dd008c457b" /><Relationship Type="http://schemas.openxmlformats.org/officeDocument/2006/relationships/slide" Target="/ppt/slides/slide6.xml" Id="Re8dcc84cfa27456a" /><Relationship Type="http://schemas.openxmlformats.org/officeDocument/2006/relationships/slide" Target="/ppt/slides/slide7.xml" Id="Rd693b6030e7345bb" /><Relationship Type="http://schemas.openxmlformats.org/officeDocument/2006/relationships/slide" Target="/ppt/slides/slide8.xml" Id="R56fa42995ed847ed" /><Relationship Type="http://schemas.openxmlformats.org/officeDocument/2006/relationships/slide" Target="/ppt/slides/slide9.xml" Id="R8ac539b8b9564d11" /><Relationship Type="http://schemas.openxmlformats.org/officeDocument/2006/relationships/slide" Target="/ppt/slides/slide10.xml" Id="R2e2af7e6fe5d46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1ed4ee487744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2dbcc7338241e8" /><Relationship Type="http://schemas.openxmlformats.org/officeDocument/2006/relationships/notesMaster" Target="/ppt/notesMasters/notesMaster1.xml" Id="Rb512845df4fe43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ad85d125ef417b" /><Relationship Type="http://schemas.openxmlformats.org/officeDocument/2006/relationships/notesMaster" Target="/ppt/notesMasters/notesMaster1.xml" Id="Rab20e7630d6b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8109b9b23d427d" /><Relationship Type="http://schemas.openxmlformats.org/officeDocument/2006/relationships/notesMaster" Target="/ppt/notesMasters/notesMaster1.xml" Id="R3e21a3c729bd49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563520978d4276" /><Relationship Type="http://schemas.openxmlformats.org/officeDocument/2006/relationships/notesMaster" Target="/ppt/notesMasters/notesMaster1.xml" Id="R03a3823f0c3f46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a6f148ddb741da" /><Relationship Type="http://schemas.openxmlformats.org/officeDocument/2006/relationships/notesMaster" Target="/ppt/notesMasters/notesMaster1.xml" Id="R44a52cc7923b40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2c27ab5b254dc4" /><Relationship Type="http://schemas.openxmlformats.org/officeDocument/2006/relationships/notesMaster" Target="/ppt/notesMasters/notesMaster1.xml" Id="R7ef1cf856b5f4b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3ab549e397436a" /><Relationship Type="http://schemas.openxmlformats.org/officeDocument/2006/relationships/notesMaster" Target="/ppt/notesMasters/notesMaster1.xml" Id="R742a0d1086a34b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c58c20fa03415b" /><Relationship Type="http://schemas.openxmlformats.org/officeDocument/2006/relationships/notesMaster" Target="/ppt/notesMasters/notesMaster1.xml" Id="Rf585eda1ed034d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21739e1da94860" /><Relationship Type="http://schemas.openxmlformats.org/officeDocument/2006/relationships/notesMaster" Target="/ppt/notesMasters/notesMaster1.xml" Id="Rcd2c254cd5e1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e8cecf09304897" /><Relationship Type="http://schemas.openxmlformats.org/officeDocument/2006/relationships/notesMaster" Target="/ppt/notesMasters/notesMaster1.xml" Id="R4398f39d0e074f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project and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structure and project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docs/validation_status_v244_ko.md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and experiment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AWA2 class manifest and split artifacts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docs/core_module_ablation_v242_ko.md</a:t>
            </a:r>
          </a:p>
          <a:p xmlns:a="http://schemas.openxmlformats.org/drawingml/2006/main">
            <a:r>
              <a:t>- AWA2-based 5-parent / 10-fine experiment manifest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docs/related_work_comparison_v245_ko.md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Independent Parent/Fine service comparison artifacts</a:t>
            </a:r>
          </a:p>
          <a:p xmlns:a="http://schemas.openxmlformats.org/drawingml/2006/main">
            <a:r>
              <a:t>- Full Dual-Line v234 canonical TEST1000 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Full Dual-Line v234 canonical TEST1000 results</a:t>
            </a:r>
          </a:p>
          <a:p xmlns:a="http://schemas.openxmlformats.org/drawingml/2006/main">
            <a:r>
              <a:t>- HF90, AWA holdout, AWA wild external validation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repository and local project artifacts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91255ac294c8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cf5080fce946c6" /><Relationship Type="http://schemas.openxmlformats.org/officeDocument/2006/relationships/slideLayout" Target="/ppt/slideLayouts/slideLayout1.xml" Id="R9dafed3a7f39473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fed3a7f39473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837a0d0d148fb" /><Relationship Type="http://schemas.openxmlformats.org/officeDocument/2006/relationships/notesSlide" Target="/ppt/notesSlides/notesSlide1.xml" Id="Rb267cd81900840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1536b6e0496b" /><Relationship Type="http://schemas.openxmlformats.org/officeDocument/2006/relationships/notesSlide" Target="/ppt/notesSlides/notesSlide2.xml" Id="R308d36d0625646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481fab5164ad1" /><Relationship Type="http://schemas.openxmlformats.org/officeDocument/2006/relationships/notesSlide" Target="/ppt/notesSlides/notesSlide3.xml" Id="Re6754d6b2b3243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afe6b697a4a97" /><Relationship Type="http://schemas.openxmlformats.org/officeDocument/2006/relationships/notesSlide" Target="/ppt/notesSlides/notesSlide4.xml" Id="Rd57545c7eb0c42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330a310b24722" /><Relationship Type="http://schemas.openxmlformats.org/officeDocument/2006/relationships/notesSlide" Target="/ppt/notesSlides/notesSlide5.xml" Id="Ra78726e7b2c9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2038fabb248f1" /><Relationship Type="http://schemas.openxmlformats.org/officeDocument/2006/relationships/notesSlide" Target="/ppt/notesSlides/notesSlide6.xml" Id="R8f34482e76c14f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76fed5487455e" /><Relationship Type="http://schemas.openxmlformats.org/officeDocument/2006/relationships/notesSlide" Target="/ppt/notesSlides/notesSlide7.xml" Id="R9966ff7f765a4d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a5efd15f64ac6" /><Relationship Type="http://schemas.openxmlformats.org/officeDocument/2006/relationships/notesSlide" Target="/ppt/notesSlides/notesSlide8.xml" Id="R47df3b58ced647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1e4407bf64185" /><Relationship Type="http://schemas.openxmlformats.org/officeDocument/2006/relationships/notesSlide" Target="/ppt/notesSlides/notesSlide9.xml" Id="R9d1c3087410346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e5304e4eb4f01" /><Relationship Type="http://schemas.openxmlformats.org/officeDocument/2006/relationships/notesSlide" Target="/ppt/notesSlides/notesSlide10.xml" Id="R29e71af8a2ae4e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C77732-A0F3-4E29-B6EA-08101C9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94A879-1F49-4581-9AD4-691CA77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607338-DE03-4276-8C11-44E0242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47548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AE9ED4-D698-4620-9545-623903F9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52144"/>
            <a:ext cx="658368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976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 기반 이미지 분류 시스템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571D16-A30C-4CEB-87DE-358B6D1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43200"/>
            <a:ext cx="6583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두 판단 상태를 함께 해석해, 필요한 이미지만 다시 보고 안전하게 수정한 Computer Vision 프로젝트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7C6733-8225-4D62-85EB-0B21FB0A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16752"/>
            <a:ext cx="5852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이준우  |  AI / Computer Vision Engineer  |  GitHub: winder34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5DD3AC-F2F8-42E0-9427-4D68886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658368"/>
            <a:ext cx="233172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ABF03D-5ABD-410C-8C7B-18316374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775935-3BCE-4DB4-8503-05E4807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892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175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3A5DFE-9EE3-4FD1-9DB1-D35A990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830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0FC077-7D4D-4979-8339-ED1B90B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44348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05A66B-B37F-4A52-9AEE-74DF4C0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4275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목차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문제 정의에서 통합 검증과 실행 데모까지, 결과 중심으로 구성했습니다.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개요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 · 핵심 역량 · 수행 범위  |  03-05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구조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일반 계층 분류와 Dual-Line 구조  |  06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TRAIN-OOF 기반 오류 위험 순위화  |  07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비교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처리와 공동 상태 해석 비교  |  08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검증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전환 품질 · 공동 복구 · 외부 재현  |  09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성과 요약과 자료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통합 결과 · GitHub · Demo  |  10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FB101F-AC8F-43E2-B533-332A2E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3ECFD4-FBC3-4171-AA21-8E48CCC2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93CC2C-7472-4639-953D-10B8FB2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문제를 구조로 바꾸고, 결과로 검증합니다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0285E8-85EB-4117-8750-F846184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정의, 모델링, 실험 설계, 데모와 문서화까지 직접 수행했습니다.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0F787C-32D8-4EAB-82B2-0D2E668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6126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65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서로 다른 두 판단을 함께 해석해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오류를 찾고, 필요한 이미지만 다시 보고,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기존 정답을 보호하며 수정했습니다.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148E3A-F958-45C9-B6C5-7FD0F58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97480"/>
            <a:ext cx="4846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96588E-B015-4E56-A36D-1DE1AF4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71800"/>
            <a:ext cx="56235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정의: 상위·하위 판단의 오류 집합과 분포 차이 분석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구조 설계: 독립 Parent/Fine, 공동 Risk, 선택적 재관측, 전환 보호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방식: 독립 처리 대조군, 외부 3개 셋, 누수·Fixed/Broken 감사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061F38-AB30-41BB-BE71-F22638E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29844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프로젝트 참여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F24B12-54DE-47F3-93D0-DED4F20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18488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1명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891CA7-E144-4627-AEC7-49FEA28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개인 프로젝트 · 전 과정 직접 수행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CA1E7F-DF66-4D2E-9865-89FA29C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2984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담당 범위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E02158-87EB-4CCD-AF7F-3B0B56A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18488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End-to-End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26B21-70A8-437B-AF17-C54D67F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148840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설계·구현·실험·최적화·문서화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A4B452-E339-4467-B038-3690484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통합 성과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CF0EF08-958B-47A4-81FF-EBC5285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+3.8%p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CADF3A-1254-4197-92EF-AC7AC1B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28032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92.2% → 96.0%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F22824-06C6-4FCF-9412-17D7764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977640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330EF2-4978-49B2-B3BA-0F5845B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297680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59E0B"/>
                </a:solidFill>
                <a:latin typeface="Noto Sans CJK KR"/>
                <a:ea typeface="Noto Sans CJK KR"/>
                <a:cs typeface="Noto Sans CJK KR"/>
              </a:rPr>
              <a:t>3개 셋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7291A1-5FCC-4CD7-B451-D8D4A50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8280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FF5507-39B2-4984-BAEE-102490E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2786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역량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한 프로젝트 안에서 문제 정의, 모델링, 검증, 전달까지 연결했습니다.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 정의와 실패 분석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오답 상태, branch 충돌, 데이터 오염과 분포 변화를 분리해 분석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Computer Vision 모델링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ResNet18/50, DINOv2, ROI·타일·attention 기반 표현 설계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추론 구조 설계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판단, 위험 탐지, 재관측, 전환 승인 구현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실험·Ablation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동일 예산 대조군, 외부셋, 누수 검사, fixed/broken 감사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파이프라인 구현·최적화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Python, PyTorch, OpenCV, NumPy, pandas, scikit-learn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데모·기술 문서화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실행 데모, README, 실험 로그, 결과 시각화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1D7248-EEE3-493D-BD5E-05B0AB5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4E08D4-BDC8-47C7-AA6F-16697307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73E690-8952-40C8-A98D-8745F4A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수행 범위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F2CA9E-B534-424F-BFB6-2C44D1D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정의부터 검증 자료와 실행 데모까지 직접 완성했습니다.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01C657-4F04-480C-B73E-E63C1AD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98448"/>
            <a:ext cx="5669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9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Selective Inference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3C2104-290B-4AB6-BDB6-8F23BE5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4792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표현과 OOF 위험 탐지를 결합한 이미지 분류 시스템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97038D-5ED5-4EDA-9031-1740F54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41448"/>
            <a:ext cx="5303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작업기간  2026-05-21 ~ 2026-07-17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작업인원  1명 / 개인 프로젝트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작업툴    Python, PyTorch, torchvision, OpenCV, scikit-learn, NumPy, pandas, Git/GitHub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D0199A-DABA-4EE4-A68F-503261D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5760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수행 절차  데이터 구성 → 베이스라인 → 오류 분석 → 모듈 설계 → 검증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주요 산출물  학습·추론 코드, 모듈형 런타임, 로컬 데모, 기술 문서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기준  정확도뿐 아니라 Fixed, Broken, Review 예산, 외부 재현성 추적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35B6547-D84D-4D8F-93DD-295A88FD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25880"/>
            <a:ext cx="4023360" cy="438912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6DA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E261D17-9CD8-45BB-B551-27FD0AC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164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직접 수행한 파트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CFCE4B-BCE8-45E6-9B81-CDFD135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31720"/>
            <a:ext cx="31546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클래스별 split과 학습 데이터 구성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Parent/Fine 및 baseline 학습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OOF 위험 탐지와 재관측 정책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전환 승인기와 평가 파이프라인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속도 최적화, 데모, GitHub 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723D07-D088-4083-8D4D-AE178B0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  <p:sp>
        <p:nvSpPr>
          <p:cNvPr id="16" name="dataset-heading">
            <a:extLst xmlns:a="http://schemas.openxmlformats.org/drawingml/2006/main">
              <a:ext uri="{FF2B5EF4-FFF2-40B4-BE49-F238E27FC236}">
                <a16:creationId xmlns:a16="http://schemas.microsoft.com/office/drawing/2014/main" id="{A58F438B-D17B-49F7-9BE3-241B0768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48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실험 데이터 구성</a:t>
            </a:r>
          </a:p>
        </p:txBody>
      </p:sp>
      <p:sp>
        <p:nvSpPr>
          <p:cNvPr id="17" name="dataset-description">
            <a:extLst xmlns:a="http://schemas.openxmlformats.org/drawingml/2006/main">
              <a:ext uri="{FF2B5EF4-FFF2-40B4-BE49-F238E27FC236}">
                <a16:creationId xmlns:a16="http://schemas.microsoft.com/office/drawing/2014/main" id="{8FD95940-A367-409A-B1F0-0E309BDD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529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rPr>
              <a:t>AWA2 기반 5개 Parent 그룹 · 10개 Fine 클래스</a:t>
            </a:r>
          </a:p>
          <a:p xmlns:a="http://schemas.openxmlformats.org/drawingml/2006/main">
            <a:pPr>
              <a:def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rPr>
              <a:t>Persian/Siamese · Chihuahua/German shepherd · wolf/fox · lion/tiger · horse · deer</a:t>
            </a:r>
          </a:p>
          <a:p xmlns:a="http://schemas.openxmlformats.org/drawingml/2006/main">
            <a:pPr>
              <a:def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050">
                <a:solidFill>
                  <a:srgbClr val="475569"/>
                </a:solidFill>
                <a:latin typeface="Noto Sans CJK KR"/>
                <a:ea typeface="Noto Sans CJK KR"/>
                <a:cs typeface="Noto Sans CJK KR"/>
              </a:rPr>
              <a:t>유사 형제종과 단일 클래스가 함께 존재하는 혼합 계층 분류</a:t>
            </a:r>
          </a:p>
        </p:txBody>
      </p:sp>
    </p:spTree>
    <p:extLst>
      <p:ext uri="{BB962C8B-B14F-4D97-AF65-F5344CB8AC3E}">
        <p14:creationId xmlns:p14="http://schemas.microsoft.com/office/powerpoint/2010/main" val="1027111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87AFD1-B1AB-4418-B94B-1F06CC0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96AE2AD-2B9E-4374-9C0D-26CF0AE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EF12FF-92E0-4D60-BEA1-3688880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일반 계층 분류와 Dual-Line 구조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9E7F0F-FE28-480B-9594-43A0B8E4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일반 계층 방식은 Parent 판단으로 Fine 후보를 제한하지만, 독립 학습에서는 두 판단의 오류 집합이 완전히 겹치지 않았습니다.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985ACA-5F9C-4BF2-8139-7F098E3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F4444"/>
                </a:solidFill>
                <a:latin typeface="Noto Sans CJK KR"/>
                <a:ea typeface="Noto Sans CJK KR"/>
                <a:cs typeface="Noto Sans CJK KR"/>
              </a:rPr>
              <a:t>일반 계층 분류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E80A81-EF6A-4342-AE35-73478EA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64748B">
              <a:alpha val="95000"/>
            </a:srgbClr>
          </a:solidFill>
          <a:ln xmlns:a="http://schemas.openxmlformats.org/drawingml/2006/main" w="12700">
            <a:solidFill>
              <a:srgbClr val="64748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762367-7B3D-4BD0-A660-14A47D5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C69411-FFCB-4B75-A672-7985AE2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621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7F2B935-DACF-49D5-A24A-1AFEF53F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145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57C076-9501-42D3-9267-F50FDCA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7D4830-74E5-4A0E-9B02-7A08627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E043030-F641-4E28-94B6-5F91D7F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CC454E-8A0C-41CC-9073-DD604E78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66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최종 판단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63C245-C4ED-447A-8757-7D4F237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810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학습 관찰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 95.9% · Fine 93.8% · 공동 정답률 92.2%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한쪽 Branch만 정답 53장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E3BE45-70C0-4C38-B213-CB162FD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18688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027F99-BBA3-48A9-8565-4863967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Dual-Line 구조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3209012-92DD-4B67-9C77-ADE0D2E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FD3A057-AA7C-41D0-9DBA-E65FB12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증거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1733F93-C556-43F2-8D62-DC01B5B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767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D17C780-833A-477D-9A73-141A613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62425"/>
            <a:ext cx="1619250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B23BF-19CA-44EB-9601-B848D9EF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공동 상태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C3F71BD-1EBB-43A9-A680-5C3CEA6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434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00DA3C1-125F-408F-BC8A-65D6193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428750" cy="4953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3ABD345-065A-4200-B8F6-26C21FB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증거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6583FAB-5C83-4CF5-9D52-3787303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29125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9A599C3-2AD3-4F84-B269-F0BA837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62425"/>
            <a:ext cx="1381125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2BC8E80-7DB4-473C-8625-DC2938C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판단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C11DE0A-8811-4733-BEAD-8D4C38F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29125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6B1FE73-CA49-4A3E-9975-82C6AF5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62425"/>
            <a:ext cx="1066800" cy="5334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4C40F59-1790-4210-A9D4-44C4D7D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33875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Final Pair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9C5BBA-2A75-429A-AD66-45DF466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관찰 결과  Parent/Fine 오류 집합이 부분적으로 분리됨</a:t>
            </a:r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설계 반영  계층 종속 대신 독립 판단을 유지하고 공동 상태를 해석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6A34D5E-F774-447A-879D-D4684D4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010912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상호보완 사례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8A352E-2944-4818-9E3C-D561D20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330952"/>
            <a:ext cx="3063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53장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C46F89-8238-4AEC-9807-7BFFE78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861304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Parent-only 37장 + Fine-only 16장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F39EAD6-ACA2-493D-A4B3-32E52DB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6290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D8B80-7E4C-46C1-ACAA-C9398DD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12B2A0-62B4-45FB-B737-EBC2AD8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B47F19-2C36-4EBF-997B-5F170F4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 성능 비교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301CB0-F0EB-4C53-B7BE-8DAE5EE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세 가지 confidence 계열 대조군과 Dual-Line을 동일한 Review 10% 예산에서 비교했습니다.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C19023-7057-418E-A67B-4A2C7D9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46232D2-2052-4C0F-A13B-8B76BB87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07592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Confidence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063568-D808-4F4A-A477-E8FA6E9A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27632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0.9489 · Review 10% 오답 탐지율 74.36%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0258FA-0249-480F-A408-6AFAE410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3704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E5D694-D171-4999-98A4-F6B6F9F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5416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Margin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7F301A-8A73-4397-A06A-66B3506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05456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0.9479 · Review 10% 오답 탐지율 71.79%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329F13-018F-439F-8D84-C3B103B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81528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대조군 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67B4DB-96B3-4077-A52D-086075A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3240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Entropy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5CE5F8-C9B0-4E39-BE69-7737D6C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0.9449 · Review 10% 오답 탐지율 67.95%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7A8B99-D0D8-4D09-B75F-E3D0DB05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59352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제안 방식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FDF97D-D898-486C-9667-2CECE9E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1064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v233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0BDAD6-B431-4C34-B017-1DD7F5C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61104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0.9584 · Review 10% 오답 탐지율 80.77%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E6D412-511E-4CE8-8800-F50586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37176"/>
            <a:ext cx="78105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비교 결과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EA8248-A1E3-46C6-A6E1-2A5E1CC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8888"/>
            <a:ext cx="241935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최고 대조군 대비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0B7B5B-9969-4CF8-94FD-9E0291F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8928"/>
            <a:ext cx="424815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최고 baseline보다 오답 탐지율 +6.41%p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7AAB67-5BC6-4F9F-913E-5C72006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판단 흐름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9CAFFA7-B5EF-40AA-AAC2-E26A4CE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60D5E7-4C32-4FEB-8777-6DC3952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90195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상태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C2184A-86DE-4A4E-8221-2FB12EE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7744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66140DC-23E1-4585-BC3D-F4D93FC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6771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A8F52D0-8280-4C1A-8B14-D688E90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6148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F81031-A7C7-4D76-A599-348F1C7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88036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상태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F88D57-102F-49D6-8AA1-7BD0303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4612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5C939B9-1CD4-47AA-BBDA-370F46D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4904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DFA6E8-0296-4362-9E0C-05BC601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86791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Normality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1691557-DDFD-48FC-A64B-F2C22C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23367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F77218-55DA-4524-97D7-874613A6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2744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A23BD7-A8E9-4232-BD52-820DFD7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84632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Risk Ranking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7875E67-2E6A-4550-8723-EF6B8E18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7A4FC15-C4FC-4DBD-B963-0814933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31720"/>
            <a:ext cx="2011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Parent와 Fine의 상태,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정상성 정보를 함께 사용해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단일 confidence보다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위험 순위를 개선했습니다.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C9DAA7B-B79C-4126-99FA-9B62063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5346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89CD2F-071F-4E59-9D6C-B6A8A31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6F0ACA-83B3-4403-A6FF-4FA787A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5BA3CB-B7CF-4D34-A2C2-A7C77DD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판단 효율 비교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378116-3C12-470C-BA69-5B80F67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독립 Parent/Fine과 Full Dual-Line을 동일한 TEST 1,000장 기준으로 비교했습니다.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BAB323-A215-4890-BCAF-1348968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공동 정확도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63FFAF-E3FF-4E75-AA2D-7355B0E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9105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Parent/Fine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D7644C2-FB68-4844-97FF-525E20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43B24B-352B-47E0-9B71-C6B13D4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1103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B722DD-4761-4517-BFBD-B58AC43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94.2%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023E04-7155-49A2-B574-5F83C5A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3113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Full Dual-Line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D5796F2-A801-48F8-BF49-5B04CC2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A831B6D-725E-4077-980E-0056926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1506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4132F8D-A013-4FFF-891D-ED10904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6888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96.0%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5E605E-ED68-4D8B-A065-D6AC00E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980944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상태 해석  +1.8%p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5BE3AF2-D771-493A-8032-64C7915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3444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재관측 예산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D4EAE2-74BA-4793-8F2D-185605A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19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Full Dual-Line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727885-54C8-4AC9-B792-F6B3488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59152"/>
            <a:ext cx="1828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103장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934B3F-85A6-4A24-8360-6DB53FA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072384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 191장 대비 88장 감소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8ABCC02-3C2C-4094-BADD-D6FF94D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23444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같은 TEST 1,000장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6BA8BEB-5A94-4E0C-84B7-4B1BE99D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8249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17DAEE-952F-496D-90BB-018453B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93852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FA5EEB-FB33-4E0B-B2A1-8F80177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92024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191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7F29AE-9AED-422F-BAAD-F49A04C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2257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BFD4134-7931-4238-8C0B-7D87BBE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CECDAAC-B925-49F7-8DED-B133DA3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71500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9614213-7ABB-4E5D-815B-5FD740E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25603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103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55C1900-10E3-49EE-A9EF-D7302EF6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072384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46.1% 감소, 정확도 상승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BA5C123-A1CC-49C2-9CFE-899189C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1A514C7-6607-425B-9777-A7607CE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822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F4FB668-1B63-44DC-A132-15CE3C36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07408"/>
            <a:ext cx="7498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15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두 모델의 단순 병렬이 아니라 공동 상태 해석이 재관측 대상과 전환 후보를 더 효율적으로 선택했습니다.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4D50AAF-7EB2-4B1B-970C-96B7D31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4937760"/>
            <a:ext cx="6675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10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독립 방식은 각자 위험 탐지·재관측·전환 후 교집합만 평가하고, Full Dual-Line은 공동 Risk와 Joint Decision을 사용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C6E770A-3F96-42E6-84E0-847ABA0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138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F8568A-8757-4A9A-9337-67EBE70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363CE0-40DB-4333-B1F9-1185EA6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4137F0-04B3-495B-B044-70290802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성능 및 외부 검증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C41064-4A9F-4C47-9589-E4877E63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내부 TEST와 외부 3개 데이터셋에서 정확도, 복구 유형, 기존 정답 훼손을 확인했습니다.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C28772-C6D0-4E51-A99C-254F5B88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801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내부 TEST 1,000장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510511-66F5-4D2E-B469-E32F375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37360"/>
            <a:ext cx="5166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 92.2% → 96.0%  (+3.8%p)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103장 · Switch 50장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Fixed 40장 · Broken 2장 · 순개선 +38장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오답 10장 → Parent/Fine 모두 복구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98B014-8F52-44DE-83EF-B923FCC9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외부 데이터 검증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CA2E34-5FD8-4BE2-B569-4B30DCD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51960"/>
            <a:ext cx="5257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mixed       94.00% → 97.00%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holdout     96.88% → 98.25%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wild 6종    97.71% → 98.75%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643E73-B6C9-4FD5-92C0-537B5DDA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17320"/>
            <a:ext cx="3886200" cy="42062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CFE3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DF6801-DE80-412C-ADA3-C10330A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복구 유형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BDE7906-F33C-4E68-AE52-FB0A403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423160"/>
            <a:ext cx="31089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Parent만 오답 → 복구 14장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Fine만 오답 → 복구 16장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공동 오답 → 둘 다 복구 10장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기존 정답 훼손 2장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2C2B15-DFD7-4FA1-A3E9-4E9E19BA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38912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두 Branch가 같은 오답에 합의한 경우도 위험 상태를 탐지하고, 재관측 후보 쌍을 공동 평가해 복구했습니다.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4BE0EE-0A5A-4251-912F-46CB116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9735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4A9704-62A4-4185-8914-AB825EF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E407D6-4251-4284-AB3D-CFC6720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99F6E5-EB4B-43D8-B770-B768400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결과와 실행 자료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350F04-67B6-4057-92AE-BD84C17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Dual-Line의 필요성, 위험 탐지 성능, 전환 안전성, 외부 재현을 각각 분리해 검증했습니다.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984CBF-D500-484B-97A8-889DDE7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성과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5B262F-8EF7-4FC3-8C99-AFA0730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DDAB9D-5989-4C25-BD7E-9D00D45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통합 정확도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92.2% → 96.0%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A9E794-7B6A-41B7-97FA-DA2BDC6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05513F6-B084-45AE-81C3-64445BBA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효율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191장 → 103장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EFAB8C-8B2F-43A2-97FC-7E324FF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869DF3E-A584-4DE3-B0AC-05E99E0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전환 품질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Fixed 40 / Broken 2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51C9D3-187B-4DF1-A6A9-887051C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76AFF11-76F8-4F85-9457-F97C51E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3개 셋 모두 개선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0FDF25-98B8-463E-ACB4-69EBFDC9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82112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7B8FD9C-256B-49EE-9D7B-2BF5986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요약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91AE690-D225-4988-A727-005427D5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65836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Confidence·Margin·Entropy 위험 탐지 대조군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Parent/Fine와 Full Dual-Line의 서비스형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 외부 재현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런타임, 누수 점검, Fixed/Broken 전환 감사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10BC80-DF33-4904-9376-328BA6F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6576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GitHub / Demo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6A741B-FA84-468D-B656-50DCD0C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github.com/winder34/dual-line-perception-judgment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이미지 입력과 Review/Switch trace 확인</a:t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README · 실행 명령 · 실험 로그 제공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17CD6CF-EC1B-47B8-9B56-C72CD7B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98884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2026-08-05T07:00:24.3410000Z</dcterms:created>
  <dcterms:modified xsi:type="dcterms:W3CDTF">2026-08-05T07:00:24.3410000Z</dcterms:modified>
</coreProperties>
</file>